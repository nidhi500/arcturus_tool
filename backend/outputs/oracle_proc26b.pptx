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E1E117-5442-4E1C-B7FE-E79694003765}">
  <a:tblStyle styleId="{7CE1E117-5442-4E1C-B7FE-E7969400376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 name="Shape 9"/>
        <p:cNvGrpSpPr/>
        <p:nvPr/>
      </p:nvGrpSpPr>
      <p:grpSpPr>
        <a:xfrm>
          <a:off x="0" y="0"/>
          <a:ext cx="0" cy="0"/>
          <a:chOff x="0" y="0"/>
          <a:chExt cx="0" cy="0"/>
        </a:xfrm>
      </p:grpSpPr>
      <p:sp>
        <p:nvSpPr>
          <p:cNvPr id="10" name="Google Shape;10;p2"/>
          <p:cNvSpPr txBox="1"/>
          <p:nvPr>
            <p:ph idx="1" type="body"/>
          </p:nvPr>
        </p:nvSpPr>
        <p:spPr>
          <a:xfrm>
            <a:off x="57125" y="13564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grpSp>
        <p:nvGrpSpPr>
          <p:cNvPr id="11" name="Google Shape;11;p2"/>
          <p:cNvGrpSpPr/>
          <p:nvPr/>
        </p:nvGrpSpPr>
        <p:grpSpPr>
          <a:xfrm>
            <a:off x="-18651" y="5035452"/>
            <a:ext cx="9161067" cy="112275"/>
            <a:chOff x="-24862" y="6713936"/>
            <a:chExt cx="12211500" cy="149700"/>
          </a:xfrm>
        </p:grpSpPr>
        <p:sp>
          <p:nvSpPr>
            <p:cNvPr id="12" name="Google Shape;12;p2"/>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3" name="Google Shape;13;p2"/>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14" name="Google Shape;14;p2"/>
          <p:cNvSpPr/>
          <p:nvPr/>
        </p:nvSpPr>
        <p:spPr>
          <a:xfrm>
            <a:off x="-1678" y="1216382"/>
            <a:ext cx="9144000" cy="88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5" name="Google Shape;15;p2"/>
          <p:cNvSpPr txBox="1"/>
          <p:nvPr/>
        </p:nvSpPr>
        <p:spPr>
          <a:xfrm>
            <a:off x="0" y="1215847"/>
            <a:ext cx="9253200" cy="886200"/>
          </a:xfrm>
          <a:prstGeom prst="rect">
            <a:avLst/>
          </a:prstGeom>
          <a:noFill/>
          <a:ln>
            <a:noFill/>
          </a:ln>
        </p:spPr>
        <p:txBody>
          <a:bodyPr anchorCtr="0" anchor="ctr" bIns="34275" lIns="68575" spcFirstLastPara="1" rIns="68575" wrap="square" tIns="34275">
            <a:normAutofit/>
          </a:bodyPr>
          <a:lstStyle/>
          <a:p>
            <a:pPr indent="0" lvl="0" marL="0" marR="0" rtl="0" algn="l">
              <a:lnSpc>
                <a:spcPct val="80000"/>
              </a:lnSpc>
              <a:spcBef>
                <a:spcPts val="0"/>
              </a:spcBef>
              <a:spcAft>
                <a:spcPts val="0"/>
              </a:spcAft>
              <a:buClr>
                <a:srgbClr val="000000"/>
              </a:buClr>
              <a:buSzPts val="2000"/>
              <a:buFont typeface="Arial"/>
              <a:buNone/>
            </a:pPr>
            <a:r>
              <a:t/>
            </a:r>
            <a:endParaRPr b="1" i="0" sz="2000" u="none" cap="none" strike="noStrike">
              <a:solidFill>
                <a:srgbClr val="FFFFFF"/>
              </a:solidFill>
              <a:latin typeface="Calibri"/>
              <a:ea typeface="Calibri"/>
              <a:cs typeface="Calibri"/>
              <a:sym typeface="Calibri"/>
            </a:endParaRPr>
          </a:p>
        </p:txBody>
      </p:sp>
      <p:sp>
        <p:nvSpPr>
          <p:cNvPr id="16" name="Google Shape;16;p2"/>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17" name="Google Shape;17;p2"/>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18" name="Google Shape;18;p2"/>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pic>
        <p:nvPicPr>
          <p:cNvPr id="19" name="Google Shape;19;p2"/>
          <p:cNvPicPr preferRelativeResize="0"/>
          <p:nvPr/>
        </p:nvPicPr>
        <p:blipFill rotWithShape="1">
          <a:blip r:embed="rId3">
            <a:alphaModFix/>
          </a:blip>
          <a:srcRect b="0" l="0" r="0" t="0"/>
          <a:stretch/>
        </p:blipFill>
        <p:spPr>
          <a:xfrm>
            <a:off x="85675" y="177975"/>
            <a:ext cx="642611" cy="332400"/>
          </a:xfrm>
          <a:prstGeom prst="rect">
            <a:avLst/>
          </a:prstGeom>
          <a:noFill/>
          <a:ln>
            <a:noFill/>
          </a:ln>
        </p:spPr>
      </p:pic>
      <p:sp>
        <p:nvSpPr>
          <p:cNvPr id="20" name="Google Shape;20;p2"/>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sp>
        <p:nvSpPr>
          <p:cNvPr id="21" name="Google Shape;21;p2"/>
          <p:cNvSpPr txBox="1"/>
          <p:nvPr/>
        </p:nvSpPr>
        <p:spPr>
          <a:xfrm>
            <a:off x="299076" y="5015004"/>
            <a:ext cx="8751300" cy="1461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lang="en-US" sz="500">
                <a:solidFill>
                  <a:schemeClr val="lt1"/>
                </a:solidFill>
                <a:latin typeface="Calibri"/>
                <a:ea typeface="Calibri"/>
                <a:cs typeface="Calibri"/>
                <a:sym typeface="Calibri"/>
              </a:rPr>
              <a:t>Inventory Management 26A - Confidential</a:t>
            </a:r>
            <a:endParaRPr b="0" i="0" sz="5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 name="Shape 22"/>
        <p:cNvGrpSpPr/>
        <p:nvPr/>
      </p:nvGrpSpPr>
      <p:grpSpPr>
        <a:xfrm>
          <a:off x="0" y="0"/>
          <a:ext cx="0" cy="0"/>
          <a:chOff x="0" y="0"/>
          <a:chExt cx="0" cy="0"/>
        </a:xfrm>
      </p:grpSpPr>
      <p:grpSp>
        <p:nvGrpSpPr>
          <p:cNvPr id="23" name="Google Shape;23;p3"/>
          <p:cNvGrpSpPr/>
          <p:nvPr/>
        </p:nvGrpSpPr>
        <p:grpSpPr>
          <a:xfrm>
            <a:off x="-18651" y="5035452"/>
            <a:ext cx="9161067" cy="112275"/>
            <a:chOff x="-24862" y="6713936"/>
            <a:chExt cx="12211500" cy="149700"/>
          </a:xfrm>
        </p:grpSpPr>
        <p:sp>
          <p:nvSpPr>
            <p:cNvPr id="24" name="Google Shape;24;p3"/>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25" name="Google Shape;25;p3"/>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26" name="Google Shape;26;p3"/>
          <p:cNvSpPr txBox="1"/>
          <p:nvPr/>
        </p:nvSpPr>
        <p:spPr>
          <a:xfrm>
            <a:off x="299076" y="5015004"/>
            <a:ext cx="8751300" cy="2232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rtl="0" algn="ctr">
              <a:spcBef>
                <a:spcPts val="0"/>
              </a:spcBef>
              <a:spcAft>
                <a:spcPts val="0"/>
              </a:spcAft>
              <a:buClr>
                <a:schemeClr val="dk1"/>
              </a:buClr>
              <a:buSzPts val="500"/>
              <a:buFont typeface="Arial"/>
              <a:buNone/>
            </a:pPr>
            <a:r>
              <a:rPr lang="en-US" sz="500">
                <a:solidFill>
                  <a:schemeClr val="lt1"/>
                </a:solidFill>
                <a:latin typeface="Calibri"/>
                <a:ea typeface="Calibri"/>
                <a:cs typeface="Calibri"/>
                <a:sym typeface="Calibri"/>
              </a:rPr>
              <a:t>Inventory Management 26A - Confidential</a:t>
            </a:r>
            <a:endParaRPr sz="500">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500"/>
              <a:buFont typeface="Arial"/>
              <a:buNone/>
            </a:pPr>
            <a:r>
              <a:t/>
            </a:r>
            <a:endParaRPr sz="500">
              <a:solidFill>
                <a:schemeClr val="lt1"/>
              </a:solidFill>
              <a:latin typeface="Calibri"/>
              <a:ea typeface="Calibri"/>
              <a:cs typeface="Calibri"/>
              <a:sym typeface="Calibri"/>
            </a:endParaRPr>
          </a:p>
        </p:txBody>
      </p:sp>
      <p:sp>
        <p:nvSpPr>
          <p:cNvPr id="27" name="Google Shape;27;p3"/>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28" name="Google Shape;28;p3"/>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29" name="Google Shape;29;p3"/>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sp>
        <p:nvSpPr>
          <p:cNvPr id="30" name="Google Shape;30;p3"/>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pic>
        <p:nvPicPr>
          <p:cNvPr id="31" name="Google Shape;31;p3"/>
          <p:cNvPicPr preferRelativeResize="0"/>
          <p:nvPr/>
        </p:nvPicPr>
        <p:blipFill rotWithShape="1">
          <a:blip r:embed="rId3">
            <a:alphaModFix/>
          </a:blip>
          <a:srcRect b="0" l="0" r="0" t="0"/>
          <a:stretch/>
        </p:blipFill>
        <p:spPr>
          <a:xfrm>
            <a:off x="4248956" y="4680824"/>
            <a:ext cx="646087" cy="3341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4" name="Google Shape;3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5" name="Google Shape;3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8" name="Google Shape;3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3" name="Google Shape;53;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4" name="Google Shape;5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sp>
        <p:nvSpPr>
          <p:cNvPr id="56" name="Google Shape;56;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7" name="Google Shape;5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1" name="Google Shape;61;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2" name="Google Shape;62;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2"/>
          <p:cNvSpPr txBox="1"/>
          <p:nvPr>
            <p:ph idx="12" type="sldNum"/>
          </p:nvPr>
        </p:nvSpPr>
        <p:spPr>
          <a:xfrm>
            <a:off x="8299223" y="5009628"/>
            <a:ext cx="702300" cy="171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12"/>
          <p:cNvSpPr txBox="1"/>
          <p:nvPr>
            <p:ph idx="1" type="body"/>
          </p:nvPr>
        </p:nvSpPr>
        <p:spPr>
          <a:xfrm>
            <a:off x="277400" y="552400"/>
            <a:ext cx="8751300" cy="3735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SzPts val="1100"/>
              <a:buChar char="▪"/>
              <a:defRPr/>
            </a:lvl1pPr>
            <a:lvl2pPr indent="-304800" lvl="1" marL="914400" algn="l">
              <a:lnSpc>
                <a:spcPct val="100000"/>
              </a:lnSpc>
              <a:spcBef>
                <a:spcPts val="0"/>
              </a:spcBef>
              <a:spcAft>
                <a:spcPts val="0"/>
              </a:spcAft>
              <a:buSzPts val="1200"/>
              <a:buChar char="⮚"/>
              <a:defRPr sz="1200"/>
            </a:lvl2pPr>
            <a:lvl3pPr indent="-279400" lvl="2" marL="1371600" algn="l">
              <a:lnSpc>
                <a:spcPct val="100000"/>
              </a:lnSpc>
              <a:spcBef>
                <a:spcPts val="0"/>
              </a:spcBef>
              <a:spcAft>
                <a:spcPts val="0"/>
              </a:spcAft>
              <a:buSzPts val="800"/>
              <a:buChar char="❖"/>
              <a:defRPr sz="1100"/>
            </a:lvl3pPr>
            <a:lvl4pPr indent="-317500" lvl="3" marL="1828800" algn="l">
              <a:lnSpc>
                <a:spcPct val="100000"/>
              </a:lnSpc>
              <a:spcBef>
                <a:spcPts val="0"/>
              </a:spcBef>
              <a:spcAft>
                <a:spcPts val="0"/>
              </a:spcAft>
              <a:buSzPts val="1400"/>
              <a:buChar char="o"/>
              <a:defRPr/>
            </a:lvl4pPr>
            <a:lvl5pPr indent="-298450" lvl="4" marL="2286000" algn="l">
              <a:lnSpc>
                <a:spcPct val="100000"/>
              </a:lnSpc>
              <a:spcBef>
                <a:spcPts val="0"/>
              </a:spcBef>
              <a:spcAft>
                <a:spcPts val="0"/>
              </a:spcAft>
              <a:buSzPts val="1100"/>
              <a:buChar char="▪"/>
              <a:defRPr/>
            </a:lvl5pPr>
            <a:lvl6pPr indent="-317500" lvl="5" marL="2743200" algn="l">
              <a:lnSpc>
                <a:spcPct val="90000"/>
              </a:lnSpc>
              <a:spcBef>
                <a:spcPts val="500"/>
              </a:spcBef>
              <a:spcAft>
                <a:spcPts val="0"/>
              </a:spcAft>
              <a:buSzPts val="1400"/>
              <a:buChar char="–"/>
              <a:defRPr/>
            </a:lvl6pPr>
            <a:lvl7pPr indent="-298450" lvl="6" marL="3200400" algn="l">
              <a:lnSpc>
                <a:spcPct val="90000"/>
              </a:lnSpc>
              <a:spcBef>
                <a:spcPts val="500"/>
              </a:spcBef>
              <a:spcAft>
                <a:spcPts val="0"/>
              </a:spcAft>
              <a:buSzPts val="1100"/>
              <a:buChar char="▪"/>
              <a:defRPr/>
            </a:lvl7pPr>
            <a:lvl8pPr indent="-317500" lvl="7" marL="3657600" algn="l">
              <a:lnSpc>
                <a:spcPct val="90000"/>
              </a:lnSpc>
              <a:spcBef>
                <a:spcPts val="500"/>
              </a:spcBef>
              <a:spcAft>
                <a:spcPts val="0"/>
              </a:spcAft>
              <a:buSzPts val="1400"/>
              <a:buChar char="–"/>
              <a:defRPr/>
            </a:lvl8pPr>
            <a:lvl9pPr indent="-298450" lvl="8" marL="4114800" algn="l">
              <a:lnSpc>
                <a:spcPct val="90000"/>
              </a:lnSpc>
              <a:spcBef>
                <a:spcPts val="500"/>
              </a:spcBef>
              <a:spcAft>
                <a:spcPts val="0"/>
              </a:spcAft>
              <a:buSzPts val="1100"/>
              <a:buChar char="▪"/>
              <a:defRPr/>
            </a:lvl9pPr>
          </a:lstStyle>
          <a:p/>
        </p:txBody>
      </p:sp>
      <p:sp>
        <p:nvSpPr>
          <p:cNvPr id="67" name="Google Shape;67;p12"/>
          <p:cNvSpPr txBox="1"/>
          <p:nvPr>
            <p:ph type="title"/>
          </p:nvPr>
        </p:nvSpPr>
        <p:spPr>
          <a:xfrm>
            <a:off x="250393" y="187170"/>
            <a:ext cx="8805300" cy="332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02060"/>
              </a:buClr>
              <a:buSzPts val="1800"/>
              <a:buFont typeface="Calibri"/>
              <a:buNone/>
              <a:defRPr b="1"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2"/>
          <p:cNvSpPr txBox="1"/>
          <p:nvPr/>
        </p:nvSpPr>
        <p:spPr>
          <a:xfrm>
            <a:off x="304417" y="5015004"/>
            <a:ext cx="8751300" cy="146100"/>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chemeClr val="lt1"/>
                </a:solidFill>
                <a:latin typeface="Calibri"/>
                <a:ea typeface="Calibri"/>
                <a:cs typeface="Calibri"/>
                <a:sym typeface="Calibri"/>
              </a:rPr>
              <a:t>TID: Kick-Off SCM Oracle Cloud Stabilization - Confidential</a:t>
            </a:r>
            <a:endParaRPr b="0" i="0" sz="500" u="none" cap="none" strike="noStrike">
              <a:solidFill>
                <a:schemeClr val="lt1"/>
              </a:solidFill>
              <a:latin typeface="Calibri"/>
              <a:ea typeface="Calibri"/>
              <a:cs typeface="Calibri"/>
              <a:sym typeface="Calibri"/>
            </a:endParaRPr>
          </a:p>
        </p:txBody>
      </p:sp>
      <p:pic>
        <p:nvPicPr>
          <p:cNvPr id="69" name="Google Shape;69;p12"/>
          <p:cNvPicPr preferRelativeResize="0"/>
          <p:nvPr/>
        </p:nvPicPr>
        <p:blipFill rotWithShape="1">
          <a:blip r:embed="rId2">
            <a:alphaModFix/>
          </a:blip>
          <a:srcRect b="0" l="0" r="0" t="0"/>
          <a:stretch/>
        </p:blipFill>
        <p:spPr>
          <a:xfrm>
            <a:off x="7554525" y="177099"/>
            <a:ext cx="1493900" cy="334175"/>
          </a:xfrm>
          <a:prstGeom prst="rect">
            <a:avLst/>
          </a:prstGeom>
          <a:noFill/>
          <a:ln>
            <a:noFill/>
          </a:ln>
        </p:spPr>
      </p:pic>
      <p:pic>
        <p:nvPicPr>
          <p:cNvPr id="70" name="Google Shape;70;p12"/>
          <p:cNvPicPr preferRelativeResize="0"/>
          <p:nvPr/>
        </p:nvPicPr>
        <p:blipFill rotWithShape="1">
          <a:blip r:embed="rId3">
            <a:alphaModFix/>
          </a:blip>
          <a:srcRect b="0" l="0" r="0" t="0"/>
          <a:stretch/>
        </p:blipFill>
        <p:spPr>
          <a:xfrm>
            <a:off x="4248956" y="4680824"/>
            <a:ext cx="646087" cy="33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5" name="Shape 75"/>
        <p:cNvGrpSpPr/>
        <p:nvPr/>
      </p:nvGrpSpPr>
      <p:grpSpPr>
        <a:xfrm>
          <a:off x="0" y="0"/>
          <a:ext cx="0" cy="0"/>
          <a:chOff x="0" y="0"/>
          <a:chExt cx="0" cy="0"/>
        </a:xfrm>
      </p:grpSpPr>
      <p:grpSp>
        <p:nvGrpSpPr>
          <p:cNvPr id="76" name="Google Shape;76;p14"/>
          <p:cNvGrpSpPr/>
          <p:nvPr/>
        </p:nvGrpSpPr>
        <p:grpSpPr>
          <a:xfrm>
            <a:off x="-18650" y="5035453"/>
            <a:ext cx="9161067" cy="112275"/>
            <a:chOff x="-24862" y="6713936"/>
            <a:chExt cx="12211500" cy="149700"/>
          </a:xfrm>
        </p:grpSpPr>
        <p:sp>
          <p:nvSpPr>
            <p:cNvPr id="77" name="Google Shape;77;p14"/>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78" name="Google Shape;78;p14"/>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79" name="Google Shape;79;p14"/>
          <p:cNvSpPr txBox="1"/>
          <p:nvPr/>
        </p:nvSpPr>
        <p:spPr>
          <a:xfrm>
            <a:off x="299076"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lang="en-US" sz="500">
                <a:solidFill>
                  <a:srgbClr val="FFFFFF"/>
                </a:solidFill>
                <a:latin typeface="Calibri"/>
                <a:ea typeface="Calibri"/>
                <a:cs typeface="Calibri"/>
                <a:sym typeface="Calibri"/>
              </a:rPr>
              <a:t>Inventory Management 26A - Confidential</a:t>
            </a:r>
            <a:endParaRPr b="0" i="0" sz="500" u="none" cap="none" strike="noStrike">
              <a:solidFill>
                <a:srgbClr val="FFFFFF"/>
              </a:solidFill>
              <a:latin typeface="Calibri"/>
              <a:ea typeface="Calibri"/>
              <a:cs typeface="Calibri"/>
              <a:sym typeface="Calibri"/>
            </a:endParaRPr>
          </a:p>
        </p:txBody>
      </p:sp>
      <p:sp>
        <p:nvSpPr>
          <p:cNvPr id="80" name="Google Shape;80;p14"/>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81" name="Google Shape;81;p14"/>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82" name="Google Shape;82;p14"/>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sp>
        <p:nvSpPr>
          <p:cNvPr id="83" name="Google Shape;83;p14"/>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pic>
        <p:nvPicPr>
          <p:cNvPr id="84" name="Google Shape;84;p14"/>
          <p:cNvPicPr preferRelativeResize="0"/>
          <p:nvPr/>
        </p:nvPicPr>
        <p:blipFill rotWithShape="1">
          <a:blip r:embed="rId3">
            <a:alphaModFix/>
          </a:blip>
          <a:srcRect b="0" l="0" r="0" t="0"/>
          <a:stretch/>
        </p:blipFill>
        <p:spPr>
          <a:xfrm>
            <a:off x="4248957" y="4680825"/>
            <a:ext cx="646087" cy="334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 name="Shape 85"/>
        <p:cNvGrpSpPr/>
        <p:nvPr/>
      </p:nvGrpSpPr>
      <p:grpSpPr>
        <a:xfrm>
          <a:off x="0" y="0"/>
          <a:ext cx="0" cy="0"/>
          <a:chOff x="0" y="0"/>
          <a:chExt cx="0" cy="0"/>
        </a:xfrm>
      </p:grpSpPr>
      <p:sp>
        <p:nvSpPr>
          <p:cNvPr id="86" name="Google Shape;86;p15"/>
          <p:cNvSpPr txBox="1"/>
          <p:nvPr>
            <p:ph idx="1" type="body"/>
          </p:nvPr>
        </p:nvSpPr>
        <p:spPr>
          <a:xfrm>
            <a:off x="57125" y="1356400"/>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grpSp>
        <p:nvGrpSpPr>
          <p:cNvPr id="87" name="Google Shape;87;p15"/>
          <p:cNvGrpSpPr/>
          <p:nvPr/>
        </p:nvGrpSpPr>
        <p:grpSpPr>
          <a:xfrm>
            <a:off x="-18650" y="5035453"/>
            <a:ext cx="9161067" cy="112275"/>
            <a:chOff x="-24862" y="6713936"/>
            <a:chExt cx="12211500" cy="149700"/>
          </a:xfrm>
        </p:grpSpPr>
        <p:sp>
          <p:nvSpPr>
            <p:cNvPr id="88" name="Google Shape;88;p15"/>
            <p:cNvSpPr/>
            <p:nvPr/>
          </p:nvSpPr>
          <p:spPr>
            <a:xfrm>
              <a:off x="-24862" y="6713936"/>
              <a:ext cx="12211500" cy="1497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89" name="Google Shape;89;p15"/>
            <p:cNvSpPr/>
            <p:nvPr/>
          </p:nvSpPr>
          <p:spPr>
            <a:xfrm>
              <a:off x="-24862" y="6713936"/>
              <a:ext cx="12189000" cy="273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grpSp>
      <p:sp>
        <p:nvSpPr>
          <p:cNvPr id="90" name="Google Shape;90;p15"/>
          <p:cNvSpPr/>
          <p:nvPr/>
        </p:nvSpPr>
        <p:spPr>
          <a:xfrm>
            <a:off x="-1678" y="1216382"/>
            <a:ext cx="9144000" cy="8856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91" name="Google Shape;91;p15"/>
          <p:cNvSpPr txBox="1"/>
          <p:nvPr/>
        </p:nvSpPr>
        <p:spPr>
          <a:xfrm>
            <a:off x="0" y="1215847"/>
            <a:ext cx="9253200" cy="886200"/>
          </a:xfrm>
          <a:prstGeom prst="rect">
            <a:avLst/>
          </a:prstGeom>
          <a:noFill/>
          <a:ln>
            <a:noFill/>
          </a:ln>
        </p:spPr>
        <p:txBody>
          <a:bodyPr anchorCtr="0" anchor="ctr" bIns="34275" lIns="68575" spcFirstLastPara="1" rIns="68575" wrap="square" tIns="34275">
            <a:normAutofit/>
          </a:bodyPr>
          <a:lstStyle/>
          <a:p>
            <a:pPr indent="0" lvl="0" marL="0" marR="0" rtl="0" algn="l">
              <a:lnSpc>
                <a:spcPct val="80000"/>
              </a:lnSpc>
              <a:spcBef>
                <a:spcPts val="0"/>
              </a:spcBef>
              <a:spcAft>
                <a:spcPts val="0"/>
              </a:spcAft>
              <a:buClr>
                <a:srgbClr val="000000"/>
              </a:buClr>
              <a:buSzPts val="2000"/>
              <a:buFont typeface="Arial"/>
              <a:buNone/>
            </a:pPr>
            <a:r>
              <a:t/>
            </a:r>
            <a:endParaRPr b="1" i="0" sz="2000" u="none" cap="none" strike="noStrike">
              <a:solidFill>
                <a:srgbClr val="FFFFFF"/>
              </a:solidFill>
              <a:latin typeface="Calibri"/>
              <a:ea typeface="Calibri"/>
              <a:cs typeface="Calibri"/>
              <a:sym typeface="Calibri"/>
            </a:endParaRPr>
          </a:p>
        </p:txBody>
      </p:sp>
      <p:sp>
        <p:nvSpPr>
          <p:cNvPr id="92" name="Google Shape;92;p15"/>
          <p:cNvSpPr/>
          <p:nvPr/>
        </p:nvSpPr>
        <p:spPr>
          <a:xfrm>
            <a:off x="-94" y="-20538"/>
            <a:ext cx="9144000" cy="112200"/>
          </a:xfrm>
          <a:prstGeom prst="rect">
            <a:avLst/>
          </a:prstGeom>
          <a:solidFill>
            <a:srgbClr val="0070C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sp>
        <p:nvSpPr>
          <p:cNvPr id="93" name="Google Shape;93;p15"/>
          <p:cNvSpPr/>
          <p:nvPr/>
        </p:nvSpPr>
        <p:spPr>
          <a:xfrm>
            <a:off x="961" y="87474"/>
            <a:ext cx="9144000" cy="20400"/>
          </a:xfrm>
          <a:prstGeom prst="rect">
            <a:avLst/>
          </a:prstGeom>
          <a:solidFill>
            <a:srgbClr val="00B0F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Calibri"/>
              <a:ea typeface="Calibri"/>
              <a:cs typeface="Calibri"/>
              <a:sym typeface="Calibri"/>
            </a:endParaRPr>
          </a:p>
        </p:txBody>
      </p:sp>
      <p:pic>
        <p:nvPicPr>
          <p:cNvPr id="94" name="Google Shape;94;p15"/>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pic>
        <p:nvPicPr>
          <p:cNvPr id="95" name="Google Shape;95;p15"/>
          <p:cNvPicPr preferRelativeResize="0"/>
          <p:nvPr/>
        </p:nvPicPr>
        <p:blipFill rotWithShape="1">
          <a:blip r:embed="rId3">
            <a:alphaModFix/>
          </a:blip>
          <a:srcRect b="0" l="0" r="0" t="0"/>
          <a:stretch/>
        </p:blipFill>
        <p:spPr>
          <a:xfrm>
            <a:off x="85676" y="177975"/>
            <a:ext cx="642611" cy="332400"/>
          </a:xfrm>
          <a:prstGeom prst="rect">
            <a:avLst/>
          </a:prstGeom>
          <a:noFill/>
          <a:ln>
            <a:noFill/>
          </a:ln>
        </p:spPr>
      </p:pic>
      <p:sp>
        <p:nvSpPr>
          <p:cNvPr id="96" name="Google Shape;96;p15"/>
          <p:cNvSpPr txBox="1"/>
          <p:nvPr/>
        </p:nvSpPr>
        <p:spPr>
          <a:xfrm>
            <a:off x="8299223" y="5002825"/>
            <a:ext cx="702300" cy="171600"/>
          </a:xfrm>
          <a:prstGeom prst="rect">
            <a:avLst/>
          </a:prstGeom>
          <a:noFill/>
          <a:ln>
            <a:noFill/>
          </a:ln>
        </p:spPr>
        <p:txBody>
          <a:bodyPr anchorCtr="0" anchor="ctr" bIns="34275" lIns="68575" spcFirstLastPara="1" rIns="68575" wrap="square" tIns="34275">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b="0" i="0" lang="en-US" sz="500" u="none" cap="none" strike="noStrike">
                <a:solidFill>
                  <a:srgbClr val="FFFFFF"/>
                </a:solidFill>
                <a:latin typeface="Calibri"/>
                <a:ea typeface="Calibri"/>
                <a:cs typeface="Calibri"/>
                <a:sym typeface="Calibri"/>
              </a:rPr>
              <a:t>‹#›</a:t>
            </a:fld>
            <a:endParaRPr b="0" i="0" sz="500" u="none" cap="none" strike="noStrike">
              <a:solidFill>
                <a:srgbClr val="FFFFFF"/>
              </a:solidFill>
              <a:latin typeface="Calibri"/>
              <a:ea typeface="Calibri"/>
              <a:cs typeface="Calibri"/>
              <a:sym typeface="Calibri"/>
            </a:endParaRPr>
          </a:p>
        </p:txBody>
      </p:sp>
      <p:sp>
        <p:nvSpPr>
          <p:cNvPr id="97" name="Google Shape;97;p15"/>
          <p:cNvSpPr txBox="1"/>
          <p:nvPr/>
        </p:nvSpPr>
        <p:spPr>
          <a:xfrm>
            <a:off x="299076"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ctr">
              <a:lnSpc>
                <a:spcPct val="100000"/>
              </a:lnSpc>
              <a:spcBef>
                <a:spcPts val="0"/>
              </a:spcBef>
              <a:spcAft>
                <a:spcPts val="0"/>
              </a:spcAft>
              <a:buClr>
                <a:schemeClr val="dk1"/>
              </a:buClr>
              <a:buSzPts val="500"/>
              <a:buFont typeface="Arial"/>
              <a:buNone/>
            </a:pPr>
            <a:r>
              <a:rPr b="0" i="0" lang="en-US" sz="500" u="none" cap="none" strike="noStrike">
                <a:solidFill>
                  <a:schemeClr val="lt1"/>
                </a:solidFill>
                <a:latin typeface="Calibri"/>
                <a:ea typeface="Calibri"/>
                <a:cs typeface="Calibri"/>
                <a:sym typeface="Calibri"/>
              </a:rPr>
              <a:t>Discovery Workshop#2 : Document Approval (PO) Workflow Redesign - Confidentiall</a:t>
            </a:r>
            <a:endParaRPr b="0" i="0" sz="5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 name="Shape 98"/>
        <p:cNvGrpSpPr/>
        <p:nvPr/>
      </p:nvGrpSpPr>
      <p:grpSpPr>
        <a:xfrm>
          <a:off x="0" y="0"/>
          <a:ext cx="0" cy="0"/>
          <a:chOff x="0" y="0"/>
          <a:chExt cx="0" cy="0"/>
        </a:xfrm>
      </p:grpSpPr>
      <p:sp>
        <p:nvSpPr>
          <p:cNvPr id="99" name="Google Shape;99;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0" name="Google Shape;100;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1" name="Google Shape;10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4" name="Google Shape;10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7" name="Google Shape;10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8" name="Google Shape;10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 name="Google Shape;111;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2" name="Google Shape;112;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3" name="Google Shape;11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9" name="Google Shape;119;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0" name="Google Shape;12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21" name="Shape 121"/>
        <p:cNvGrpSpPr/>
        <p:nvPr/>
      </p:nvGrpSpPr>
      <p:grpSpPr>
        <a:xfrm>
          <a:off x="0" y="0"/>
          <a:ext cx="0" cy="0"/>
          <a:chOff x="0" y="0"/>
          <a:chExt cx="0" cy="0"/>
        </a:xfrm>
      </p:grpSpPr>
      <p:sp>
        <p:nvSpPr>
          <p:cNvPr id="122" name="Google Shape;122;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3" name="Google Shape;12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24" name="Shape 124"/>
        <p:cNvGrpSpPr/>
        <p:nvPr/>
      </p:nvGrpSpPr>
      <p:grpSpPr>
        <a:xfrm>
          <a:off x="0" y="0"/>
          <a:ext cx="0" cy="0"/>
          <a:chOff x="0" y="0"/>
          <a:chExt cx="0" cy="0"/>
        </a:xfrm>
      </p:grpSpPr>
      <p:sp>
        <p:nvSpPr>
          <p:cNvPr id="125" name="Google Shape;125;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7" name="Google Shape;127;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8" name="Google Shape;128;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9" name="Google Shape;1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299223" y="5009628"/>
            <a:ext cx="702300" cy="171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24"/>
          <p:cNvSpPr txBox="1"/>
          <p:nvPr>
            <p:ph idx="1" type="body"/>
          </p:nvPr>
        </p:nvSpPr>
        <p:spPr>
          <a:xfrm>
            <a:off x="277400" y="552400"/>
            <a:ext cx="8751300" cy="3735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SzPts val="1100"/>
              <a:buChar char="▪"/>
              <a:defRPr/>
            </a:lvl1pPr>
            <a:lvl2pPr indent="-304800" lvl="1" marL="914400" algn="l">
              <a:lnSpc>
                <a:spcPct val="100000"/>
              </a:lnSpc>
              <a:spcBef>
                <a:spcPts val="0"/>
              </a:spcBef>
              <a:spcAft>
                <a:spcPts val="0"/>
              </a:spcAft>
              <a:buSzPts val="1200"/>
              <a:buChar char="⮚"/>
              <a:defRPr sz="1200"/>
            </a:lvl2pPr>
            <a:lvl3pPr indent="-279400" lvl="2" marL="1371600" algn="l">
              <a:lnSpc>
                <a:spcPct val="100000"/>
              </a:lnSpc>
              <a:spcBef>
                <a:spcPts val="0"/>
              </a:spcBef>
              <a:spcAft>
                <a:spcPts val="0"/>
              </a:spcAft>
              <a:buSzPts val="800"/>
              <a:buChar char="❖"/>
              <a:defRPr sz="1100"/>
            </a:lvl3pPr>
            <a:lvl4pPr indent="-317500" lvl="3" marL="1828800" algn="l">
              <a:lnSpc>
                <a:spcPct val="100000"/>
              </a:lnSpc>
              <a:spcBef>
                <a:spcPts val="0"/>
              </a:spcBef>
              <a:spcAft>
                <a:spcPts val="0"/>
              </a:spcAft>
              <a:buSzPts val="1400"/>
              <a:buChar char="o"/>
              <a:defRPr/>
            </a:lvl4pPr>
            <a:lvl5pPr indent="-298450" lvl="4" marL="2286000" algn="l">
              <a:lnSpc>
                <a:spcPct val="100000"/>
              </a:lnSpc>
              <a:spcBef>
                <a:spcPts val="0"/>
              </a:spcBef>
              <a:spcAft>
                <a:spcPts val="0"/>
              </a:spcAft>
              <a:buSzPts val="1100"/>
              <a:buChar char="▪"/>
              <a:defRPr/>
            </a:lvl5pPr>
            <a:lvl6pPr indent="-317500" lvl="5" marL="2743200" algn="l">
              <a:lnSpc>
                <a:spcPct val="90000"/>
              </a:lnSpc>
              <a:spcBef>
                <a:spcPts val="500"/>
              </a:spcBef>
              <a:spcAft>
                <a:spcPts val="0"/>
              </a:spcAft>
              <a:buSzPts val="1400"/>
              <a:buChar char="–"/>
              <a:defRPr/>
            </a:lvl6pPr>
            <a:lvl7pPr indent="-298450" lvl="6" marL="3200400" algn="l">
              <a:lnSpc>
                <a:spcPct val="90000"/>
              </a:lnSpc>
              <a:spcBef>
                <a:spcPts val="500"/>
              </a:spcBef>
              <a:spcAft>
                <a:spcPts val="0"/>
              </a:spcAft>
              <a:buSzPts val="1100"/>
              <a:buChar char="▪"/>
              <a:defRPr/>
            </a:lvl7pPr>
            <a:lvl8pPr indent="-317500" lvl="7" marL="3657600" algn="l">
              <a:lnSpc>
                <a:spcPct val="90000"/>
              </a:lnSpc>
              <a:spcBef>
                <a:spcPts val="500"/>
              </a:spcBef>
              <a:spcAft>
                <a:spcPts val="0"/>
              </a:spcAft>
              <a:buSzPts val="1400"/>
              <a:buChar char="–"/>
              <a:defRPr/>
            </a:lvl8pPr>
            <a:lvl9pPr indent="-298450" lvl="8" marL="4114800" algn="l">
              <a:lnSpc>
                <a:spcPct val="90000"/>
              </a:lnSpc>
              <a:spcBef>
                <a:spcPts val="500"/>
              </a:spcBef>
              <a:spcAft>
                <a:spcPts val="0"/>
              </a:spcAft>
              <a:buSzPts val="1100"/>
              <a:buChar char="▪"/>
              <a:defRPr/>
            </a:lvl9pPr>
          </a:lstStyle>
          <a:p/>
        </p:txBody>
      </p:sp>
      <p:sp>
        <p:nvSpPr>
          <p:cNvPr id="133" name="Google Shape;133;p24"/>
          <p:cNvSpPr txBox="1"/>
          <p:nvPr>
            <p:ph type="title"/>
          </p:nvPr>
        </p:nvSpPr>
        <p:spPr>
          <a:xfrm>
            <a:off x="250393" y="187170"/>
            <a:ext cx="8805300" cy="3324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002060"/>
              </a:buClr>
              <a:buSzPts val="1800"/>
              <a:buFont typeface="Calibri"/>
              <a:buNone/>
              <a:defRPr b="1" sz="18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24"/>
          <p:cNvSpPr txBox="1"/>
          <p:nvPr/>
        </p:nvSpPr>
        <p:spPr>
          <a:xfrm>
            <a:off x="304417" y="5014972"/>
            <a:ext cx="8751300" cy="146164"/>
          </a:xfrm>
          <a:prstGeom prst="rect">
            <a:avLst/>
          </a:prstGeom>
          <a:noFill/>
          <a:ln cap="flat" cmpd="sng" w="9525">
            <a:solidFill>
              <a:srgbClr val="E9F0F5"/>
            </a:solidFill>
            <a:prstDash val="solid"/>
            <a:round/>
            <a:headEnd len="sm" w="sm" type="none"/>
            <a:tailEnd len="sm" w="sm" type="none"/>
          </a:ln>
        </p:spPr>
        <p:txBody>
          <a:bodyPr anchorCtr="1" anchor="ctr"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chemeClr val="lt1"/>
                </a:solidFill>
                <a:latin typeface="Calibri"/>
                <a:ea typeface="Calibri"/>
                <a:cs typeface="Calibri"/>
                <a:sym typeface="Calibri"/>
              </a:rPr>
              <a:t>TID: Kick-Off SCM Oracle Cloud Stabilization - Confidential</a:t>
            </a:r>
            <a:endParaRPr b="0" i="0" sz="500" u="none" cap="none" strike="noStrike">
              <a:solidFill>
                <a:schemeClr val="lt1"/>
              </a:solidFill>
              <a:latin typeface="Calibri"/>
              <a:ea typeface="Calibri"/>
              <a:cs typeface="Calibri"/>
              <a:sym typeface="Calibri"/>
            </a:endParaRPr>
          </a:p>
        </p:txBody>
      </p:sp>
      <p:pic>
        <p:nvPicPr>
          <p:cNvPr id="135" name="Google Shape;135;p24"/>
          <p:cNvPicPr preferRelativeResize="0"/>
          <p:nvPr/>
        </p:nvPicPr>
        <p:blipFill rotWithShape="1">
          <a:blip r:embed="rId2">
            <a:alphaModFix/>
          </a:blip>
          <a:srcRect b="0" l="0" r="0" t="0"/>
          <a:stretch/>
        </p:blipFill>
        <p:spPr>
          <a:xfrm>
            <a:off x="7554526" y="177100"/>
            <a:ext cx="1493900" cy="334175"/>
          </a:xfrm>
          <a:prstGeom prst="rect">
            <a:avLst/>
          </a:prstGeom>
          <a:noFill/>
          <a:ln>
            <a:noFill/>
          </a:ln>
        </p:spPr>
      </p:pic>
      <p:pic>
        <p:nvPicPr>
          <p:cNvPr id="136" name="Google Shape;136;p24"/>
          <p:cNvPicPr preferRelativeResize="0"/>
          <p:nvPr/>
        </p:nvPicPr>
        <p:blipFill rotWithShape="1">
          <a:blip r:embed="rId3">
            <a:alphaModFix/>
          </a:blip>
          <a:srcRect b="0" l="0" r="0" t="0"/>
          <a:stretch/>
        </p:blipFill>
        <p:spPr>
          <a:xfrm>
            <a:off x="4248957" y="4680825"/>
            <a:ext cx="646087" cy="334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3" name="Google Shape;7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4" name="Google Shape;7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1</a:t>
            </a:r>
          </a:p>
        </p:txBody>
      </p:sp>
      <p:sp>
        <p:nvSpPr>
          <p:cNvPr id="8" name="TextBox 7"/>
          <p:cNvSpPr txBox="1"/>
          <p:nvPr/>
        </p:nvSpPr>
        <p:spPr>
          <a:xfrm>
            <a:off x="914400" y="1657350"/>
            <a:ext cx="7315200" cy="457200"/>
          </a:xfrm>
          <a:prstGeom prst="rect">
            <a:avLst/>
          </a:prstGeom>
          <a:noFill/>
        </p:spPr>
        <p:txBody>
          <a:bodyPr wrap="square">
            <a:spAutoFit/>
          </a:bodyPr>
          <a:lstStyle/>
          <a:p>
            <a:pPr algn="ctr">
              <a:defRPr sz="2800" b="1">
                <a:solidFill>
                  <a:srgbClr val="000000"/>
                </a:solidFill>
                <a:latin typeface="Calibri"/>
              </a:defRPr>
            </a:pPr>
            <a:r>
              <a:t>Turlock Irrigation District : 26B Oracle Upgrades</a:t>
            </a:r>
          </a:p>
        </p:txBody>
      </p:sp>
      <p:sp>
        <p:nvSpPr>
          <p:cNvPr id="9" name="TextBox 8"/>
          <p:cNvSpPr txBox="1"/>
          <p:nvPr/>
        </p:nvSpPr>
        <p:spPr>
          <a:xfrm>
            <a:off x="914400" y="2205990"/>
            <a:ext cx="7315200" cy="365760"/>
          </a:xfrm>
          <a:prstGeom prst="rect">
            <a:avLst/>
          </a:prstGeom>
          <a:noFill/>
        </p:spPr>
        <p:txBody>
          <a:bodyPr wrap="square">
            <a:spAutoFit/>
          </a:bodyPr>
          <a:lstStyle/>
          <a:p>
            <a:pPr algn="ctr">
              <a:defRPr sz="2200" b="0">
                <a:solidFill>
                  <a:srgbClr val="000000"/>
                </a:solidFill>
                <a:latin typeface="Calibri"/>
              </a:defRPr>
            </a:pPr>
            <a:r>
              <a:t>Oracle Fusion Cloud Collaboration Messaging</a:t>
            </a:r>
          </a:p>
        </p:txBody>
      </p:sp>
      <p:sp>
        <p:nvSpPr>
          <p:cNvPr id="10" name="TextBox 9"/>
          <p:cNvSpPr txBox="1"/>
          <p:nvPr/>
        </p:nvSpPr>
        <p:spPr>
          <a:xfrm>
            <a:off x="914400" y="2663190"/>
            <a:ext cx="7315200" cy="274320"/>
          </a:xfrm>
          <a:prstGeom prst="rect">
            <a:avLst/>
          </a:prstGeom>
          <a:noFill/>
        </p:spPr>
        <p:txBody>
          <a:bodyPr wrap="square">
            <a:spAutoFit/>
          </a:bodyPr>
          <a:lstStyle/>
          <a:p>
            <a:pPr algn="ctr">
              <a:defRPr sz="1400" b="0">
                <a:solidFill>
                  <a:srgbClr val="000000"/>
                </a:solidFill>
                <a:latin typeface="Calibri"/>
              </a:defRPr>
            </a:pPr>
            <a:r>
              <a:t>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2</a:t>
            </a:r>
          </a:p>
        </p:txBody>
      </p:sp>
      <p:sp>
        <p:nvSpPr>
          <p:cNvPr id="8" name="TextBox 7"/>
          <p:cNvSpPr txBox="1"/>
          <p:nvPr/>
        </p:nvSpPr>
        <p:spPr>
          <a:xfrm>
            <a:off x="457200" y="457200"/>
            <a:ext cx="3657600" cy="457200"/>
          </a:xfrm>
          <a:prstGeom prst="rect">
            <a:avLst/>
          </a:prstGeom>
          <a:noFill/>
        </p:spPr>
        <p:txBody>
          <a:bodyPr wrap="square">
            <a:spAutoFit/>
          </a:bodyPr>
          <a:lstStyle/>
          <a:p>
            <a:pPr algn="l">
              <a:defRPr sz="2200" b="1">
                <a:solidFill>
                  <a:srgbClr val="000000"/>
                </a:solidFill>
                <a:latin typeface="Calibri"/>
              </a:defRPr>
            </a:pPr>
            <a:r>
              <a:t>Index</a:t>
            </a:r>
          </a:p>
        </p:txBody>
      </p:sp>
      <p:sp>
        <p:nvSpPr>
          <p:cNvPr id="9" name="TextBox 8"/>
          <p:cNvSpPr txBox="1"/>
          <p:nvPr/>
        </p:nvSpPr>
        <p:spPr>
          <a:xfrm>
            <a:off x="731520" y="1371600"/>
            <a:ext cx="7772400" cy="274320"/>
          </a:xfrm>
          <a:prstGeom prst="rect">
            <a:avLst/>
          </a:prstGeom>
          <a:noFill/>
        </p:spPr>
        <p:txBody>
          <a:bodyPr wrap="square">
            <a:spAutoFit/>
          </a:bodyPr>
          <a:lstStyle/>
          <a:p>
            <a:pPr algn="l">
              <a:defRPr sz="1100" b="0">
                <a:solidFill>
                  <a:srgbClr val="000000"/>
                </a:solidFill>
                <a:latin typeface="Calibri"/>
              </a:defRPr>
            </a:pPr>
            <a:r>
              <a:t>1. AI Agent: B2B Message Converter - Enrich Workflow Features Along with Upload and Download Capabil...</a:t>
            </a:r>
          </a:p>
        </p:txBody>
      </p:sp>
      <p:sp>
        <p:nvSpPr>
          <p:cNvPr id="10" name="TextBox 9"/>
          <p:cNvSpPr txBox="1"/>
          <p:nvPr/>
        </p:nvSpPr>
        <p:spPr>
          <a:xfrm>
            <a:off x="731520" y="1645920"/>
            <a:ext cx="7772400" cy="274320"/>
          </a:xfrm>
          <a:prstGeom prst="rect">
            <a:avLst/>
          </a:prstGeom>
          <a:noFill/>
        </p:spPr>
        <p:txBody>
          <a:bodyPr wrap="square">
            <a:spAutoFit/>
          </a:bodyPr>
          <a:lstStyle/>
          <a:p>
            <a:pPr algn="l">
              <a:defRPr sz="1100" b="0">
                <a:solidFill>
                  <a:srgbClr val="000000"/>
                </a:solidFill>
                <a:latin typeface="Calibri"/>
              </a:defRPr>
            </a:pPr>
            <a:r>
              <a:t>2. Redwood: Configure Collaboration Messaging</a:t>
            </a:r>
          </a:p>
        </p:txBody>
      </p:sp>
      <p:sp>
        <p:nvSpPr>
          <p:cNvPr id="11" name="TextBox 10"/>
          <p:cNvSpPr txBox="1"/>
          <p:nvPr/>
        </p:nvSpPr>
        <p:spPr>
          <a:xfrm>
            <a:off x="731520" y="1920239"/>
            <a:ext cx="7772400" cy="274320"/>
          </a:xfrm>
          <a:prstGeom prst="rect">
            <a:avLst/>
          </a:prstGeom>
          <a:noFill/>
        </p:spPr>
        <p:txBody>
          <a:bodyPr wrap="square">
            <a:spAutoFit/>
          </a:bodyPr>
          <a:lstStyle/>
          <a:p>
            <a:pPr algn="l">
              <a:defRPr sz="1100" b="0">
                <a:solidFill>
                  <a:srgbClr val="000000"/>
                </a:solidFill>
                <a:latin typeface="Calibri"/>
              </a:defRPr>
            </a:pPr>
            <a:r>
              <a:t>3. Redwood: Define Processing Rules for B2B Messages</a:t>
            </a:r>
          </a:p>
        </p:txBody>
      </p:sp>
      <p:sp>
        <p:nvSpPr>
          <p:cNvPr id="12" name="TextBox 11"/>
          <p:cNvSpPr txBox="1"/>
          <p:nvPr/>
        </p:nvSpPr>
        <p:spPr>
          <a:xfrm>
            <a:off x="731520" y="2194560"/>
            <a:ext cx="7772400" cy="274320"/>
          </a:xfrm>
          <a:prstGeom prst="rect">
            <a:avLst/>
          </a:prstGeom>
          <a:noFill/>
        </p:spPr>
        <p:txBody>
          <a:bodyPr wrap="square">
            <a:spAutoFit/>
          </a:bodyPr>
          <a:lstStyle/>
          <a:p>
            <a:pPr algn="l">
              <a:defRPr sz="1100" b="0">
                <a:solidFill>
                  <a:srgbClr val="000000"/>
                </a:solidFill>
                <a:latin typeface="Calibri"/>
              </a:defRPr>
            </a:pPr>
            <a:r>
              <a:t>4. Redwood: Override Inbound Message Definitions</a:t>
            </a:r>
          </a:p>
        </p:txBody>
      </p:sp>
      <p:sp>
        <p:nvSpPr>
          <p:cNvPr id="13" name="TextBox 12"/>
          <p:cNvSpPr txBox="1"/>
          <p:nvPr/>
        </p:nvSpPr>
        <p:spPr>
          <a:xfrm>
            <a:off x="731520" y="2468880"/>
            <a:ext cx="7772400" cy="274320"/>
          </a:xfrm>
          <a:prstGeom prst="rect">
            <a:avLst/>
          </a:prstGeom>
          <a:noFill/>
        </p:spPr>
        <p:txBody>
          <a:bodyPr wrap="square">
            <a:spAutoFit/>
          </a:bodyPr>
          <a:lstStyle/>
          <a:p>
            <a:pPr algn="l">
              <a:defRPr sz="1100" b="0">
                <a:solidFill>
                  <a:srgbClr val="000000"/>
                </a:solidFill>
                <a:latin typeface="Calibri"/>
              </a:defRPr>
            </a:pPr>
            <a:r>
              <a:t>5. Redwood: Receive an Order from Oracle Configure, Price, Quote (CPQ)</a:t>
            </a:r>
          </a:p>
        </p:txBody>
      </p:sp>
      <p:sp>
        <p:nvSpPr>
          <p:cNvPr id="14" name="TextBox 13"/>
          <p:cNvSpPr txBox="1"/>
          <p:nvPr/>
        </p:nvSpPr>
        <p:spPr>
          <a:xfrm>
            <a:off x="731520" y="2743199"/>
            <a:ext cx="7772400" cy="274320"/>
          </a:xfrm>
          <a:prstGeom prst="rect">
            <a:avLst/>
          </a:prstGeom>
          <a:noFill/>
        </p:spPr>
        <p:txBody>
          <a:bodyPr wrap="square">
            <a:spAutoFit/>
          </a:bodyPr>
          <a:lstStyle/>
          <a:p>
            <a:pPr algn="l">
              <a:defRPr sz="1100" b="0">
                <a:solidFill>
                  <a:srgbClr val="000000"/>
                </a:solidFill>
                <a:latin typeface="Calibri"/>
              </a:defRPr>
            </a:pPr>
            <a:r>
              <a:t>6. Redwood: Set up Supplier and Customer Collaboration Messaging Using a Redwood Page</a:t>
            </a:r>
          </a:p>
        </p:txBody>
      </p:sp>
      <p:sp>
        <p:nvSpPr>
          <p:cNvPr id="15" name="TextBox 14"/>
          <p:cNvSpPr txBox="1"/>
          <p:nvPr/>
        </p:nvSpPr>
        <p:spPr>
          <a:xfrm>
            <a:off x="731520" y="3017520"/>
            <a:ext cx="7772400" cy="274320"/>
          </a:xfrm>
          <a:prstGeom prst="rect">
            <a:avLst/>
          </a:prstGeom>
          <a:noFill/>
        </p:spPr>
        <p:txBody>
          <a:bodyPr wrap="square">
            <a:spAutoFit/>
          </a:bodyPr>
          <a:lstStyle/>
          <a:p>
            <a:pPr algn="l">
              <a:defRPr sz="1100" b="0">
                <a:solidFill>
                  <a:srgbClr val="000000"/>
                </a:solidFill>
                <a:latin typeface="Calibri"/>
              </a:defRPr>
            </a:pPr>
            <a:r>
              <a:t>7. Integrate and Extend Procurement Using REST Resources</a:t>
            </a:r>
          </a:p>
        </p:txBody>
      </p:sp>
      <p:sp>
        <p:nvSpPr>
          <p:cNvPr id="16" name="TextBox 15"/>
          <p:cNvSpPr txBox="1"/>
          <p:nvPr/>
        </p:nvSpPr>
        <p:spPr>
          <a:xfrm>
            <a:off x="731520" y="3291840"/>
            <a:ext cx="7772400" cy="274320"/>
          </a:xfrm>
          <a:prstGeom prst="rect">
            <a:avLst/>
          </a:prstGeom>
          <a:noFill/>
        </p:spPr>
        <p:txBody>
          <a:bodyPr wrap="square">
            <a:spAutoFit/>
          </a:bodyPr>
          <a:lstStyle/>
          <a:p>
            <a:pPr algn="l">
              <a:defRPr sz="1100" b="0">
                <a:solidFill>
                  <a:srgbClr val="000000"/>
                </a:solidFill>
                <a:latin typeface="Calibri"/>
              </a:defRPr>
            </a:pPr>
            <a:r>
              <a:t>8. Redwood: Set Up Purchasing</a:t>
            </a:r>
          </a:p>
        </p:txBody>
      </p:sp>
      <p:sp>
        <p:nvSpPr>
          <p:cNvPr id="17" name="TextBox 16"/>
          <p:cNvSpPr txBox="1"/>
          <p:nvPr/>
        </p:nvSpPr>
        <p:spPr>
          <a:xfrm>
            <a:off x="731520" y="3566159"/>
            <a:ext cx="7772400" cy="274320"/>
          </a:xfrm>
          <a:prstGeom prst="rect">
            <a:avLst/>
          </a:prstGeom>
          <a:noFill/>
        </p:spPr>
        <p:txBody>
          <a:bodyPr wrap="square">
            <a:spAutoFit/>
          </a:bodyPr>
          <a:lstStyle/>
          <a:p>
            <a:pPr algn="l">
              <a:defRPr sz="1100" b="0">
                <a:solidFill>
                  <a:srgbClr val="000000"/>
                </a:solidFill>
                <a:latin typeface="Calibri"/>
              </a:defRPr>
            </a:pPr>
            <a:r>
              <a:t>9. Redwood: Manage Configured Items and Review Their Structures</a:t>
            </a:r>
          </a:p>
        </p:txBody>
      </p:sp>
      <p:sp>
        <p:nvSpPr>
          <p:cNvPr id="18" name="TextBox 17"/>
          <p:cNvSpPr txBox="1"/>
          <p:nvPr/>
        </p:nvSpPr>
        <p:spPr>
          <a:xfrm>
            <a:off x="731520" y="3840480"/>
            <a:ext cx="7772400" cy="274320"/>
          </a:xfrm>
          <a:prstGeom prst="rect">
            <a:avLst/>
          </a:prstGeom>
          <a:noFill/>
        </p:spPr>
        <p:txBody>
          <a:bodyPr wrap="square">
            <a:spAutoFit/>
          </a:bodyPr>
          <a:lstStyle/>
          <a:p>
            <a:pPr algn="l">
              <a:defRPr sz="1100" b="0">
                <a:solidFill>
                  <a:srgbClr val="000000"/>
                </a:solidFill>
                <a:latin typeface="Calibri"/>
              </a:defRPr>
            </a:pPr>
            <a:r>
              <a:t>10. AI Agent: Configuration Advisor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3</a:t>
            </a:r>
          </a:p>
        </p:txBody>
      </p:sp>
      <p:sp>
        <p:nvSpPr>
          <p:cNvPr id="8" name="TextBox 7"/>
          <p:cNvSpPr txBox="1"/>
          <p:nvPr/>
        </p:nvSpPr>
        <p:spPr>
          <a:xfrm>
            <a:off x="411480" y="438912"/>
            <a:ext cx="5669280" cy="320040"/>
          </a:xfrm>
          <a:prstGeom prst="rect">
            <a:avLst/>
          </a:prstGeom>
          <a:noFill/>
        </p:spPr>
        <p:txBody>
          <a:bodyPr wrap="square">
            <a:spAutoFit/>
          </a:bodyPr>
          <a:lstStyle/>
          <a:p>
            <a:pPr algn="l">
              <a:defRPr sz="1600" b="1">
                <a:solidFill>
                  <a:srgbClr val="000000"/>
                </a:solidFill>
                <a:latin typeface="Calibri"/>
              </a:defRPr>
            </a:pPr>
            <a:r>
              <a:t>Collaboration Messaging (1/3)</a:t>
            </a:r>
          </a:p>
        </p:txBody>
      </p:sp>
      <p:graphicFrame>
        <p:nvGraphicFramePr>
          <p:cNvPr id="9" name="Table 8"/>
          <p:cNvGraphicFramePr>
            <a:graphicFrameLocks noGrp="1"/>
          </p:cNvGraphicFramePr>
          <p:nvPr/>
        </p:nvGraphicFramePr>
        <p:xfrm>
          <a:off x="384048" y="914400"/>
          <a:ext cx="8412480" cy="2514600"/>
        </p:xfrm>
        <a:graphic>
          <a:graphicData uri="http://schemas.openxmlformats.org/drawingml/2006/table">
            <a:tbl>
              <a:tblPr firstRow="1" bandRow="1">
                <a:tableStyleId>{5C22544A-7EE6-4342-B048-85BDC9FD1C3A}</a:tableStyleId>
              </a:tblPr>
              <a:tblGrid>
                <a:gridCol w="548640"/>
                <a:gridCol w="2377440"/>
                <a:gridCol w="2377440"/>
                <a:gridCol w="2286000"/>
                <a:gridCol w="822960"/>
              </a:tblGrid>
              <a:tr h="320040">
                <a:tc>
                  <a:txBody>
                    <a:bodyPr wrap="square"/>
                    <a:lstStyle/>
                    <a:p>
                      <a:pPr>
                        <a:defRPr sz="850" b="1">
                          <a:solidFill>
                            <a:srgbClr val="FFFFFF"/>
                          </a:solidFill>
                          <a:latin typeface="Calibri"/>
                        </a:defRPr>
                      </a:pPr>
                      <a:r>
                        <a:t>Sr. No.</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B2B Message Converter - Enrich Workflow Features Along with Upload and Download Capabilities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use the B2B Message Converter AI agent to streamline the conversion of B2B messages such as purchase orders and shipments from a Fusion Application REST resource into industry-standard formats, including OAG 7.2.1, OAGIS 10.1, and cXML 1.2.007. Users can now perform a complete sequence of messaging conversion steps within the agent, including upload and download of mapping files for greater flexibility and customization.</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use the B2B Message Converter AI agent to streamline the conversion of B2B messages such as purchase orders and shipments from a Fusion Application REST resource into industry-standard formats, including OAG 7.2.1, OAGIS 10.1, and cXML 1.2.007.</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Configure Collaboration Messaging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use a Redwood page to configure parameter values that control how Collaboration Messaging processes outbound and inbound messages. These are the parameters that can be defined on the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use a Redwood page to configure parameter values that control how Collaboration Messaging processes outbound and inbound messages.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648456"/>
            <a:ext cx="8046720" cy="274320"/>
          </a:xfrm>
          <a:prstGeom prst="rect">
            <a:avLst/>
          </a:prstGeom>
          <a:noFill/>
        </p:spPr>
        <p:txBody>
          <a:bodyPr wrap="none">
            <a:spAutoFit/>
          </a:bodyPr>
          <a:lstStyle/>
          <a:p>
            <a:pPr>
              <a:defRPr sz="800" u="sng">
                <a:solidFill>
                  <a:srgbClr val="0066CC"/>
                </a:solidFill>
              </a:defRPr>
            </a:pPr>
            <a:r>
              <a:t>AI Agent: B2B Message Converter - Enrich Workflow Features Along with Upload and Download Capabilities</a:t>
            </a:r>
          </a:p>
        </p:txBody>
      </p:sp>
      <p:sp>
        <p:nvSpPr>
          <p:cNvPr id="11" name="TextBox 10"/>
          <p:cNvSpPr txBox="1"/>
          <p:nvPr/>
        </p:nvSpPr>
        <p:spPr>
          <a:xfrm>
            <a:off x="502920" y="3849624"/>
            <a:ext cx="8046720" cy="274320"/>
          </a:xfrm>
          <a:prstGeom prst="rect">
            <a:avLst/>
          </a:prstGeom>
          <a:noFill/>
        </p:spPr>
        <p:txBody>
          <a:bodyPr wrap="none">
            <a:spAutoFit/>
          </a:bodyPr>
          <a:lstStyle/>
          <a:p>
            <a:pPr>
              <a:defRPr sz="800" u="sng">
                <a:solidFill>
                  <a:srgbClr val="0066CC"/>
                </a:solidFill>
              </a:defRPr>
            </a:pPr>
            <a:r>
              <a:t>Redwood: Configure Collaboration Messaging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4</a:t>
            </a:r>
          </a:p>
        </p:txBody>
      </p:sp>
      <p:sp>
        <p:nvSpPr>
          <p:cNvPr id="8" name="TextBox 7"/>
          <p:cNvSpPr txBox="1"/>
          <p:nvPr/>
        </p:nvSpPr>
        <p:spPr>
          <a:xfrm>
            <a:off x="411480" y="438912"/>
            <a:ext cx="5669280" cy="320040"/>
          </a:xfrm>
          <a:prstGeom prst="rect">
            <a:avLst/>
          </a:prstGeom>
          <a:noFill/>
        </p:spPr>
        <p:txBody>
          <a:bodyPr wrap="square">
            <a:spAutoFit/>
          </a:bodyPr>
          <a:lstStyle/>
          <a:p>
            <a:pPr algn="l">
              <a:defRPr sz="1600" b="1">
                <a:solidFill>
                  <a:srgbClr val="000000"/>
                </a:solidFill>
                <a:latin typeface="Calibri"/>
              </a:defRPr>
            </a:pPr>
            <a:r>
              <a:t>Collaboration Messaging (2/3)</a:t>
            </a:r>
          </a:p>
        </p:txBody>
      </p:sp>
      <p:graphicFrame>
        <p:nvGraphicFramePr>
          <p:cNvPr id="9" name="Table 8"/>
          <p:cNvGraphicFramePr>
            <a:graphicFrameLocks noGrp="1"/>
          </p:cNvGraphicFramePr>
          <p:nvPr/>
        </p:nvGraphicFramePr>
        <p:xfrm>
          <a:off x="384048" y="914400"/>
          <a:ext cx="8412480" cy="2514600"/>
        </p:xfrm>
        <a:graphic>
          <a:graphicData uri="http://schemas.openxmlformats.org/drawingml/2006/table">
            <a:tbl>
              <a:tblPr firstRow="1" bandRow="1">
                <a:tableStyleId>{5C22544A-7EE6-4342-B048-85BDC9FD1C3A}</a:tableStyleId>
              </a:tblPr>
              <a:tblGrid>
                <a:gridCol w="548640"/>
                <a:gridCol w="2377440"/>
                <a:gridCol w="2377440"/>
                <a:gridCol w="2286000"/>
                <a:gridCol w="822960"/>
              </a:tblGrid>
              <a:tr h="320040">
                <a:tc>
                  <a:txBody>
                    <a:bodyPr wrap="square"/>
                    <a:lstStyle/>
                    <a:p>
                      <a:pPr>
                        <a:defRPr sz="850" b="1">
                          <a:solidFill>
                            <a:srgbClr val="FFFFFF"/>
                          </a:solidFill>
                          <a:latin typeface="Calibri"/>
                        </a:defRPr>
                      </a:pPr>
                      <a:r>
                        <a:t>Sr. No.</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3</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Define Processing Rules for B2B Messages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Set up message processing rules to automatically modify inbound messages to meet your enterprise-specific collaboration requirements. You can now set default values or set fields as required, all without complex development.</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Set up message processing rules to automatically modify inbound messages to meet your enterprise-specific collaboration requirements.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4</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Override Inbound Message Definitions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override a service provider’s inbound message definition to customize how messages received from a particular trading partner are processed. Instead of using the default inbound message definition set by the service provider, you can define alternate formats, standards, or data mappings for that partner’s inbound communications.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override a service provider’s inbound message definition to customize how messages received from a particular trading partner are processed.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648456"/>
            <a:ext cx="8046720" cy="274320"/>
          </a:xfrm>
          <a:prstGeom prst="rect">
            <a:avLst/>
          </a:prstGeom>
          <a:noFill/>
        </p:spPr>
        <p:txBody>
          <a:bodyPr wrap="none">
            <a:spAutoFit/>
          </a:bodyPr>
          <a:lstStyle/>
          <a:p>
            <a:pPr>
              <a:defRPr sz="800" u="sng">
                <a:solidFill>
                  <a:srgbClr val="0066CC"/>
                </a:solidFill>
              </a:defRPr>
            </a:pPr>
            <a:r>
              <a:t>Redwood: Define Processing Rules for B2B Messages</a:t>
            </a:r>
          </a:p>
        </p:txBody>
      </p:sp>
      <p:sp>
        <p:nvSpPr>
          <p:cNvPr id="11" name="TextBox 10"/>
          <p:cNvSpPr txBox="1"/>
          <p:nvPr/>
        </p:nvSpPr>
        <p:spPr>
          <a:xfrm>
            <a:off x="502920" y="3849624"/>
            <a:ext cx="8046720" cy="274320"/>
          </a:xfrm>
          <a:prstGeom prst="rect">
            <a:avLst/>
          </a:prstGeom>
          <a:noFill/>
        </p:spPr>
        <p:txBody>
          <a:bodyPr wrap="none">
            <a:spAutoFit/>
          </a:bodyPr>
          <a:lstStyle/>
          <a:p>
            <a:pPr>
              <a:defRPr sz="800" u="sng">
                <a:solidFill>
                  <a:srgbClr val="0066CC"/>
                </a:solidFill>
              </a:defRPr>
            </a:pPr>
            <a:r>
              <a:t>Redwood: Override Inbound Message Definitions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5</a:t>
            </a:r>
          </a:p>
        </p:txBody>
      </p:sp>
      <p:sp>
        <p:nvSpPr>
          <p:cNvPr id="8" name="TextBox 7"/>
          <p:cNvSpPr txBox="1"/>
          <p:nvPr/>
        </p:nvSpPr>
        <p:spPr>
          <a:xfrm>
            <a:off x="411480" y="438912"/>
            <a:ext cx="5669280" cy="320040"/>
          </a:xfrm>
          <a:prstGeom prst="rect">
            <a:avLst/>
          </a:prstGeom>
          <a:noFill/>
        </p:spPr>
        <p:txBody>
          <a:bodyPr wrap="square">
            <a:spAutoFit/>
          </a:bodyPr>
          <a:lstStyle/>
          <a:p>
            <a:pPr algn="l">
              <a:defRPr sz="1600" b="1">
                <a:solidFill>
                  <a:srgbClr val="000000"/>
                </a:solidFill>
                <a:latin typeface="Calibri"/>
              </a:defRPr>
            </a:pPr>
            <a:r>
              <a:t>Collaboration Messaging (3/3)</a:t>
            </a:r>
          </a:p>
        </p:txBody>
      </p:sp>
      <p:graphicFrame>
        <p:nvGraphicFramePr>
          <p:cNvPr id="9" name="Table 8"/>
          <p:cNvGraphicFramePr>
            <a:graphicFrameLocks noGrp="1"/>
          </p:cNvGraphicFramePr>
          <p:nvPr/>
        </p:nvGraphicFramePr>
        <p:xfrm>
          <a:off x="384048" y="914400"/>
          <a:ext cx="8412480" cy="2514600"/>
        </p:xfrm>
        <a:graphic>
          <a:graphicData uri="http://schemas.openxmlformats.org/drawingml/2006/table">
            <a:tbl>
              <a:tblPr firstRow="1" bandRow="1">
                <a:tableStyleId>{5C22544A-7EE6-4342-B048-85BDC9FD1C3A}</a:tableStyleId>
              </a:tblPr>
              <a:tblGrid>
                <a:gridCol w="548640"/>
                <a:gridCol w="2377440"/>
                <a:gridCol w="2377440"/>
                <a:gridCol w="2286000"/>
                <a:gridCol w="822960"/>
              </a:tblGrid>
              <a:tr h="320040">
                <a:tc>
                  <a:txBody>
                    <a:bodyPr wrap="square"/>
                    <a:lstStyle/>
                    <a:p>
                      <a:pPr>
                        <a:defRPr sz="850" b="1">
                          <a:solidFill>
                            <a:srgbClr val="FFFFFF"/>
                          </a:solidFill>
                          <a:latin typeface="Calibri"/>
                        </a:defRPr>
                      </a:pPr>
                      <a:r>
                        <a:t>Sr. No.</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5</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Receive an Order from Oracle Configure, Price, Quote (CPQ)</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After you have enabled the feature Simplify Configuration and Processing for B2B Messaging , you'll need to perform the following high-level tasks to complete the setup: Users who are assigned a configured job role that contains this privilege can access this feature: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After you have enabled the feature Simplify Configuration and Processing for B2B Messaging , you'll need to perform the following high-level tasks to complete the setup: Users who are assigned a configured job role that contains this privilege can access this feature: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6</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Set up Supplier and Customer Collaboration Messaging Using a Redwood Page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the B2B Documents task to set up default B2B connections for outbound order forecasts and supply forecasts. Collaboration messaging can now use the default settings to route messages, eliminating the need to configure connection details for each customer and supplier.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the B2B Documents task to set up default B2B connections for outbound order forecasts and supply forecasts.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648456"/>
            <a:ext cx="8046720" cy="274320"/>
          </a:xfrm>
          <a:prstGeom prst="rect">
            <a:avLst/>
          </a:prstGeom>
          <a:noFill/>
        </p:spPr>
        <p:txBody>
          <a:bodyPr wrap="none">
            <a:spAutoFit/>
          </a:bodyPr>
          <a:lstStyle/>
          <a:p>
            <a:pPr>
              <a:defRPr sz="800" u="sng">
                <a:solidFill>
                  <a:srgbClr val="0066CC"/>
                </a:solidFill>
              </a:defRPr>
            </a:pPr>
            <a:r>
              <a:t>Redwood: Receive an Order from Oracle Configure, Price, Quote (CPQ)</a:t>
            </a:r>
          </a:p>
        </p:txBody>
      </p:sp>
      <p:sp>
        <p:nvSpPr>
          <p:cNvPr id="11" name="TextBox 10"/>
          <p:cNvSpPr txBox="1"/>
          <p:nvPr/>
        </p:nvSpPr>
        <p:spPr>
          <a:xfrm>
            <a:off x="502920" y="3849624"/>
            <a:ext cx="8046720" cy="274320"/>
          </a:xfrm>
          <a:prstGeom prst="rect">
            <a:avLst/>
          </a:prstGeom>
          <a:noFill/>
        </p:spPr>
        <p:txBody>
          <a:bodyPr wrap="none">
            <a:spAutoFit/>
          </a:bodyPr>
          <a:lstStyle/>
          <a:p>
            <a:pPr>
              <a:defRPr sz="800" u="sng">
                <a:solidFill>
                  <a:srgbClr val="0066CC"/>
                </a:solidFill>
              </a:defRPr>
            </a:pPr>
            <a:r>
              <a:t>Redwood: Set up Supplier and Customer Collaboration Messaging Using a Redwood Page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6</a:t>
            </a:r>
          </a:p>
        </p:txBody>
      </p:sp>
      <p:sp>
        <p:nvSpPr>
          <p:cNvPr id="8" name="TextBox 7"/>
          <p:cNvSpPr txBox="1"/>
          <p:nvPr/>
        </p:nvSpPr>
        <p:spPr>
          <a:xfrm>
            <a:off x="411480" y="438912"/>
            <a:ext cx="5669280" cy="320040"/>
          </a:xfrm>
          <a:prstGeom prst="rect">
            <a:avLst/>
          </a:prstGeom>
          <a:noFill/>
        </p:spPr>
        <p:txBody>
          <a:bodyPr wrap="square">
            <a:spAutoFit/>
          </a:bodyPr>
          <a:lstStyle/>
          <a:p>
            <a:pPr algn="l">
              <a:defRPr sz="1600" b="1">
                <a:solidFill>
                  <a:srgbClr val="000000"/>
                </a:solidFill>
                <a:latin typeface="Calibri"/>
              </a:defRPr>
            </a:pPr>
            <a:r>
              <a:t>Common Procurement</a:t>
            </a:r>
          </a:p>
        </p:txBody>
      </p:sp>
      <p:graphicFrame>
        <p:nvGraphicFramePr>
          <p:cNvPr id="9" name="Table 8"/>
          <p:cNvGraphicFramePr>
            <a:graphicFrameLocks noGrp="1"/>
          </p:cNvGraphicFramePr>
          <p:nvPr/>
        </p:nvGraphicFramePr>
        <p:xfrm>
          <a:off x="384048" y="914400"/>
          <a:ext cx="8412480" cy="2514600"/>
        </p:xfrm>
        <a:graphic>
          <a:graphicData uri="http://schemas.openxmlformats.org/drawingml/2006/table">
            <a:tbl>
              <a:tblPr firstRow="1" bandRow="1">
                <a:tableStyleId>{5C22544A-7EE6-4342-B048-85BDC9FD1C3A}</a:tableStyleId>
              </a:tblPr>
              <a:tblGrid>
                <a:gridCol w="548640"/>
                <a:gridCol w="2377440"/>
                <a:gridCol w="2377440"/>
                <a:gridCol w="2286000"/>
                <a:gridCol w="822960"/>
              </a:tblGrid>
              <a:tr h="320040">
                <a:tc>
                  <a:txBody>
                    <a:bodyPr wrap="square"/>
                    <a:lstStyle/>
                    <a:p>
                      <a:pPr>
                        <a:defRPr sz="850" b="1">
                          <a:solidFill>
                            <a:srgbClr val="FFFFFF"/>
                          </a:solidFill>
                          <a:latin typeface="Calibri"/>
                        </a:defRPr>
                      </a:pPr>
                      <a:r>
                        <a:t>Sr. No.</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Integrate and Extend Procurement Using REST Resources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new REST resources introduced in this update are: The following REST resources were previously available, and have been updated: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The new REST resources introduced in this update are: The following REST resources were previously available, and have been updated:</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Set Up Purchasing</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view and configure these setup pages using the Redwood experience: On these pages, you can work faster with the refreshed list view. Apply chip-based filters, change layout, and take inline actions to edit or copy rows.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You can now view and configure these setup pages using the Redwood experience: On these pages, you can work faster with the refreshed list view.</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648456"/>
            <a:ext cx="8046720" cy="274320"/>
          </a:xfrm>
          <a:prstGeom prst="rect">
            <a:avLst/>
          </a:prstGeom>
          <a:noFill/>
        </p:spPr>
        <p:txBody>
          <a:bodyPr wrap="none">
            <a:spAutoFit/>
          </a:bodyPr>
          <a:lstStyle/>
          <a:p>
            <a:pPr>
              <a:defRPr sz="800" u="sng">
                <a:solidFill>
                  <a:srgbClr val="0066CC"/>
                </a:solidFill>
              </a:defRPr>
            </a:pPr>
            <a:r>
              <a:t>Integrate and Extend Procurement Using REST Resources</a:t>
            </a:r>
          </a:p>
        </p:txBody>
      </p:sp>
      <p:sp>
        <p:nvSpPr>
          <p:cNvPr id="11" name="TextBox 10"/>
          <p:cNvSpPr txBox="1"/>
          <p:nvPr/>
        </p:nvSpPr>
        <p:spPr>
          <a:xfrm>
            <a:off x="502920" y="3849624"/>
            <a:ext cx="8046720" cy="274320"/>
          </a:xfrm>
          <a:prstGeom prst="rect">
            <a:avLst/>
          </a:prstGeom>
          <a:noFill/>
        </p:spPr>
        <p:txBody>
          <a:bodyPr wrap="none">
            <a:spAutoFit/>
          </a:bodyPr>
          <a:lstStyle/>
          <a:p>
            <a:pPr>
              <a:defRPr sz="800" u="sng">
                <a:solidFill>
                  <a:srgbClr val="0066CC"/>
                </a:solidFill>
              </a:defRPr>
            </a:pPr>
            <a:r>
              <a:t>Redwood: Set Up Purchasing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960620"/>
            <a:ext cx="9144000" cy="182880"/>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turus_logo.png"/>
          <p:cNvPicPr>
            <a:picLocks noChangeAspect="1"/>
          </p:cNvPicPr>
          <p:nvPr/>
        </p:nvPicPr>
        <p:blipFill>
          <a:blip r:embed="rId2"/>
          <a:stretch>
            <a:fillRect/>
          </a:stretch>
        </p:blipFill>
        <p:spPr>
          <a:xfrm>
            <a:off x="7269481" y="228600"/>
            <a:ext cx="1508760" cy="384734"/>
          </a:xfrm>
          <a:prstGeom prst="rect">
            <a:avLst/>
          </a:prstGeom>
        </p:spPr>
      </p:pic>
      <p:pic>
        <p:nvPicPr>
          <p:cNvPr id="5" name="Picture 4" descr="tid_logo.png"/>
          <p:cNvPicPr>
            <a:picLocks noChangeAspect="1"/>
          </p:cNvPicPr>
          <p:nvPr/>
        </p:nvPicPr>
        <p:blipFill>
          <a:blip r:embed="rId3"/>
          <a:stretch>
            <a:fillRect/>
          </a:stretch>
        </p:blipFill>
        <p:spPr>
          <a:xfrm>
            <a:off x="4251960" y="4503420"/>
            <a:ext cx="640080" cy="356153"/>
          </a:xfrm>
          <a:prstGeom prst="rect">
            <a:avLst/>
          </a:prstGeom>
        </p:spPr>
      </p:pic>
      <p:sp>
        <p:nvSpPr>
          <p:cNvPr id="6" name="TextBox 5"/>
          <p:cNvSpPr txBox="1"/>
          <p:nvPr/>
        </p:nvSpPr>
        <p:spPr>
          <a:xfrm>
            <a:off x="0" y="4960620"/>
            <a:ext cx="9144000" cy="182880"/>
          </a:xfrm>
          <a:prstGeom prst="rect">
            <a:avLst/>
          </a:prstGeom>
          <a:noFill/>
        </p:spPr>
        <p:txBody>
          <a:bodyPr wrap="none">
            <a:spAutoFit/>
          </a:bodyPr>
          <a:lstStyle/>
          <a:p>
            <a:pPr algn="ctr">
              <a:defRPr sz="500">
                <a:solidFill>
                  <a:srgbClr val="FFFFFF"/>
                </a:solidFill>
              </a:defRPr>
            </a:pPr>
            <a:r>
              <a:t>Inventory Management 26B - Confidential</a:t>
            </a:r>
          </a:p>
        </p:txBody>
      </p:sp>
      <p:sp>
        <p:nvSpPr>
          <p:cNvPr id="7" name="TextBox 6"/>
          <p:cNvSpPr txBox="1"/>
          <p:nvPr/>
        </p:nvSpPr>
        <p:spPr>
          <a:xfrm>
            <a:off x="8686800" y="4960620"/>
            <a:ext cx="365760" cy="182880"/>
          </a:xfrm>
          <a:prstGeom prst="rect">
            <a:avLst/>
          </a:prstGeom>
          <a:noFill/>
        </p:spPr>
        <p:txBody>
          <a:bodyPr wrap="none">
            <a:spAutoFit/>
          </a:bodyPr>
          <a:lstStyle/>
          <a:p>
            <a:pPr algn="r">
              <a:defRPr sz="600">
                <a:solidFill>
                  <a:srgbClr val="FFFFFF"/>
                </a:solidFill>
              </a:defRPr>
            </a:pPr>
            <a:r>
              <a:t>7</a:t>
            </a:r>
          </a:p>
        </p:txBody>
      </p:sp>
      <p:sp>
        <p:nvSpPr>
          <p:cNvPr id="8" name="TextBox 7"/>
          <p:cNvSpPr txBox="1"/>
          <p:nvPr/>
        </p:nvSpPr>
        <p:spPr>
          <a:xfrm>
            <a:off x="411480" y="438912"/>
            <a:ext cx="5669280" cy="320040"/>
          </a:xfrm>
          <a:prstGeom prst="rect">
            <a:avLst/>
          </a:prstGeom>
          <a:noFill/>
        </p:spPr>
        <p:txBody>
          <a:bodyPr wrap="square">
            <a:spAutoFit/>
          </a:bodyPr>
          <a:lstStyle/>
          <a:p>
            <a:pPr algn="l">
              <a:defRPr sz="1600" b="1">
                <a:solidFill>
                  <a:srgbClr val="000000"/>
                </a:solidFill>
                <a:latin typeface="Calibri"/>
              </a:defRPr>
            </a:pPr>
            <a:r>
              <a:t>Configure to Order</a:t>
            </a:r>
          </a:p>
        </p:txBody>
      </p:sp>
      <p:graphicFrame>
        <p:nvGraphicFramePr>
          <p:cNvPr id="9" name="Table 8"/>
          <p:cNvGraphicFramePr>
            <a:graphicFrameLocks noGrp="1"/>
          </p:cNvGraphicFramePr>
          <p:nvPr/>
        </p:nvGraphicFramePr>
        <p:xfrm>
          <a:off x="384048" y="914400"/>
          <a:ext cx="8412480" cy="2514600"/>
        </p:xfrm>
        <a:graphic>
          <a:graphicData uri="http://schemas.openxmlformats.org/drawingml/2006/table">
            <a:tbl>
              <a:tblPr firstRow="1" bandRow="1">
                <a:tableStyleId>{5C22544A-7EE6-4342-B048-85BDC9FD1C3A}</a:tableStyleId>
              </a:tblPr>
              <a:tblGrid>
                <a:gridCol w="548640"/>
                <a:gridCol w="2377440"/>
                <a:gridCol w="2377440"/>
                <a:gridCol w="2286000"/>
                <a:gridCol w="822960"/>
              </a:tblGrid>
              <a:tr h="320040">
                <a:tc>
                  <a:txBody>
                    <a:bodyPr wrap="square"/>
                    <a:lstStyle/>
                    <a:p>
                      <a:pPr>
                        <a:defRPr sz="850" b="1">
                          <a:solidFill>
                            <a:srgbClr val="FFFFFF"/>
                          </a:solidFill>
                          <a:latin typeface="Calibri"/>
                        </a:defRPr>
                      </a:pPr>
                      <a:r>
                        <a:t>Sr. No.</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26B Feature</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Benefit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Impact</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1">
                          <a:solidFill>
                            <a:srgbClr val="FFFFFF"/>
                          </a:solidFill>
                          <a:latin typeface="Calibri"/>
                        </a:defRPr>
                      </a:pPr>
                      <a:r>
                        <a:t>Priority</a:t>
                      </a:r>
                    </a:p>
                  </a:txBody>
                  <a:tcPr>
                    <a:solidFill>
                      <a:srgbClr val="1F4E79"/>
                    </a:solidFill>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1</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Redwood: Manage Configured Items and Review Their Structures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 redesigned page to view your configured items. View each item's sales structure and complete structure.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 redesigned page to view your configured items.</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097280">
                <a:tc>
                  <a:txBody>
                    <a:bodyPr wrap="square"/>
                    <a:lstStyle/>
                    <a:p>
                      <a:pPr>
                        <a:defRPr sz="850" b="0">
                          <a:solidFill>
                            <a:srgbClr val="000000"/>
                          </a:solidFill>
                          <a:latin typeface="Calibri"/>
                        </a:defRPr>
                      </a:pPr>
                      <a:r>
                        <a:t>2</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AI Agent: Configuration Advisor</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Use an AI agent to help you identify the optimal configuration for a configured item according to your inputs. Use the agent to compare two or more configurations and select the best one.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Small scale</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wrap="square"/>
                    <a:lstStyle/>
                    <a:p>
                      <a:pPr>
                        <a:defRPr sz="850" b="0">
                          <a:solidFill>
                            <a:srgbClr val="000000"/>
                          </a:solidFill>
                          <a:latin typeface="Calibri"/>
                        </a:defRPr>
                      </a:pPr>
                      <a:r>
                        <a:t>High</a:t>
                      </a:r>
                    </a:p>
                  </a:txBody>
                  <a:tcPr>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10" name="TextBox 9"/>
          <p:cNvSpPr txBox="1"/>
          <p:nvPr/>
        </p:nvSpPr>
        <p:spPr>
          <a:xfrm>
            <a:off x="502920" y="3648456"/>
            <a:ext cx="8046720" cy="274320"/>
          </a:xfrm>
          <a:prstGeom prst="rect">
            <a:avLst/>
          </a:prstGeom>
          <a:noFill/>
        </p:spPr>
        <p:txBody>
          <a:bodyPr wrap="none">
            <a:spAutoFit/>
          </a:bodyPr>
          <a:lstStyle/>
          <a:p>
            <a:pPr>
              <a:defRPr sz="800" u="sng">
                <a:solidFill>
                  <a:srgbClr val="0066CC"/>
                </a:solidFill>
              </a:defRPr>
            </a:pPr>
            <a:r>
              <a:t>Redwood: Manage Configured Items and Review Their Structures</a:t>
            </a:r>
          </a:p>
        </p:txBody>
      </p:sp>
      <p:sp>
        <p:nvSpPr>
          <p:cNvPr id="11" name="TextBox 10"/>
          <p:cNvSpPr txBox="1"/>
          <p:nvPr/>
        </p:nvSpPr>
        <p:spPr>
          <a:xfrm>
            <a:off x="502920" y="3849624"/>
            <a:ext cx="8046720" cy="274320"/>
          </a:xfrm>
          <a:prstGeom prst="rect">
            <a:avLst/>
          </a:prstGeom>
          <a:noFill/>
        </p:spPr>
        <p:txBody>
          <a:bodyPr wrap="none">
            <a:spAutoFit/>
          </a:bodyPr>
          <a:lstStyle/>
          <a:p>
            <a:pPr>
              <a:defRPr sz="800" u="sng">
                <a:solidFill>
                  <a:srgbClr val="0066CC"/>
                </a:solidFill>
              </a:defRPr>
            </a:pPr>
            <a:r>
              <a:t>AI Agent: Configuration Advisor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