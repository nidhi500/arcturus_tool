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0" r:id="rId5"/>
    <p:sldMasterId id="214748367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CE1E117-5442-4E1C-B7FE-E79694003765}">
  <a:tblStyle styleId="{7CE1E117-5442-4E1C-B7FE-E79694003765}"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 name="Shape 9"/>
        <p:cNvGrpSpPr/>
        <p:nvPr/>
      </p:nvGrpSpPr>
      <p:grpSpPr>
        <a:xfrm>
          <a:off x="0" y="0"/>
          <a:ext cx="0" cy="0"/>
          <a:chOff x="0" y="0"/>
          <a:chExt cx="0" cy="0"/>
        </a:xfrm>
      </p:grpSpPr>
      <p:sp>
        <p:nvSpPr>
          <p:cNvPr id="10" name="Google Shape;10;p2"/>
          <p:cNvSpPr txBox="1"/>
          <p:nvPr>
            <p:ph idx="1" type="body"/>
          </p:nvPr>
        </p:nvSpPr>
        <p:spPr>
          <a:xfrm>
            <a:off x="57125" y="1356400"/>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grpSp>
        <p:nvGrpSpPr>
          <p:cNvPr id="11" name="Google Shape;11;p2"/>
          <p:cNvGrpSpPr/>
          <p:nvPr/>
        </p:nvGrpSpPr>
        <p:grpSpPr>
          <a:xfrm>
            <a:off x="-18651" y="5035452"/>
            <a:ext cx="9161067" cy="112275"/>
            <a:chOff x="-24862" y="6713936"/>
            <a:chExt cx="12211500" cy="149700"/>
          </a:xfrm>
        </p:grpSpPr>
        <p:sp>
          <p:nvSpPr>
            <p:cNvPr id="12" name="Google Shape;12;p2"/>
            <p:cNvSpPr/>
            <p:nvPr/>
          </p:nvSpPr>
          <p:spPr>
            <a:xfrm>
              <a:off x="-24862" y="6713936"/>
              <a:ext cx="12211500" cy="149700"/>
            </a:xfrm>
            <a:prstGeom prst="rect">
              <a:avLst/>
            </a:prstGeom>
            <a:solidFill>
              <a:srgbClr val="0070C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rgbClr val="FFFFFF"/>
                </a:solidFill>
                <a:latin typeface="Calibri"/>
                <a:ea typeface="Calibri"/>
                <a:cs typeface="Calibri"/>
                <a:sym typeface="Calibri"/>
              </a:endParaRPr>
            </a:p>
          </p:txBody>
        </p:sp>
        <p:sp>
          <p:nvSpPr>
            <p:cNvPr id="13" name="Google Shape;13;p2"/>
            <p:cNvSpPr/>
            <p:nvPr/>
          </p:nvSpPr>
          <p:spPr>
            <a:xfrm>
              <a:off x="-24862" y="6713936"/>
              <a:ext cx="12189000" cy="27300"/>
            </a:xfrm>
            <a:prstGeom prst="rect">
              <a:avLst/>
            </a:prstGeom>
            <a:solidFill>
              <a:srgbClr val="00B0F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rgbClr val="FFFFFF"/>
                </a:solidFill>
                <a:latin typeface="Calibri"/>
                <a:ea typeface="Calibri"/>
                <a:cs typeface="Calibri"/>
                <a:sym typeface="Calibri"/>
              </a:endParaRPr>
            </a:p>
          </p:txBody>
        </p:sp>
      </p:grpSp>
      <p:sp>
        <p:nvSpPr>
          <p:cNvPr id="14" name="Google Shape;14;p2"/>
          <p:cNvSpPr/>
          <p:nvPr/>
        </p:nvSpPr>
        <p:spPr>
          <a:xfrm>
            <a:off x="-1678" y="1216382"/>
            <a:ext cx="9144000" cy="885600"/>
          </a:xfrm>
          <a:prstGeom prst="rect">
            <a:avLst/>
          </a:prstGeom>
          <a:solidFill>
            <a:srgbClr val="0070C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rgbClr val="FFFFFF"/>
              </a:solidFill>
              <a:latin typeface="Calibri"/>
              <a:ea typeface="Calibri"/>
              <a:cs typeface="Calibri"/>
              <a:sym typeface="Calibri"/>
            </a:endParaRPr>
          </a:p>
        </p:txBody>
      </p:sp>
      <p:sp>
        <p:nvSpPr>
          <p:cNvPr id="15" name="Google Shape;15;p2"/>
          <p:cNvSpPr txBox="1"/>
          <p:nvPr/>
        </p:nvSpPr>
        <p:spPr>
          <a:xfrm>
            <a:off x="0" y="1215847"/>
            <a:ext cx="9253200" cy="886200"/>
          </a:xfrm>
          <a:prstGeom prst="rect">
            <a:avLst/>
          </a:prstGeom>
          <a:noFill/>
          <a:ln>
            <a:noFill/>
          </a:ln>
        </p:spPr>
        <p:txBody>
          <a:bodyPr anchorCtr="0" anchor="ctr" bIns="34275" lIns="68575" spcFirstLastPara="1" rIns="68575" wrap="square" tIns="34275">
            <a:normAutofit/>
          </a:bodyPr>
          <a:lstStyle/>
          <a:p>
            <a:pPr indent="0" lvl="0" marL="0" marR="0" rtl="0" algn="l">
              <a:lnSpc>
                <a:spcPct val="80000"/>
              </a:lnSpc>
              <a:spcBef>
                <a:spcPts val="0"/>
              </a:spcBef>
              <a:spcAft>
                <a:spcPts val="0"/>
              </a:spcAft>
              <a:buClr>
                <a:srgbClr val="000000"/>
              </a:buClr>
              <a:buSzPts val="2000"/>
              <a:buFont typeface="Arial"/>
              <a:buNone/>
            </a:pPr>
            <a:r>
              <a:t/>
            </a:r>
            <a:endParaRPr b="1" i="0" sz="2000" u="none" cap="none" strike="noStrike">
              <a:solidFill>
                <a:srgbClr val="FFFFFF"/>
              </a:solidFill>
              <a:latin typeface="Calibri"/>
              <a:ea typeface="Calibri"/>
              <a:cs typeface="Calibri"/>
              <a:sym typeface="Calibri"/>
            </a:endParaRPr>
          </a:p>
        </p:txBody>
      </p:sp>
      <p:sp>
        <p:nvSpPr>
          <p:cNvPr id="16" name="Google Shape;16;p2"/>
          <p:cNvSpPr/>
          <p:nvPr/>
        </p:nvSpPr>
        <p:spPr>
          <a:xfrm>
            <a:off x="-94" y="-20538"/>
            <a:ext cx="9144000" cy="112200"/>
          </a:xfrm>
          <a:prstGeom prst="rect">
            <a:avLst/>
          </a:prstGeom>
          <a:solidFill>
            <a:srgbClr val="0070C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rgbClr val="FFFFFF"/>
              </a:solidFill>
              <a:latin typeface="Calibri"/>
              <a:ea typeface="Calibri"/>
              <a:cs typeface="Calibri"/>
              <a:sym typeface="Calibri"/>
            </a:endParaRPr>
          </a:p>
        </p:txBody>
      </p:sp>
      <p:sp>
        <p:nvSpPr>
          <p:cNvPr id="17" name="Google Shape;17;p2"/>
          <p:cNvSpPr/>
          <p:nvPr/>
        </p:nvSpPr>
        <p:spPr>
          <a:xfrm>
            <a:off x="961" y="87474"/>
            <a:ext cx="9144000" cy="20400"/>
          </a:xfrm>
          <a:prstGeom prst="rect">
            <a:avLst/>
          </a:prstGeom>
          <a:solidFill>
            <a:srgbClr val="00B0F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rgbClr val="FFFFFF"/>
              </a:solidFill>
              <a:latin typeface="Calibri"/>
              <a:ea typeface="Calibri"/>
              <a:cs typeface="Calibri"/>
              <a:sym typeface="Calibri"/>
            </a:endParaRPr>
          </a:p>
        </p:txBody>
      </p:sp>
      <p:pic>
        <p:nvPicPr>
          <p:cNvPr id="18" name="Google Shape;18;p2"/>
          <p:cNvPicPr preferRelativeResize="0"/>
          <p:nvPr/>
        </p:nvPicPr>
        <p:blipFill rotWithShape="1">
          <a:blip r:embed="rId2">
            <a:alphaModFix/>
          </a:blip>
          <a:srcRect b="0" l="0" r="0" t="0"/>
          <a:stretch/>
        </p:blipFill>
        <p:spPr>
          <a:xfrm>
            <a:off x="7554525" y="177099"/>
            <a:ext cx="1493900" cy="334175"/>
          </a:xfrm>
          <a:prstGeom prst="rect">
            <a:avLst/>
          </a:prstGeom>
          <a:noFill/>
          <a:ln>
            <a:noFill/>
          </a:ln>
        </p:spPr>
      </p:pic>
      <p:pic>
        <p:nvPicPr>
          <p:cNvPr id="19" name="Google Shape;19;p2"/>
          <p:cNvPicPr preferRelativeResize="0"/>
          <p:nvPr/>
        </p:nvPicPr>
        <p:blipFill rotWithShape="1">
          <a:blip r:embed="rId3">
            <a:alphaModFix/>
          </a:blip>
          <a:srcRect b="0" l="0" r="0" t="0"/>
          <a:stretch/>
        </p:blipFill>
        <p:spPr>
          <a:xfrm>
            <a:off x="85675" y="177975"/>
            <a:ext cx="642611" cy="332400"/>
          </a:xfrm>
          <a:prstGeom prst="rect">
            <a:avLst/>
          </a:prstGeom>
          <a:noFill/>
          <a:ln>
            <a:noFill/>
          </a:ln>
        </p:spPr>
      </p:pic>
      <p:sp>
        <p:nvSpPr>
          <p:cNvPr id="20" name="Google Shape;20;p2"/>
          <p:cNvSpPr txBox="1"/>
          <p:nvPr/>
        </p:nvSpPr>
        <p:spPr>
          <a:xfrm>
            <a:off x="8299223" y="5002825"/>
            <a:ext cx="702300" cy="17160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000000"/>
              </a:buClr>
              <a:buSzPts val="500"/>
              <a:buFont typeface="Arial"/>
              <a:buNone/>
            </a:pPr>
            <a:fld id="{00000000-1234-1234-1234-123412341234}" type="slidenum">
              <a:rPr b="0" i="0" lang="en-US" sz="500" u="none" cap="none" strike="noStrike">
                <a:solidFill>
                  <a:srgbClr val="FFFFFF"/>
                </a:solidFill>
                <a:latin typeface="Calibri"/>
                <a:ea typeface="Calibri"/>
                <a:cs typeface="Calibri"/>
                <a:sym typeface="Calibri"/>
              </a:rPr>
              <a:t>‹#›</a:t>
            </a:fld>
            <a:endParaRPr b="0" i="0" sz="500" u="none" cap="none" strike="noStrike">
              <a:solidFill>
                <a:srgbClr val="FFFFFF"/>
              </a:solidFill>
              <a:latin typeface="Calibri"/>
              <a:ea typeface="Calibri"/>
              <a:cs typeface="Calibri"/>
              <a:sym typeface="Calibri"/>
            </a:endParaRPr>
          </a:p>
        </p:txBody>
      </p:sp>
      <p:sp>
        <p:nvSpPr>
          <p:cNvPr id="21" name="Google Shape;21;p2"/>
          <p:cNvSpPr txBox="1"/>
          <p:nvPr/>
        </p:nvSpPr>
        <p:spPr>
          <a:xfrm>
            <a:off x="299076" y="5015004"/>
            <a:ext cx="8751300" cy="146100"/>
          </a:xfrm>
          <a:prstGeom prst="rect">
            <a:avLst/>
          </a:prstGeom>
          <a:noFill/>
          <a:ln cap="flat" cmpd="sng" w="9525">
            <a:solidFill>
              <a:srgbClr val="E9F0F5"/>
            </a:solidFill>
            <a:prstDash val="solid"/>
            <a:round/>
            <a:headEnd len="sm" w="sm" type="none"/>
            <a:tailEnd len="sm" w="sm" type="none"/>
          </a:ln>
        </p:spPr>
        <p:txBody>
          <a:bodyPr anchorCtr="1" anchor="ctr" bIns="34275" lIns="68575" spcFirstLastPara="1" rIns="68575" wrap="square" tIns="34275">
            <a:spAutoFit/>
          </a:bodyPr>
          <a:lstStyle/>
          <a:p>
            <a:pPr indent="0" lvl="0" marL="0" marR="0" rtl="0" algn="ctr">
              <a:lnSpc>
                <a:spcPct val="100000"/>
              </a:lnSpc>
              <a:spcBef>
                <a:spcPts val="0"/>
              </a:spcBef>
              <a:spcAft>
                <a:spcPts val="0"/>
              </a:spcAft>
              <a:buClr>
                <a:schemeClr val="dk1"/>
              </a:buClr>
              <a:buSzPts val="500"/>
              <a:buFont typeface="Arial"/>
              <a:buNone/>
            </a:pPr>
            <a:r>
              <a:rPr lang="en-US" sz="500">
                <a:solidFill>
                  <a:schemeClr val="lt1"/>
                </a:solidFill>
                <a:latin typeface="Calibri"/>
                <a:ea typeface="Calibri"/>
                <a:cs typeface="Calibri"/>
                <a:sym typeface="Calibri"/>
              </a:rPr>
              <a:t>Inventory Management 26A - Confidential</a:t>
            </a:r>
            <a:endParaRPr b="0" i="0" sz="500" u="none" cap="none" strike="noStrike">
              <a:solidFill>
                <a:srgbClr val="FFFFFF"/>
              </a:solidFill>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2" name="Shape 22"/>
        <p:cNvGrpSpPr/>
        <p:nvPr/>
      </p:nvGrpSpPr>
      <p:grpSpPr>
        <a:xfrm>
          <a:off x="0" y="0"/>
          <a:ext cx="0" cy="0"/>
          <a:chOff x="0" y="0"/>
          <a:chExt cx="0" cy="0"/>
        </a:xfrm>
      </p:grpSpPr>
      <p:grpSp>
        <p:nvGrpSpPr>
          <p:cNvPr id="23" name="Google Shape;23;p3"/>
          <p:cNvGrpSpPr/>
          <p:nvPr/>
        </p:nvGrpSpPr>
        <p:grpSpPr>
          <a:xfrm>
            <a:off x="-18651" y="5035452"/>
            <a:ext cx="9161067" cy="112275"/>
            <a:chOff x="-24862" y="6713936"/>
            <a:chExt cx="12211500" cy="149700"/>
          </a:xfrm>
        </p:grpSpPr>
        <p:sp>
          <p:nvSpPr>
            <p:cNvPr id="24" name="Google Shape;24;p3"/>
            <p:cNvSpPr/>
            <p:nvPr/>
          </p:nvSpPr>
          <p:spPr>
            <a:xfrm>
              <a:off x="-24862" y="6713936"/>
              <a:ext cx="12211500" cy="149700"/>
            </a:xfrm>
            <a:prstGeom prst="rect">
              <a:avLst/>
            </a:prstGeom>
            <a:solidFill>
              <a:srgbClr val="0070C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rgbClr val="FFFFFF"/>
                </a:solidFill>
                <a:latin typeface="Calibri"/>
                <a:ea typeface="Calibri"/>
                <a:cs typeface="Calibri"/>
                <a:sym typeface="Calibri"/>
              </a:endParaRPr>
            </a:p>
          </p:txBody>
        </p:sp>
        <p:sp>
          <p:nvSpPr>
            <p:cNvPr id="25" name="Google Shape;25;p3"/>
            <p:cNvSpPr/>
            <p:nvPr/>
          </p:nvSpPr>
          <p:spPr>
            <a:xfrm>
              <a:off x="-24862" y="6713936"/>
              <a:ext cx="12189000" cy="27300"/>
            </a:xfrm>
            <a:prstGeom prst="rect">
              <a:avLst/>
            </a:prstGeom>
            <a:solidFill>
              <a:srgbClr val="00B0F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rgbClr val="FFFFFF"/>
                </a:solidFill>
                <a:latin typeface="Calibri"/>
                <a:ea typeface="Calibri"/>
                <a:cs typeface="Calibri"/>
                <a:sym typeface="Calibri"/>
              </a:endParaRPr>
            </a:p>
          </p:txBody>
        </p:sp>
      </p:grpSp>
      <p:sp>
        <p:nvSpPr>
          <p:cNvPr id="26" name="Google Shape;26;p3"/>
          <p:cNvSpPr txBox="1"/>
          <p:nvPr/>
        </p:nvSpPr>
        <p:spPr>
          <a:xfrm>
            <a:off x="299076" y="5015004"/>
            <a:ext cx="8751300" cy="223200"/>
          </a:xfrm>
          <a:prstGeom prst="rect">
            <a:avLst/>
          </a:prstGeom>
          <a:noFill/>
          <a:ln cap="flat" cmpd="sng" w="9525">
            <a:solidFill>
              <a:srgbClr val="E9F0F5"/>
            </a:solidFill>
            <a:prstDash val="solid"/>
            <a:round/>
            <a:headEnd len="sm" w="sm" type="none"/>
            <a:tailEnd len="sm" w="sm" type="none"/>
          </a:ln>
        </p:spPr>
        <p:txBody>
          <a:bodyPr anchorCtr="1" anchor="ctr" bIns="34275" lIns="68575" spcFirstLastPara="1" rIns="68575" wrap="square" tIns="34275">
            <a:spAutoFit/>
          </a:bodyPr>
          <a:lstStyle/>
          <a:p>
            <a:pPr indent="0" lvl="0" marL="0" rtl="0" algn="ctr">
              <a:spcBef>
                <a:spcPts val="0"/>
              </a:spcBef>
              <a:spcAft>
                <a:spcPts val="0"/>
              </a:spcAft>
              <a:buClr>
                <a:schemeClr val="dk1"/>
              </a:buClr>
              <a:buSzPts val="500"/>
              <a:buFont typeface="Arial"/>
              <a:buNone/>
            </a:pPr>
            <a:r>
              <a:rPr lang="en-US" sz="500">
                <a:solidFill>
                  <a:schemeClr val="lt1"/>
                </a:solidFill>
                <a:latin typeface="Calibri"/>
                <a:ea typeface="Calibri"/>
                <a:cs typeface="Calibri"/>
                <a:sym typeface="Calibri"/>
              </a:rPr>
              <a:t>Inventory Management 26A - Confidential</a:t>
            </a:r>
            <a:endParaRPr sz="500">
              <a:solidFill>
                <a:schemeClr val="lt1"/>
              </a:solidFill>
              <a:latin typeface="Calibri"/>
              <a:ea typeface="Calibri"/>
              <a:cs typeface="Calibri"/>
              <a:sym typeface="Calibri"/>
            </a:endParaRPr>
          </a:p>
          <a:p>
            <a:pPr indent="0" lvl="0" marL="0" marR="0" rtl="0" algn="ctr">
              <a:lnSpc>
                <a:spcPct val="100000"/>
              </a:lnSpc>
              <a:spcBef>
                <a:spcPts val="0"/>
              </a:spcBef>
              <a:spcAft>
                <a:spcPts val="0"/>
              </a:spcAft>
              <a:buClr>
                <a:schemeClr val="dk1"/>
              </a:buClr>
              <a:buSzPts val="500"/>
              <a:buFont typeface="Arial"/>
              <a:buNone/>
            </a:pPr>
            <a:r>
              <a:t/>
            </a:r>
            <a:endParaRPr sz="500">
              <a:solidFill>
                <a:schemeClr val="lt1"/>
              </a:solidFill>
              <a:latin typeface="Calibri"/>
              <a:ea typeface="Calibri"/>
              <a:cs typeface="Calibri"/>
              <a:sym typeface="Calibri"/>
            </a:endParaRPr>
          </a:p>
        </p:txBody>
      </p:sp>
      <p:sp>
        <p:nvSpPr>
          <p:cNvPr id="27" name="Google Shape;27;p3"/>
          <p:cNvSpPr/>
          <p:nvPr/>
        </p:nvSpPr>
        <p:spPr>
          <a:xfrm>
            <a:off x="-94" y="-20538"/>
            <a:ext cx="9144000" cy="112200"/>
          </a:xfrm>
          <a:prstGeom prst="rect">
            <a:avLst/>
          </a:prstGeom>
          <a:solidFill>
            <a:srgbClr val="0070C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rgbClr val="FFFFFF"/>
              </a:solidFill>
              <a:latin typeface="Calibri"/>
              <a:ea typeface="Calibri"/>
              <a:cs typeface="Calibri"/>
              <a:sym typeface="Calibri"/>
            </a:endParaRPr>
          </a:p>
        </p:txBody>
      </p:sp>
      <p:sp>
        <p:nvSpPr>
          <p:cNvPr id="28" name="Google Shape;28;p3"/>
          <p:cNvSpPr/>
          <p:nvPr/>
        </p:nvSpPr>
        <p:spPr>
          <a:xfrm>
            <a:off x="961" y="87474"/>
            <a:ext cx="9144000" cy="20400"/>
          </a:xfrm>
          <a:prstGeom prst="rect">
            <a:avLst/>
          </a:prstGeom>
          <a:solidFill>
            <a:srgbClr val="00B0F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rgbClr val="FFFFFF"/>
              </a:solidFill>
              <a:latin typeface="Calibri"/>
              <a:ea typeface="Calibri"/>
              <a:cs typeface="Calibri"/>
              <a:sym typeface="Calibri"/>
            </a:endParaRPr>
          </a:p>
        </p:txBody>
      </p:sp>
      <p:pic>
        <p:nvPicPr>
          <p:cNvPr id="29" name="Google Shape;29;p3"/>
          <p:cNvPicPr preferRelativeResize="0"/>
          <p:nvPr/>
        </p:nvPicPr>
        <p:blipFill rotWithShape="1">
          <a:blip r:embed="rId2">
            <a:alphaModFix/>
          </a:blip>
          <a:srcRect b="0" l="0" r="0" t="0"/>
          <a:stretch/>
        </p:blipFill>
        <p:spPr>
          <a:xfrm>
            <a:off x="7554525" y="177099"/>
            <a:ext cx="1493900" cy="334175"/>
          </a:xfrm>
          <a:prstGeom prst="rect">
            <a:avLst/>
          </a:prstGeom>
          <a:noFill/>
          <a:ln>
            <a:noFill/>
          </a:ln>
        </p:spPr>
      </p:pic>
      <p:sp>
        <p:nvSpPr>
          <p:cNvPr id="30" name="Google Shape;30;p3"/>
          <p:cNvSpPr txBox="1"/>
          <p:nvPr/>
        </p:nvSpPr>
        <p:spPr>
          <a:xfrm>
            <a:off x="8299223" y="5002825"/>
            <a:ext cx="702300" cy="17160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000000"/>
              </a:buClr>
              <a:buSzPts val="500"/>
              <a:buFont typeface="Arial"/>
              <a:buNone/>
            </a:pPr>
            <a:fld id="{00000000-1234-1234-1234-123412341234}" type="slidenum">
              <a:rPr b="0" i="0" lang="en-US" sz="500" u="none" cap="none" strike="noStrike">
                <a:solidFill>
                  <a:srgbClr val="FFFFFF"/>
                </a:solidFill>
                <a:latin typeface="Calibri"/>
                <a:ea typeface="Calibri"/>
                <a:cs typeface="Calibri"/>
                <a:sym typeface="Calibri"/>
              </a:rPr>
              <a:t>‹#›</a:t>
            </a:fld>
            <a:endParaRPr b="0" i="0" sz="500" u="none" cap="none" strike="noStrike">
              <a:solidFill>
                <a:srgbClr val="FFFFFF"/>
              </a:solidFill>
              <a:latin typeface="Calibri"/>
              <a:ea typeface="Calibri"/>
              <a:cs typeface="Calibri"/>
              <a:sym typeface="Calibri"/>
            </a:endParaRPr>
          </a:p>
        </p:txBody>
      </p:sp>
      <p:pic>
        <p:nvPicPr>
          <p:cNvPr id="31" name="Google Shape;31;p3"/>
          <p:cNvPicPr preferRelativeResize="0"/>
          <p:nvPr/>
        </p:nvPicPr>
        <p:blipFill rotWithShape="1">
          <a:blip r:embed="rId3">
            <a:alphaModFix/>
          </a:blip>
          <a:srcRect b="0" l="0" r="0" t="0"/>
          <a:stretch/>
        </p:blipFill>
        <p:spPr>
          <a:xfrm>
            <a:off x="4248956" y="4680824"/>
            <a:ext cx="646087" cy="33417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2" name="Shape 32"/>
        <p:cNvGrpSpPr/>
        <p:nvPr/>
      </p:nvGrpSpPr>
      <p:grpSpPr>
        <a:xfrm>
          <a:off x="0" y="0"/>
          <a:ext cx="0" cy="0"/>
          <a:chOff x="0" y="0"/>
          <a:chExt cx="0" cy="0"/>
        </a:xfrm>
      </p:grpSpPr>
      <p:sp>
        <p:nvSpPr>
          <p:cNvPr id="33" name="Google Shape;33;p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34" name="Google Shape;34;p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35" name="Google Shape;35;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6" name="Shape 36"/>
        <p:cNvGrpSpPr/>
        <p:nvPr/>
      </p:nvGrpSpPr>
      <p:grpSpPr>
        <a:xfrm>
          <a:off x="0" y="0"/>
          <a:ext cx="0" cy="0"/>
          <a:chOff x="0" y="0"/>
          <a:chExt cx="0" cy="0"/>
        </a:xfrm>
      </p:grpSpPr>
      <p:sp>
        <p:nvSpPr>
          <p:cNvPr id="37" name="Google Shape;37;p5"/>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38" name="Google Shape;38;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9" name="Shape 39"/>
        <p:cNvGrpSpPr/>
        <p:nvPr/>
      </p:nvGrpSpPr>
      <p:grpSpPr>
        <a:xfrm>
          <a:off x="0" y="0"/>
          <a:ext cx="0" cy="0"/>
          <a:chOff x="0" y="0"/>
          <a:chExt cx="0" cy="0"/>
        </a:xfrm>
      </p:grpSpPr>
      <p:sp>
        <p:nvSpPr>
          <p:cNvPr id="40" name="Google Shape;40;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1" name="Google Shape;41;p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2" name="Google Shape;42;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3" name="Shape 43"/>
        <p:cNvGrpSpPr/>
        <p:nvPr/>
      </p:nvGrpSpPr>
      <p:grpSpPr>
        <a:xfrm>
          <a:off x="0" y="0"/>
          <a:ext cx="0" cy="0"/>
          <a:chOff x="0" y="0"/>
          <a:chExt cx="0" cy="0"/>
        </a:xfrm>
      </p:grpSpPr>
      <p:sp>
        <p:nvSpPr>
          <p:cNvPr id="44" name="Google Shape;44;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5" name="Google Shape;45;p7"/>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6" name="Google Shape;46;p7"/>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7" name="Google Shape;47;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8" name="Shape 48"/>
        <p:cNvGrpSpPr/>
        <p:nvPr/>
      </p:nvGrpSpPr>
      <p:grpSpPr>
        <a:xfrm>
          <a:off x="0" y="0"/>
          <a:ext cx="0" cy="0"/>
          <a:chOff x="0" y="0"/>
          <a:chExt cx="0" cy="0"/>
        </a:xfrm>
      </p:grpSpPr>
      <p:sp>
        <p:nvSpPr>
          <p:cNvPr id="49" name="Google Shape;49;p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0" name="Google Shape;50;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1" name="Shape 51"/>
        <p:cNvGrpSpPr/>
        <p:nvPr/>
      </p:nvGrpSpPr>
      <p:grpSpPr>
        <a:xfrm>
          <a:off x="0" y="0"/>
          <a:ext cx="0" cy="0"/>
          <a:chOff x="0" y="0"/>
          <a:chExt cx="0" cy="0"/>
        </a:xfrm>
      </p:grpSpPr>
      <p:sp>
        <p:nvSpPr>
          <p:cNvPr id="52" name="Google Shape;52;p9"/>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53" name="Google Shape;53;p9"/>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54" name="Google Shape;54;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5" name="Shape 55"/>
        <p:cNvGrpSpPr/>
        <p:nvPr/>
      </p:nvGrpSpPr>
      <p:grpSpPr>
        <a:xfrm>
          <a:off x="0" y="0"/>
          <a:ext cx="0" cy="0"/>
          <a:chOff x="0" y="0"/>
          <a:chExt cx="0" cy="0"/>
        </a:xfrm>
      </p:grpSpPr>
      <p:sp>
        <p:nvSpPr>
          <p:cNvPr id="56" name="Google Shape;56;p10"/>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57" name="Google Shape;57;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8" name="Shape 58"/>
        <p:cNvGrpSpPr/>
        <p:nvPr/>
      </p:nvGrpSpPr>
      <p:grpSpPr>
        <a:xfrm>
          <a:off x="0" y="0"/>
          <a:ext cx="0" cy="0"/>
          <a:chOff x="0" y="0"/>
          <a:chExt cx="0" cy="0"/>
        </a:xfrm>
      </p:grpSpPr>
      <p:sp>
        <p:nvSpPr>
          <p:cNvPr id="59" name="Google Shape;59;p1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p11"/>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61" name="Google Shape;61;p11"/>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2" name="Google Shape;62;p11"/>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63" name="Google Shape;63;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64" name="Shape 64"/>
        <p:cNvGrpSpPr/>
        <p:nvPr/>
      </p:nvGrpSpPr>
      <p:grpSpPr>
        <a:xfrm>
          <a:off x="0" y="0"/>
          <a:ext cx="0" cy="0"/>
          <a:chOff x="0" y="0"/>
          <a:chExt cx="0" cy="0"/>
        </a:xfrm>
      </p:grpSpPr>
      <p:sp>
        <p:nvSpPr>
          <p:cNvPr id="65" name="Google Shape;65;p12"/>
          <p:cNvSpPr txBox="1"/>
          <p:nvPr>
            <p:ph idx="12" type="sldNum"/>
          </p:nvPr>
        </p:nvSpPr>
        <p:spPr>
          <a:xfrm>
            <a:off x="8299223" y="5009628"/>
            <a:ext cx="702300" cy="1716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500"/>
              <a:buFont typeface="Arial"/>
              <a:buNone/>
              <a:defRPr b="0" i="0" sz="5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500"/>
              <a:buFont typeface="Arial"/>
              <a:buNone/>
              <a:defRPr b="0" i="0" sz="5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500"/>
              <a:buFont typeface="Arial"/>
              <a:buNone/>
              <a:defRPr b="0" i="0" sz="5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500"/>
              <a:buFont typeface="Arial"/>
              <a:buNone/>
              <a:defRPr b="0" i="0" sz="5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500"/>
              <a:buFont typeface="Arial"/>
              <a:buNone/>
              <a:defRPr b="0" i="0" sz="5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500"/>
              <a:buFont typeface="Arial"/>
              <a:buNone/>
              <a:defRPr b="0" i="0" sz="5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500"/>
              <a:buFont typeface="Arial"/>
              <a:buNone/>
              <a:defRPr b="0" i="0" sz="5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500"/>
              <a:buFont typeface="Arial"/>
              <a:buNone/>
              <a:defRPr b="0" i="0" sz="5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500"/>
              <a:buFont typeface="Arial"/>
              <a:buNone/>
              <a:defRPr b="0" i="0" sz="5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66" name="Google Shape;66;p12"/>
          <p:cNvSpPr txBox="1"/>
          <p:nvPr>
            <p:ph idx="1" type="body"/>
          </p:nvPr>
        </p:nvSpPr>
        <p:spPr>
          <a:xfrm>
            <a:off x="277400" y="552400"/>
            <a:ext cx="8751300" cy="3735900"/>
          </a:xfrm>
          <a:prstGeom prst="rect">
            <a:avLst/>
          </a:prstGeom>
          <a:noFill/>
          <a:ln>
            <a:noFill/>
          </a:ln>
        </p:spPr>
        <p:txBody>
          <a:bodyPr anchorCtr="0" anchor="t" bIns="34275" lIns="68575" spcFirstLastPara="1" rIns="68575" wrap="square" tIns="34275">
            <a:normAutofit/>
          </a:bodyPr>
          <a:lstStyle>
            <a:lvl1pPr indent="-298450" lvl="0" marL="457200" algn="l">
              <a:lnSpc>
                <a:spcPct val="100000"/>
              </a:lnSpc>
              <a:spcBef>
                <a:spcPts val="0"/>
              </a:spcBef>
              <a:spcAft>
                <a:spcPts val="0"/>
              </a:spcAft>
              <a:buSzPts val="1100"/>
              <a:buChar char="▪"/>
              <a:defRPr/>
            </a:lvl1pPr>
            <a:lvl2pPr indent="-304800" lvl="1" marL="914400" algn="l">
              <a:lnSpc>
                <a:spcPct val="100000"/>
              </a:lnSpc>
              <a:spcBef>
                <a:spcPts val="0"/>
              </a:spcBef>
              <a:spcAft>
                <a:spcPts val="0"/>
              </a:spcAft>
              <a:buSzPts val="1200"/>
              <a:buChar char="⮚"/>
              <a:defRPr sz="1200"/>
            </a:lvl2pPr>
            <a:lvl3pPr indent="-279400" lvl="2" marL="1371600" algn="l">
              <a:lnSpc>
                <a:spcPct val="100000"/>
              </a:lnSpc>
              <a:spcBef>
                <a:spcPts val="0"/>
              </a:spcBef>
              <a:spcAft>
                <a:spcPts val="0"/>
              </a:spcAft>
              <a:buSzPts val="800"/>
              <a:buChar char="❖"/>
              <a:defRPr sz="1100"/>
            </a:lvl3pPr>
            <a:lvl4pPr indent="-317500" lvl="3" marL="1828800" algn="l">
              <a:lnSpc>
                <a:spcPct val="100000"/>
              </a:lnSpc>
              <a:spcBef>
                <a:spcPts val="0"/>
              </a:spcBef>
              <a:spcAft>
                <a:spcPts val="0"/>
              </a:spcAft>
              <a:buSzPts val="1400"/>
              <a:buChar char="o"/>
              <a:defRPr/>
            </a:lvl4pPr>
            <a:lvl5pPr indent="-298450" lvl="4" marL="2286000" algn="l">
              <a:lnSpc>
                <a:spcPct val="100000"/>
              </a:lnSpc>
              <a:spcBef>
                <a:spcPts val="0"/>
              </a:spcBef>
              <a:spcAft>
                <a:spcPts val="0"/>
              </a:spcAft>
              <a:buSzPts val="1100"/>
              <a:buChar char="▪"/>
              <a:defRPr/>
            </a:lvl5pPr>
            <a:lvl6pPr indent="-317500" lvl="5" marL="2743200" algn="l">
              <a:lnSpc>
                <a:spcPct val="90000"/>
              </a:lnSpc>
              <a:spcBef>
                <a:spcPts val="500"/>
              </a:spcBef>
              <a:spcAft>
                <a:spcPts val="0"/>
              </a:spcAft>
              <a:buSzPts val="1400"/>
              <a:buChar char="–"/>
              <a:defRPr/>
            </a:lvl6pPr>
            <a:lvl7pPr indent="-298450" lvl="6" marL="3200400" algn="l">
              <a:lnSpc>
                <a:spcPct val="90000"/>
              </a:lnSpc>
              <a:spcBef>
                <a:spcPts val="500"/>
              </a:spcBef>
              <a:spcAft>
                <a:spcPts val="0"/>
              </a:spcAft>
              <a:buSzPts val="1100"/>
              <a:buChar char="▪"/>
              <a:defRPr/>
            </a:lvl7pPr>
            <a:lvl8pPr indent="-317500" lvl="7" marL="3657600" algn="l">
              <a:lnSpc>
                <a:spcPct val="90000"/>
              </a:lnSpc>
              <a:spcBef>
                <a:spcPts val="500"/>
              </a:spcBef>
              <a:spcAft>
                <a:spcPts val="0"/>
              </a:spcAft>
              <a:buSzPts val="1400"/>
              <a:buChar char="–"/>
              <a:defRPr/>
            </a:lvl8pPr>
            <a:lvl9pPr indent="-298450" lvl="8" marL="4114800" algn="l">
              <a:lnSpc>
                <a:spcPct val="90000"/>
              </a:lnSpc>
              <a:spcBef>
                <a:spcPts val="500"/>
              </a:spcBef>
              <a:spcAft>
                <a:spcPts val="0"/>
              </a:spcAft>
              <a:buSzPts val="1100"/>
              <a:buChar char="▪"/>
              <a:defRPr/>
            </a:lvl9pPr>
          </a:lstStyle>
          <a:p/>
        </p:txBody>
      </p:sp>
      <p:sp>
        <p:nvSpPr>
          <p:cNvPr id="67" name="Google Shape;67;p12"/>
          <p:cNvSpPr txBox="1"/>
          <p:nvPr>
            <p:ph type="title"/>
          </p:nvPr>
        </p:nvSpPr>
        <p:spPr>
          <a:xfrm>
            <a:off x="250393" y="187170"/>
            <a:ext cx="8805300" cy="3324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rgbClr val="002060"/>
              </a:buClr>
              <a:buSzPts val="1800"/>
              <a:buFont typeface="Calibri"/>
              <a:buNone/>
              <a:defRPr b="1" sz="18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8" name="Google Shape;68;p12"/>
          <p:cNvSpPr txBox="1"/>
          <p:nvPr/>
        </p:nvSpPr>
        <p:spPr>
          <a:xfrm>
            <a:off x="304417" y="5015004"/>
            <a:ext cx="8751300" cy="146100"/>
          </a:xfrm>
          <a:prstGeom prst="rect">
            <a:avLst/>
          </a:prstGeom>
          <a:noFill/>
          <a:ln cap="flat" cmpd="sng" w="9525">
            <a:solidFill>
              <a:srgbClr val="E9F0F5"/>
            </a:solidFill>
            <a:prstDash val="solid"/>
            <a:round/>
            <a:headEnd len="sm" w="sm" type="none"/>
            <a:tailEnd len="sm" w="sm" type="none"/>
          </a:ln>
        </p:spPr>
        <p:txBody>
          <a:bodyPr anchorCtr="1" anchor="ctr" bIns="34275" lIns="68575" spcFirstLastPara="1" rIns="68575" wrap="square" tIns="34275">
            <a:spAutoFit/>
          </a:bodyPr>
          <a:lstStyle/>
          <a:p>
            <a:pPr indent="0" lvl="0" marL="0" marR="0" rtl="0" algn="l">
              <a:lnSpc>
                <a:spcPct val="100000"/>
              </a:lnSpc>
              <a:spcBef>
                <a:spcPts val="0"/>
              </a:spcBef>
              <a:spcAft>
                <a:spcPts val="0"/>
              </a:spcAft>
              <a:buClr>
                <a:srgbClr val="000000"/>
              </a:buClr>
              <a:buSzPts val="500"/>
              <a:buFont typeface="Arial"/>
              <a:buNone/>
            </a:pPr>
            <a:r>
              <a:rPr b="0" i="0" lang="en-US" sz="500" u="none" cap="none" strike="noStrike">
                <a:solidFill>
                  <a:schemeClr val="lt1"/>
                </a:solidFill>
                <a:latin typeface="Calibri"/>
                <a:ea typeface="Calibri"/>
                <a:cs typeface="Calibri"/>
                <a:sym typeface="Calibri"/>
              </a:rPr>
              <a:t>TID: Kick-Off SCM Oracle Cloud Stabilization - Confidential</a:t>
            </a:r>
            <a:endParaRPr b="0" i="0" sz="500" u="none" cap="none" strike="noStrike">
              <a:solidFill>
                <a:schemeClr val="lt1"/>
              </a:solidFill>
              <a:latin typeface="Calibri"/>
              <a:ea typeface="Calibri"/>
              <a:cs typeface="Calibri"/>
              <a:sym typeface="Calibri"/>
            </a:endParaRPr>
          </a:p>
        </p:txBody>
      </p:sp>
      <p:pic>
        <p:nvPicPr>
          <p:cNvPr id="69" name="Google Shape;69;p12"/>
          <p:cNvPicPr preferRelativeResize="0"/>
          <p:nvPr/>
        </p:nvPicPr>
        <p:blipFill rotWithShape="1">
          <a:blip r:embed="rId2">
            <a:alphaModFix/>
          </a:blip>
          <a:srcRect b="0" l="0" r="0" t="0"/>
          <a:stretch/>
        </p:blipFill>
        <p:spPr>
          <a:xfrm>
            <a:off x="7554525" y="177099"/>
            <a:ext cx="1493900" cy="334175"/>
          </a:xfrm>
          <a:prstGeom prst="rect">
            <a:avLst/>
          </a:prstGeom>
          <a:noFill/>
          <a:ln>
            <a:noFill/>
          </a:ln>
        </p:spPr>
      </p:pic>
      <p:pic>
        <p:nvPicPr>
          <p:cNvPr id="70" name="Google Shape;70;p12"/>
          <p:cNvPicPr preferRelativeResize="0"/>
          <p:nvPr/>
        </p:nvPicPr>
        <p:blipFill rotWithShape="1">
          <a:blip r:embed="rId3">
            <a:alphaModFix/>
          </a:blip>
          <a:srcRect b="0" l="0" r="0" t="0"/>
          <a:stretch/>
        </p:blipFill>
        <p:spPr>
          <a:xfrm>
            <a:off x="4248956" y="4680824"/>
            <a:ext cx="646087" cy="3341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75" name="Shape 75"/>
        <p:cNvGrpSpPr/>
        <p:nvPr/>
      </p:nvGrpSpPr>
      <p:grpSpPr>
        <a:xfrm>
          <a:off x="0" y="0"/>
          <a:ext cx="0" cy="0"/>
          <a:chOff x="0" y="0"/>
          <a:chExt cx="0" cy="0"/>
        </a:xfrm>
      </p:grpSpPr>
      <p:grpSp>
        <p:nvGrpSpPr>
          <p:cNvPr id="76" name="Google Shape;76;p14"/>
          <p:cNvGrpSpPr/>
          <p:nvPr/>
        </p:nvGrpSpPr>
        <p:grpSpPr>
          <a:xfrm>
            <a:off x="-18650" y="5035453"/>
            <a:ext cx="9161067" cy="112275"/>
            <a:chOff x="-24862" y="6713936"/>
            <a:chExt cx="12211500" cy="149700"/>
          </a:xfrm>
        </p:grpSpPr>
        <p:sp>
          <p:nvSpPr>
            <p:cNvPr id="77" name="Google Shape;77;p14"/>
            <p:cNvSpPr/>
            <p:nvPr/>
          </p:nvSpPr>
          <p:spPr>
            <a:xfrm>
              <a:off x="-24862" y="6713936"/>
              <a:ext cx="12211500" cy="149700"/>
            </a:xfrm>
            <a:prstGeom prst="rect">
              <a:avLst/>
            </a:prstGeom>
            <a:solidFill>
              <a:srgbClr val="0070C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rgbClr val="FFFFFF"/>
                </a:solidFill>
                <a:latin typeface="Calibri"/>
                <a:ea typeface="Calibri"/>
                <a:cs typeface="Calibri"/>
                <a:sym typeface="Calibri"/>
              </a:endParaRPr>
            </a:p>
          </p:txBody>
        </p:sp>
        <p:sp>
          <p:nvSpPr>
            <p:cNvPr id="78" name="Google Shape;78;p14"/>
            <p:cNvSpPr/>
            <p:nvPr/>
          </p:nvSpPr>
          <p:spPr>
            <a:xfrm>
              <a:off x="-24862" y="6713936"/>
              <a:ext cx="12189000" cy="27300"/>
            </a:xfrm>
            <a:prstGeom prst="rect">
              <a:avLst/>
            </a:prstGeom>
            <a:solidFill>
              <a:srgbClr val="00B0F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rgbClr val="FFFFFF"/>
                </a:solidFill>
                <a:latin typeface="Calibri"/>
                <a:ea typeface="Calibri"/>
                <a:cs typeface="Calibri"/>
                <a:sym typeface="Calibri"/>
              </a:endParaRPr>
            </a:p>
          </p:txBody>
        </p:sp>
      </p:grpSp>
      <p:sp>
        <p:nvSpPr>
          <p:cNvPr id="79" name="Google Shape;79;p14"/>
          <p:cNvSpPr txBox="1"/>
          <p:nvPr/>
        </p:nvSpPr>
        <p:spPr>
          <a:xfrm>
            <a:off x="299076" y="5014972"/>
            <a:ext cx="8751300" cy="146164"/>
          </a:xfrm>
          <a:prstGeom prst="rect">
            <a:avLst/>
          </a:prstGeom>
          <a:noFill/>
          <a:ln cap="flat" cmpd="sng" w="9525">
            <a:solidFill>
              <a:srgbClr val="E9F0F5"/>
            </a:solidFill>
            <a:prstDash val="solid"/>
            <a:round/>
            <a:headEnd len="sm" w="sm" type="none"/>
            <a:tailEnd len="sm" w="sm" type="none"/>
          </a:ln>
        </p:spPr>
        <p:txBody>
          <a:bodyPr anchorCtr="1" anchor="ctr" bIns="34275" lIns="68575" spcFirstLastPara="1" rIns="68575" wrap="square" tIns="34275">
            <a:spAutoFit/>
          </a:bodyPr>
          <a:lstStyle/>
          <a:p>
            <a:pPr indent="0" lvl="0" marL="0" marR="0" rtl="0" algn="ctr">
              <a:lnSpc>
                <a:spcPct val="100000"/>
              </a:lnSpc>
              <a:spcBef>
                <a:spcPts val="0"/>
              </a:spcBef>
              <a:spcAft>
                <a:spcPts val="0"/>
              </a:spcAft>
              <a:buClr>
                <a:schemeClr val="dk1"/>
              </a:buClr>
              <a:buSzPts val="500"/>
              <a:buFont typeface="Arial"/>
              <a:buNone/>
            </a:pPr>
            <a:r>
              <a:rPr lang="en-US" sz="500">
                <a:solidFill>
                  <a:srgbClr val="FFFFFF"/>
                </a:solidFill>
                <a:latin typeface="Calibri"/>
                <a:ea typeface="Calibri"/>
                <a:cs typeface="Calibri"/>
                <a:sym typeface="Calibri"/>
              </a:rPr>
              <a:t>Inventory Management 26A - Confidential</a:t>
            </a:r>
            <a:endParaRPr b="0" i="0" sz="500" u="none" cap="none" strike="noStrike">
              <a:solidFill>
                <a:srgbClr val="FFFFFF"/>
              </a:solidFill>
              <a:latin typeface="Calibri"/>
              <a:ea typeface="Calibri"/>
              <a:cs typeface="Calibri"/>
              <a:sym typeface="Calibri"/>
            </a:endParaRPr>
          </a:p>
        </p:txBody>
      </p:sp>
      <p:sp>
        <p:nvSpPr>
          <p:cNvPr id="80" name="Google Shape;80;p14"/>
          <p:cNvSpPr/>
          <p:nvPr/>
        </p:nvSpPr>
        <p:spPr>
          <a:xfrm>
            <a:off x="-94" y="-20538"/>
            <a:ext cx="9144000" cy="112200"/>
          </a:xfrm>
          <a:prstGeom prst="rect">
            <a:avLst/>
          </a:prstGeom>
          <a:solidFill>
            <a:srgbClr val="0070C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rgbClr val="FFFFFF"/>
              </a:solidFill>
              <a:latin typeface="Calibri"/>
              <a:ea typeface="Calibri"/>
              <a:cs typeface="Calibri"/>
              <a:sym typeface="Calibri"/>
            </a:endParaRPr>
          </a:p>
        </p:txBody>
      </p:sp>
      <p:sp>
        <p:nvSpPr>
          <p:cNvPr id="81" name="Google Shape;81;p14"/>
          <p:cNvSpPr/>
          <p:nvPr/>
        </p:nvSpPr>
        <p:spPr>
          <a:xfrm>
            <a:off x="961" y="87474"/>
            <a:ext cx="9144000" cy="20400"/>
          </a:xfrm>
          <a:prstGeom prst="rect">
            <a:avLst/>
          </a:prstGeom>
          <a:solidFill>
            <a:srgbClr val="00B0F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rgbClr val="FFFFFF"/>
              </a:solidFill>
              <a:latin typeface="Calibri"/>
              <a:ea typeface="Calibri"/>
              <a:cs typeface="Calibri"/>
              <a:sym typeface="Calibri"/>
            </a:endParaRPr>
          </a:p>
        </p:txBody>
      </p:sp>
      <p:pic>
        <p:nvPicPr>
          <p:cNvPr id="82" name="Google Shape;82;p14"/>
          <p:cNvPicPr preferRelativeResize="0"/>
          <p:nvPr/>
        </p:nvPicPr>
        <p:blipFill rotWithShape="1">
          <a:blip r:embed="rId2">
            <a:alphaModFix/>
          </a:blip>
          <a:srcRect b="0" l="0" r="0" t="0"/>
          <a:stretch/>
        </p:blipFill>
        <p:spPr>
          <a:xfrm>
            <a:off x="7554526" y="177100"/>
            <a:ext cx="1493900" cy="334175"/>
          </a:xfrm>
          <a:prstGeom prst="rect">
            <a:avLst/>
          </a:prstGeom>
          <a:noFill/>
          <a:ln>
            <a:noFill/>
          </a:ln>
        </p:spPr>
      </p:pic>
      <p:sp>
        <p:nvSpPr>
          <p:cNvPr id="83" name="Google Shape;83;p14"/>
          <p:cNvSpPr txBox="1"/>
          <p:nvPr/>
        </p:nvSpPr>
        <p:spPr>
          <a:xfrm>
            <a:off x="8299223" y="5002825"/>
            <a:ext cx="702300" cy="17160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000000"/>
              </a:buClr>
              <a:buSzPts val="500"/>
              <a:buFont typeface="Arial"/>
              <a:buNone/>
            </a:pPr>
            <a:fld id="{00000000-1234-1234-1234-123412341234}" type="slidenum">
              <a:rPr b="0" i="0" lang="en-US" sz="500" u="none" cap="none" strike="noStrike">
                <a:solidFill>
                  <a:srgbClr val="FFFFFF"/>
                </a:solidFill>
                <a:latin typeface="Calibri"/>
                <a:ea typeface="Calibri"/>
                <a:cs typeface="Calibri"/>
                <a:sym typeface="Calibri"/>
              </a:rPr>
              <a:t>‹#›</a:t>
            </a:fld>
            <a:endParaRPr b="0" i="0" sz="500" u="none" cap="none" strike="noStrike">
              <a:solidFill>
                <a:srgbClr val="FFFFFF"/>
              </a:solidFill>
              <a:latin typeface="Calibri"/>
              <a:ea typeface="Calibri"/>
              <a:cs typeface="Calibri"/>
              <a:sym typeface="Calibri"/>
            </a:endParaRPr>
          </a:p>
        </p:txBody>
      </p:sp>
      <p:pic>
        <p:nvPicPr>
          <p:cNvPr id="84" name="Google Shape;84;p14"/>
          <p:cNvPicPr preferRelativeResize="0"/>
          <p:nvPr/>
        </p:nvPicPr>
        <p:blipFill rotWithShape="1">
          <a:blip r:embed="rId3">
            <a:alphaModFix/>
          </a:blip>
          <a:srcRect b="0" l="0" r="0" t="0"/>
          <a:stretch/>
        </p:blipFill>
        <p:spPr>
          <a:xfrm>
            <a:off x="4248957" y="4680825"/>
            <a:ext cx="646087" cy="334175"/>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85" name="Shape 85"/>
        <p:cNvGrpSpPr/>
        <p:nvPr/>
      </p:nvGrpSpPr>
      <p:grpSpPr>
        <a:xfrm>
          <a:off x="0" y="0"/>
          <a:ext cx="0" cy="0"/>
          <a:chOff x="0" y="0"/>
          <a:chExt cx="0" cy="0"/>
        </a:xfrm>
      </p:grpSpPr>
      <p:sp>
        <p:nvSpPr>
          <p:cNvPr id="86" name="Google Shape;86;p15"/>
          <p:cNvSpPr txBox="1"/>
          <p:nvPr>
            <p:ph idx="1" type="body"/>
          </p:nvPr>
        </p:nvSpPr>
        <p:spPr>
          <a:xfrm>
            <a:off x="57125" y="1356400"/>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grpSp>
        <p:nvGrpSpPr>
          <p:cNvPr id="87" name="Google Shape;87;p15"/>
          <p:cNvGrpSpPr/>
          <p:nvPr/>
        </p:nvGrpSpPr>
        <p:grpSpPr>
          <a:xfrm>
            <a:off x="-18650" y="5035453"/>
            <a:ext cx="9161067" cy="112275"/>
            <a:chOff x="-24862" y="6713936"/>
            <a:chExt cx="12211500" cy="149700"/>
          </a:xfrm>
        </p:grpSpPr>
        <p:sp>
          <p:nvSpPr>
            <p:cNvPr id="88" name="Google Shape;88;p15"/>
            <p:cNvSpPr/>
            <p:nvPr/>
          </p:nvSpPr>
          <p:spPr>
            <a:xfrm>
              <a:off x="-24862" y="6713936"/>
              <a:ext cx="12211500" cy="149700"/>
            </a:xfrm>
            <a:prstGeom prst="rect">
              <a:avLst/>
            </a:prstGeom>
            <a:solidFill>
              <a:srgbClr val="0070C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rgbClr val="FFFFFF"/>
                </a:solidFill>
                <a:latin typeface="Calibri"/>
                <a:ea typeface="Calibri"/>
                <a:cs typeface="Calibri"/>
                <a:sym typeface="Calibri"/>
              </a:endParaRPr>
            </a:p>
          </p:txBody>
        </p:sp>
        <p:sp>
          <p:nvSpPr>
            <p:cNvPr id="89" name="Google Shape;89;p15"/>
            <p:cNvSpPr/>
            <p:nvPr/>
          </p:nvSpPr>
          <p:spPr>
            <a:xfrm>
              <a:off x="-24862" y="6713936"/>
              <a:ext cx="12189000" cy="27300"/>
            </a:xfrm>
            <a:prstGeom prst="rect">
              <a:avLst/>
            </a:prstGeom>
            <a:solidFill>
              <a:srgbClr val="00B0F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rgbClr val="FFFFFF"/>
                </a:solidFill>
                <a:latin typeface="Calibri"/>
                <a:ea typeface="Calibri"/>
                <a:cs typeface="Calibri"/>
                <a:sym typeface="Calibri"/>
              </a:endParaRPr>
            </a:p>
          </p:txBody>
        </p:sp>
      </p:grpSp>
      <p:sp>
        <p:nvSpPr>
          <p:cNvPr id="90" name="Google Shape;90;p15"/>
          <p:cNvSpPr/>
          <p:nvPr/>
        </p:nvSpPr>
        <p:spPr>
          <a:xfrm>
            <a:off x="-1678" y="1216382"/>
            <a:ext cx="9144000" cy="885600"/>
          </a:xfrm>
          <a:prstGeom prst="rect">
            <a:avLst/>
          </a:prstGeom>
          <a:solidFill>
            <a:srgbClr val="0070C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rgbClr val="FFFFFF"/>
              </a:solidFill>
              <a:latin typeface="Calibri"/>
              <a:ea typeface="Calibri"/>
              <a:cs typeface="Calibri"/>
              <a:sym typeface="Calibri"/>
            </a:endParaRPr>
          </a:p>
        </p:txBody>
      </p:sp>
      <p:sp>
        <p:nvSpPr>
          <p:cNvPr id="91" name="Google Shape;91;p15"/>
          <p:cNvSpPr txBox="1"/>
          <p:nvPr/>
        </p:nvSpPr>
        <p:spPr>
          <a:xfrm>
            <a:off x="0" y="1215847"/>
            <a:ext cx="9253200" cy="886200"/>
          </a:xfrm>
          <a:prstGeom prst="rect">
            <a:avLst/>
          </a:prstGeom>
          <a:noFill/>
          <a:ln>
            <a:noFill/>
          </a:ln>
        </p:spPr>
        <p:txBody>
          <a:bodyPr anchorCtr="0" anchor="ctr" bIns="34275" lIns="68575" spcFirstLastPara="1" rIns="68575" wrap="square" tIns="34275">
            <a:normAutofit/>
          </a:bodyPr>
          <a:lstStyle/>
          <a:p>
            <a:pPr indent="0" lvl="0" marL="0" marR="0" rtl="0" algn="l">
              <a:lnSpc>
                <a:spcPct val="80000"/>
              </a:lnSpc>
              <a:spcBef>
                <a:spcPts val="0"/>
              </a:spcBef>
              <a:spcAft>
                <a:spcPts val="0"/>
              </a:spcAft>
              <a:buClr>
                <a:srgbClr val="000000"/>
              </a:buClr>
              <a:buSzPts val="2000"/>
              <a:buFont typeface="Arial"/>
              <a:buNone/>
            </a:pPr>
            <a:r>
              <a:t/>
            </a:r>
            <a:endParaRPr b="1" i="0" sz="2000" u="none" cap="none" strike="noStrike">
              <a:solidFill>
                <a:srgbClr val="FFFFFF"/>
              </a:solidFill>
              <a:latin typeface="Calibri"/>
              <a:ea typeface="Calibri"/>
              <a:cs typeface="Calibri"/>
              <a:sym typeface="Calibri"/>
            </a:endParaRPr>
          </a:p>
        </p:txBody>
      </p:sp>
      <p:sp>
        <p:nvSpPr>
          <p:cNvPr id="92" name="Google Shape;92;p15"/>
          <p:cNvSpPr/>
          <p:nvPr/>
        </p:nvSpPr>
        <p:spPr>
          <a:xfrm>
            <a:off x="-94" y="-20538"/>
            <a:ext cx="9144000" cy="112200"/>
          </a:xfrm>
          <a:prstGeom prst="rect">
            <a:avLst/>
          </a:prstGeom>
          <a:solidFill>
            <a:srgbClr val="0070C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rgbClr val="FFFFFF"/>
              </a:solidFill>
              <a:latin typeface="Calibri"/>
              <a:ea typeface="Calibri"/>
              <a:cs typeface="Calibri"/>
              <a:sym typeface="Calibri"/>
            </a:endParaRPr>
          </a:p>
        </p:txBody>
      </p:sp>
      <p:sp>
        <p:nvSpPr>
          <p:cNvPr id="93" name="Google Shape;93;p15"/>
          <p:cNvSpPr/>
          <p:nvPr/>
        </p:nvSpPr>
        <p:spPr>
          <a:xfrm>
            <a:off x="961" y="87474"/>
            <a:ext cx="9144000" cy="20400"/>
          </a:xfrm>
          <a:prstGeom prst="rect">
            <a:avLst/>
          </a:prstGeom>
          <a:solidFill>
            <a:srgbClr val="00B0F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rgbClr val="FFFFFF"/>
              </a:solidFill>
              <a:latin typeface="Calibri"/>
              <a:ea typeface="Calibri"/>
              <a:cs typeface="Calibri"/>
              <a:sym typeface="Calibri"/>
            </a:endParaRPr>
          </a:p>
        </p:txBody>
      </p:sp>
      <p:pic>
        <p:nvPicPr>
          <p:cNvPr id="94" name="Google Shape;94;p15"/>
          <p:cNvPicPr preferRelativeResize="0"/>
          <p:nvPr/>
        </p:nvPicPr>
        <p:blipFill rotWithShape="1">
          <a:blip r:embed="rId2">
            <a:alphaModFix/>
          </a:blip>
          <a:srcRect b="0" l="0" r="0" t="0"/>
          <a:stretch/>
        </p:blipFill>
        <p:spPr>
          <a:xfrm>
            <a:off x="7554526" y="177100"/>
            <a:ext cx="1493900" cy="334175"/>
          </a:xfrm>
          <a:prstGeom prst="rect">
            <a:avLst/>
          </a:prstGeom>
          <a:noFill/>
          <a:ln>
            <a:noFill/>
          </a:ln>
        </p:spPr>
      </p:pic>
      <p:pic>
        <p:nvPicPr>
          <p:cNvPr id="95" name="Google Shape;95;p15"/>
          <p:cNvPicPr preferRelativeResize="0"/>
          <p:nvPr/>
        </p:nvPicPr>
        <p:blipFill rotWithShape="1">
          <a:blip r:embed="rId3">
            <a:alphaModFix/>
          </a:blip>
          <a:srcRect b="0" l="0" r="0" t="0"/>
          <a:stretch/>
        </p:blipFill>
        <p:spPr>
          <a:xfrm>
            <a:off x="85676" y="177975"/>
            <a:ext cx="642611" cy="332400"/>
          </a:xfrm>
          <a:prstGeom prst="rect">
            <a:avLst/>
          </a:prstGeom>
          <a:noFill/>
          <a:ln>
            <a:noFill/>
          </a:ln>
        </p:spPr>
      </p:pic>
      <p:sp>
        <p:nvSpPr>
          <p:cNvPr id="96" name="Google Shape;96;p15"/>
          <p:cNvSpPr txBox="1"/>
          <p:nvPr/>
        </p:nvSpPr>
        <p:spPr>
          <a:xfrm>
            <a:off x="8299223" y="5002825"/>
            <a:ext cx="702300" cy="17160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000000"/>
              </a:buClr>
              <a:buSzPts val="500"/>
              <a:buFont typeface="Arial"/>
              <a:buNone/>
            </a:pPr>
            <a:fld id="{00000000-1234-1234-1234-123412341234}" type="slidenum">
              <a:rPr b="0" i="0" lang="en-US" sz="500" u="none" cap="none" strike="noStrike">
                <a:solidFill>
                  <a:srgbClr val="FFFFFF"/>
                </a:solidFill>
                <a:latin typeface="Calibri"/>
                <a:ea typeface="Calibri"/>
                <a:cs typeface="Calibri"/>
                <a:sym typeface="Calibri"/>
              </a:rPr>
              <a:t>‹#›</a:t>
            </a:fld>
            <a:endParaRPr b="0" i="0" sz="500" u="none" cap="none" strike="noStrike">
              <a:solidFill>
                <a:srgbClr val="FFFFFF"/>
              </a:solidFill>
              <a:latin typeface="Calibri"/>
              <a:ea typeface="Calibri"/>
              <a:cs typeface="Calibri"/>
              <a:sym typeface="Calibri"/>
            </a:endParaRPr>
          </a:p>
        </p:txBody>
      </p:sp>
      <p:sp>
        <p:nvSpPr>
          <p:cNvPr id="97" name="Google Shape;97;p15"/>
          <p:cNvSpPr txBox="1"/>
          <p:nvPr/>
        </p:nvSpPr>
        <p:spPr>
          <a:xfrm>
            <a:off x="299076" y="5014972"/>
            <a:ext cx="8751300" cy="146164"/>
          </a:xfrm>
          <a:prstGeom prst="rect">
            <a:avLst/>
          </a:prstGeom>
          <a:noFill/>
          <a:ln cap="flat" cmpd="sng" w="9525">
            <a:solidFill>
              <a:srgbClr val="E9F0F5"/>
            </a:solidFill>
            <a:prstDash val="solid"/>
            <a:round/>
            <a:headEnd len="sm" w="sm" type="none"/>
            <a:tailEnd len="sm" w="sm" type="none"/>
          </a:ln>
        </p:spPr>
        <p:txBody>
          <a:bodyPr anchorCtr="1" anchor="ctr" bIns="34275" lIns="68575" spcFirstLastPara="1" rIns="68575" wrap="square" tIns="34275">
            <a:spAutoFit/>
          </a:bodyPr>
          <a:lstStyle/>
          <a:p>
            <a:pPr indent="0" lvl="0" marL="0" marR="0" rtl="0" algn="ctr">
              <a:lnSpc>
                <a:spcPct val="100000"/>
              </a:lnSpc>
              <a:spcBef>
                <a:spcPts val="0"/>
              </a:spcBef>
              <a:spcAft>
                <a:spcPts val="0"/>
              </a:spcAft>
              <a:buClr>
                <a:schemeClr val="dk1"/>
              </a:buClr>
              <a:buSzPts val="500"/>
              <a:buFont typeface="Arial"/>
              <a:buNone/>
            </a:pPr>
            <a:r>
              <a:rPr b="0" i="0" lang="en-US" sz="500" u="none" cap="none" strike="noStrike">
                <a:solidFill>
                  <a:schemeClr val="lt1"/>
                </a:solidFill>
                <a:latin typeface="Calibri"/>
                <a:ea typeface="Calibri"/>
                <a:cs typeface="Calibri"/>
                <a:sym typeface="Calibri"/>
              </a:rPr>
              <a:t>Discovery Workshop#2 : Document Approval (PO) Workflow Redesign - Confidentiall</a:t>
            </a:r>
            <a:endParaRPr b="0" i="0" sz="500" u="none" cap="none" strike="noStrike">
              <a:solidFill>
                <a:srgbClr val="FFFFFF"/>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8" name="Shape 98"/>
        <p:cNvGrpSpPr/>
        <p:nvPr/>
      </p:nvGrpSpPr>
      <p:grpSpPr>
        <a:xfrm>
          <a:off x="0" y="0"/>
          <a:ext cx="0" cy="0"/>
          <a:chOff x="0" y="0"/>
          <a:chExt cx="0" cy="0"/>
        </a:xfrm>
      </p:grpSpPr>
      <p:sp>
        <p:nvSpPr>
          <p:cNvPr id="99" name="Google Shape;99;p16"/>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00" name="Google Shape;100;p16"/>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01" name="Google Shape;101;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2" name="Shape 102"/>
        <p:cNvGrpSpPr/>
        <p:nvPr/>
      </p:nvGrpSpPr>
      <p:grpSpPr>
        <a:xfrm>
          <a:off x="0" y="0"/>
          <a:ext cx="0" cy="0"/>
          <a:chOff x="0" y="0"/>
          <a:chExt cx="0" cy="0"/>
        </a:xfrm>
      </p:grpSpPr>
      <p:sp>
        <p:nvSpPr>
          <p:cNvPr id="103" name="Google Shape;103;p17"/>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04" name="Google Shape;104;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05" name="Shape 105"/>
        <p:cNvGrpSpPr/>
        <p:nvPr/>
      </p:nvGrpSpPr>
      <p:grpSpPr>
        <a:xfrm>
          <a:off x="0" y="0"/>
          <a:ext cx="0" cy="0"/>
          <a:chOff x="0" y="0"/>
          <a:chExt cx="0" cy="0"/>
        </a:xfrm>
      </p:grpSpPr>
      <p:sp>
        <p:nvSpPr>
          <p:cNvPr id="106" name="Google Shape;106;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07" name="Google Shape;107;p1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08" name="Google Shape;108;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09" name="Shape 109"/>
        <p:cNvGrpSpPr/>
        <p:nvPr/>
      </p:nvGrpSpPr>
      <p:grpSpPr>
        <a:xfrm>
          <a:off x="0" y="0"/>
          <a:ext cx="0" cy="0"/>
          <a:chOff x="0" y="0"/>
          <a:chExt cx="0" cy="0"/>
        </a:xfrm>
      </p:grpSpPr>
      <p:sp>
        <p:nvSpPr>
          <p:cNvPr id="110" name="Google Shape;110;p1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1" name="Google Shape;111;p19"/>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12" name="Google Shape;112;p19"/>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13" name="Google Shape;113;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4" name="Shape 114"/>
        <p:cNvGrpSpPr/>
        <p:nvPr/>
      </p:nvGrpSpPr>
      <p:grpSpPr>
        <a:xfrm>
          <a:off x="0" y="0"/>
          <a:ext cx="0" cy="0"/>
          <a:chOff x="0" y="0"/>
          <a:chExt cx="0" cy="0"/>
        </a:xfrm>
      </p:grpSpPr>
      <p:sp>
        <p:nvSpPr>
          <p:cNvPr id="115" name="Google Shape;115;p2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6" name="Google Shape;116;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117" name="Shape 117"/>
        <p:cNvGrpSpPr/>
        <p:nvPr/>
      </p:nvGrpSpPr>
      <p:grpSpPr>
        <a:xfrm>
          <a:off x="0" y="0"/>
          <a:ext cx="0" cy="0"/>
          <a:chOff x="0" y="0"/>
          <a:chExt cx="0" cy="0"/>
        </a:xfrm>
      </p:grpSpPr>
      <p:sp>
        <p:nvSpPr>
          <p:cNvPr id="118" name="Google Shape;118;p21"/>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19" name="Google Shape;119;p21"/>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20" name="Google Shape;120;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121" name="Shape 121"/>
        <p:cNvGrpSpPr/>
        <p:nvPr/>
      </p:nvGrpSpPr>
      <p:grpSpPr>
        <a:xfrm>
          <a:off x="0" y="0"/>
          <a:ext cx="0" cy="0"/>
          <a:chOff x="0" y="0"/>
          <a:chExt cx="0" cy="0"/>
        </a:xfrm>
      </p:grpSpPr>
      <p:sp>
        <p:nvSpPr>
          <p:cNvPr id="122" name="Google Shape;122;p22"/>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23" name="Google Shape;123;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124" name="Shape 124"/>
        <p:cNvGrpSpPr/>
        <p:nvPr/>
      </p:nvGrpSpPr>
      <p:grpSpPr>
        <a:xfrm>
          <a:off x="0" y="0"/>
          <a:ext cx="0" cy="0"/>
          <a:chOff x="0" y="0"/>
          <a:chExt cx="0" cy="0"/>
        </a:xfrm>
      </p:grpSpPr>
      <p:sp>
        <p:nvSpPr>
          <p:cNvPr id="125" name="Google Shape;125;p23"/>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p23"/>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127" name="Google Shape;127;p23"/>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28" name="Google Shape;128;p23"/>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29" name="Google Shape;129;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30" name="Shape 130"/>
        <p:cNvGrpSpPr/>
        <p:nvPr/>
      </p:nvGrpSpPr>
      <p:grpSpPr>
        <a:xfrm>
          <a:off x="0" y="0"/>
          <a:ext cx="0" cy="0"/>
          <a:chOff x="0" y="0"/>
          <a:chExt cx="0" cy="0"/>
        </a:xfrm>
      </p:grpSpPr>
      <p:sp>
        <p:nvSpPr>
          <p:cNvPr id="131" name="Google Shape;131;p24"/>
          <p:cNvSpPr txBox="1"/>
          <p:nvPr>
            <p:ph idx="12" type="sldNum"/>
          </p:nvPr>
        </p:nvSpPr>
        <p:spPr>
          <a:xfrm>
            <a:off x="8299223" y="5009628"/>
            <a:ext cx="702300" cy="1716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500"/>
              <a:buFont typeface="Arial"/>
              <a:buNone/>
              <a:defRPr b="0" i="0" sz="5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500"/>
              <a:buFont typeface="Arial"/>
              <a:buNone/>
              <a:defRPr b="0" i="0" sz="5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500"/>
              <a:buFont typeface="Arial"/>
              <a:buNone/>
              <a:defRPr b="0" i="0" sz="5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500"/>
              <a:buFont typeface="Arial"/>
              <a:buNone/>
              <a:defRPr b="0" i="0" sz="5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500"/>
              <a:buFont typeface="Arial"/>
              <a:buNone/>
              <a:defRPr b="0" i="0" sz="5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500"/>
              <a:buFont typeface="Arial"/>
              <a:buNone/>
              <a:defRPr b="0" i="0" sz="5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500"/>
              <a:buFont typeface="Arial"/>
              <a:buNone/>
              <a:defRPr b="0" i="0" sz="5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500"/>
              <a:buFont typeface="Arial"/>
              <a:buNone/>
              <a:defRPr b="0" i="0" sz="5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500"/>
              <a:buFont typeface="Arial"/>
              <a:buNone/>
              <a:defRPr b="0" i="0" sz="5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32" name="Google Shape;132;p24"/>
          <p:cNvSpPr txBox="1"/>
          <p:nvPr>
            <p:ph idx="1" type="body"/>
          </p:nvPr>
        </p:nvSpPr>
        <p:spPr>
          <a:xfrm>
            <a:off x="277400" y="552400"/>
            <a:ext cx="8751300" cy="3735900"/>
          </a:xfrm>
          <a:prstGeom prst="rect">
            <a:avLst/>
          </a:prstGeom>
          <a:noFill/>
          <a:ln>
            <a:noFill/>
          </a:ln>
        </p:spPr>
        <p:txBody>
          <a:bodyPr anchorCtr="0" anchor="t" bIns="34275" lIns="68575" spcFirstLastPara="1" rIns="68575" wrap="square" tIns="34275">
            <a:normAutofit/>
          </a:bodyPr>
          <a:lstStyle>
            <a:lvl1pPr indent="-298450" lvl="0" marL="457200" algn="l">
              <a:lnSpc>
                <a:spcPct val="100000"/>
              </a:lnSpc>
              <a:spcBef>
                <a:spcPts val="0"/>
              </a:spcBef>
              <a:spcAft>
                <a:spcPts val="0"/>
              </a:spcAft>
              <a:buSzPts val="1100"/>
              <a:buChar char="▪"/>
              <a:defRPr/>
            </a:lvl1pPr>
            <a:lvl2pPr indent="-304800" lvl="1" marL="914400" algn="l">
              <a:lnSpc>
                <a:spcPct val="100000"/>
              </a:lnSpc>
              <a:spcBef>
                <a:spcPts val="0"/>
              </a:spcBef>
              <a:spcAft>
                <a:spcPts val="0"/>
              </a:spcAft>
              <a:buSzPts val="1200"/>
              <a:buChar char="⮚"/>
              <a:defRPr sz="1200"/>
            </a:lvl2pPr>
            <a:lvl3pPr indent="-279400" lvl="2" marL="1371600" algn="l">
              <a:lnSpc>
                <a:spcPct val="100000"/>
              </a:lnSpc>
              <a:spcBef>
                <a:spcPts val="0"/>
              </a:spcBef>
              <a:spcAft>
                <a:spcPts val="0"/>
              </a:spcAft>
              <a:buSzPts val="800"/>
              <a:buChar char="❖"/>
              <a:defRPr sz="1100"/>
            </a:lvl3pPr>
            <a:lvl4pPr indent="-317500" lvl="3" marL="1828800" algn="l">
              <a:lnSpc>
                <a:spcPct val="100000"/>
              </a:lnSpc>
              <a:spcBef>
                <a:spcPts val="0"/>
              </a:spcBef>
              <a:spcAft>
                <a:spcPts val="0"/>
              </a:spcAft>
              <a:buSzPts val="1400"/>
              <a:buChar char="o"/>
              <a:defRPr/>
            </a:lvl4pPr>
            <a:lvl5pPr indent="-298450" lvl="4" marL="2286000" algn="l">
              <a:lnSpc>
                <a:spcPct val="100000"/>
              </a:lnSpc>
              <a:spcBef>
                <a:spcPts val="0"/>
              </a:spcBef>
              <a:spcAft>
                <a:spcPts val="0"/>
              </a:spcAft>
              <a:buSzPts val="1100"/>
              <a:buChar char="▪"/>
              <a:defRPr/>
            </a:lvl5pPr>
            <a:lvl6pPr indent="-317500" lvl="5" marL="2743200" algn="l">
              <a:lnSpc>
                <a:spcPct val="90000"/>
              </a:lnSpc>
              <a:spcBef>
                <a:spcPts val="500"/>
              </a:spcBef>
              <a:spcAft>
                <a:spcPts val="0"/>
              </a:spcAft>
              <a:buSzPts val="1400"/>
              <a:buChar char="–"/>
              <a:defRPr/>
            </a:lvl6pPr>
            <a:lvl7pPr indent="-298450" lvl="6" marL="3200400" algn="l">
              <a:lnSpc>
                <a:spcPct val="90000"/>
              </a:lnSpc>
              <a:spcBef>
                <a:spcPts val="500"/>
              </a:spcBef>
              <a:spcAft>
                <a:spcPts val="0"/>
              </a:spcAft>
              <a:buSzPts val="1100"/>
              <a:buChar char="▪"/>
              <a:defRPr/>
            </a:lvl7pPr>
            <a:lvl8pPr indent="-317500" lvl="7" marL="3657600" algn="l">
              <a:lnSpc>
                <a:spcPct val="90000"/>
              </a:lnSpc>
              <a:spcBef>
                <a:spcPts val="500"/>
              </a:spcBef>
              <a:spcAft>
                <a:spcPts val="0"/>
              </a:spcAft>
              <a:buSzPts val="1400"/>
              <a:buChar char="–"/>
              <a:defRPr/>
            </a:lvl8pPr>
            <a:lvl9pPr indent="-298450" lvl="8" marL="4114800" algn="l">
              <a:lnSpc>
                <a:spcPct val="90000"/>
              </a:lnSpc>
              <a:spcBef>
                <a:spcPts val="500"/>
              </a:spcBef>
              <a:spcAft>
                <a:spcPts val="0"/>
              </a:spcAft>
              <a:buSzPts val="1100"/>
              <a:buChar char="▪"/>
              <a:defRPr/>
            </a:lvl9pPr>
          </a:lstStyle>
          <a:p/>
        </p:txBody>
      </p:sp>
      <p:sp>
        <p:nvSpPr>
          <p:cNvPr id="133" name="Google Shape;133;p24"/>
          <p:cNvSpPr txBox="1"/>
          <p:nvPr>
            <p:ph type="title"/>
          </p:nvPr>
        </p:nvSpPr>
        <p:spPr>
          <a:xfrm>
            <a:off x="250393" y="187170"/>
            <a:ext cx="8805300" cy="3324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rgbClr val="002060"/>
              </a:buClr>
              <a:buSzPts val="1800"/>
              <a:buFont typeface="Calibri"/>
              <a:buNone/>
              <a:defRPr b="1" sz="18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4" name="Google Shape;134;p24"/>
          <p:cNvSpPr txBox="1"/>
          <p:nvPr/>
        </p:nvSpPr>
        <p:spPr>
          <a:xfrm>
            <a:off x="304417" y="5014972"/>
            <a:ext cx="8751300" cy="146164"/>
          </a:xfrm>
          <a:prstGeom prst="rect">
            <a:avLst/>
          </a:prstGeom>
          <a:noFill/>
          <a:ln cap="flat" cmpd="sng" w="9525">
            <a:solidFill>
              <a:srgbClr val="E9F0F5"/>
            </a:solidFill>
            <a:prstDash val="solid"/>
            <a:round/>
            <a:headEnd len="sm" w="sm" type="none"/>
            <a:tailEnd len="sm" w="sm" type="none"/>
          </a:ln>
        </p:spPr>
        <p:txBody>
          <a:bodyPr anchorCtr="1" anchor="ctr" bIns="34275" lIns="68575" spcFirstLastPara="1" rIns="68575" wrap="square" tIns="34275">
            <a:spAutoFit/>
          </a:bodyPr>
          <a:lstStyle/>
          <a:p>
            <a:pPr indent="0" lvl="0" marL="0" marR="0" rtl="0" algn="l">
              <a:lnSpc>
                <a:spcPct val="100000"/>
              </a:lnSpc>
              <a:spcBef>
                <a:spcPts val="0"/>
              </a:spcBef>
              <a:spcAft>
                <a:spcPts val="0"/>
              </a:spcAft>
              <a:buClr>
                <a:srgbClr val="000000"/>
              </a:buClr>
              <a:buSzPts val="500"/>
              <a:buFont typeface="Arial"/>
              <a:buNone/>
            </a:pPr>
            <a:r>
              <a:rPr b="0" i="0" lang="en-US" sz="500" u="none" cap="none" strike="noStrike">
                <a:solidFill>
                  <a:schemeClr val="lt1"/>
                </a:solidFill>
                <a:latin typeface="Calibri"/>
                <a:ea typeface="Calibri"/>
                <a:cs typeface="Calibri"/>
                <a:sym typeface="Calibri"/>
              </a:rPr>
              <a:t>TID: Kick-Off SCM Oracle Cloud Stabilization - Confidential</a:t>
            </a:r>
            <a:endParaRPr b="0" i="0" sz="500" u="none" cap="none" strike="noStrike">
              <a:solidFill>
                <a:schemeClr val="lt1"/>
              </a:solidFill>
              <a:latin typeface="Calibri"/>
              <a:ea typeface="Calibri"/>
              <a:cs typeface="Calibri"/>
              <a:sym typeface="Calibri"/>
            </a:endParaRPr>
          </a:p>
        </p:txBody>
      </p:sp>
      <p:pic>
        <p:nvPicPr>
          <p:cNvPr id="135" name="Google Shape;135;p24"/>
          <p:cNvPicPr preferRelativeResize="0"/>
          <p:nvPr/>
        </p:nvPicPr>
        <p:blipFill rotWithShape="1">
          <a:blip r:embed="rId2">
            <a:alphaModFix/>
          </a:blip>
          <a:srcRect b="0" l="0" r="0" t="0"/>
          <a:stretch/>
        </p:blipFill>
        <p:spPr>
          <a:xfrm>
            <a:off x="7554526" y="177100"/>
            <a:ext cx="1493900" cy="334175"/>
          </a:xfrm>
          <a:prstGeom prst="rect">
            <a:avLst/>
          </a:prstGeom>
          <a:noFill/>
          <a:ln>
            <a:noFill/>
          </a:ln>
        </p:spPr>
      </p:pic>
      <p:pic>
        <p:nvPicPr>
          <p:cNvPr id="136" name="Google Shape;136;p24"/>
          <p:cNvPicPr preferRelativeResize="0"/>
          <p:nvPr/>
        </p:nvPicPr>
        <p:blipFill rotWithShape="1">
          <a:blip r:embed="rId3">
            <a:alphaModFix/>
          </a:blip>
          <a:srcRect b="0" l="0" r="0" t="0"/>
          <a:stretch/>
        </p:blipFill>
        <p:spPr>
          <a:xfrm>
            <a:off x="4248957" y="4680825"/>
            <a:ext cx="646087" cy="3341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1" name="Shape 71"/>
        <p:cNvGrpSpPr/>
        <p:nvPr/>
      </p:nvGrpSpPr>
      <p:grpSpPr>
        <a:xfrm>
          <a:off x="0" y="0"/>
          <a:ext cx="0" cy="0"/>
          <a:chOff x="0" y="0"/>
          <a:chExt cx="0" cy="0"/>
        </a:xfrm>
      </p:grpSpPr>
      <p:sp>
        <p:nvSpPr>
          <p:cNvPr id="72" name="Google Shape;72;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3" name="Google Shape;73;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74" name="Google Shape;74;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
          </a:xfrm>
          <a:prstGeom prst="rect">
            <a:avLst/>
          </a:prstGeom>
          <a:solidFill>
            <a:srgbClr val="0099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960620"/>
            <a:ext cx="9144000" cy="182880"/>
          </a:xfrm>
          <a:prstGeom prst="rect">
            <a:avLst/>
          </a:prstGeom>
          <a:solidFill>
            <a:srgbClr val="0099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7269481" y="256032"/>
            <a:ext cx="1508760" cy="384734"/>
          </a:xfrm>
          <a:prstGeom prst="rect">
            <a:avLst/>
          </a:prstGeom>
        </p:spPr>
      </p:pic>
      <p:pic>
        <p:nvPicPr>
          <p:cNvPr id="5" name="Picture 4" descr="tid_logo.png"/>
          <p:cNvPicPr>
            <a:picLocks noChangeAspect="1"/>
          </p:cNvPicPr>
          <p:nvPr/>
        </p:nvPicPr>
        <p:blipFill>
          <a:blip r:embed="rId3"/>
          <a:stretch>
            <a:fillRect/>
          </a:stretch>
        </p:blipFill>
        <p:spPr>
          <a:xfrm>
            <a:off x="4251960" y="4366260"/>
            <a:ext cx="640080" cy="356153"/>
          </a:xfrm>
          <a:prstGeom prst="rect">
            <a:avLst/>
          </a:prstGeom>
        </p:spPr>
      </p:pic>
      <p:sp>
        <p:nvSpPr>
          <p:cNvPr id="6" name="TextBox 5"/>
          <p:cNvSpPr txBox="1"/>
          <p:nvPr/>
        </p:nvSpPr>
        <p:spPr>
          <a:xfrm>
            <a:off x="0" y="4960620"/>
            <a:ext cx="9144000" cy="182880"/>
          </a:xfrm>
          <a:prstGeom prst="rect">
            <a:avLst/>
          </a:prstGeom>
          <a:noFill/>
        </p:spPr>
        <p:txBody>
          <a:bodyPr wrap="none">
            <a:spAutoFit/>
          </a:bodyPr>
          <a:lstStyle/>
          <a:p>
            <a:pPr algn="ctr">
              <a:defRPr sz="500">
                <a:solidFill>
                  <a:srgbClr val="FFFFFF"/>
                </a:solidFill>
              </a:defRPr>
            </a:pPr>
            <a:r>
              <a:t>Oracle Upgrade 26B - Confidential</a:t>
            </a:r>
          </a:p>
        </p:txBody>
      </p:sp>
      <p:sp>
        <p:nvSpPr>
          <p:cNvPr id="7" name="TextBox 6"/>
          <p:cNvSpPr txBox="1"/>
          <p:nvPr/>
        </p:nvSpPr>
        <p:spPr>
          <a:xfrm>
            <a:off x="8686800" y="4960620"/>
            <a:ext cx="0" cy="182880"/>
          </a:xfrm>
          <a:prstGeom prst="rect">
            <a:avLst/>
          </a:prstGeom>
          <a:noFill/>
        </p:spPr>
        <p:txBody>
          <a:bodyPr wrap="none">
            <a:spAutoFit/>
          </a:bodyPr>
          <a:lstStyle/>
          <a:p>
            <a:pPr algn="r">
              <a:defRPr sz="600">
                <a:solidFill>
                  <a:srgbClr val="FFFFFF"/>
                </a:solidFill>
              </a:defRPr>
            </a:pPr>
            <a:r>
              <a:t>1</a:t>
            </a:r>
          </a:p>
        </p:txBody>
      </p:sp>
      <p:sp>
        <p:nvSpPr>
          <p:cNvPr id="8" name="TextBox 7"/>
          <p:cNvSpPr txBox="1"/>
          <p:nvPr/>
        </p:nvSpPr>
        <p:spPr>
          <a:xfrm>
            <a:off x="914400" y="1657350"/>
            <a:ext cx="7315200" cy="457200"/>
          </a:xfrm>
          <a:prstGeom prst="rect">
            <a:avLst/>
          </a:prstGeom>
          <a:noFill/>
        </p:spPr>
        <p:txBody>
          <a:bodyPr wrap="square">
            <a:spAutoFit/>
          </a:bodyPr>
          <a:lstStyle/>
          <a:p>
            <a:pPr algn="ctr">
              <a:defRPr sz="2800" b="1">
                <a:solidFill>
                  <a:srgbClr val="000000"/>
                </a:solidFill>
                <a:latin typeface="Calibri"/>
              </a:defRPr>
            </a:pPr>
            <a:r>
              <a:t>Turlock Irrigation District : 26B Oracle Upgrades</a:t>
            </a:r>
          </a:p>
        </p:txBody>
      </p:sp>
      <p:sp>
        <p:nvSpPr>
          <p:cNvPr id="9" name="TextBox 8"/>
          <p:cNvSpPr txBox="1"/>
          <p:nvPr/>
        </p:nvSpPr>
        <p:spPr>
          <a:xfrm>
            <a:off x="914400" y="2205990"/>
            <a:ext cx="7315200" cy="365760"/>
          </a:xfrm>
          <a:prstGeom prst="rect">
            <a:avLst/>
          </a:prstGeom>
          <a:noFill/>
        </p:spPr>
        <p:txBody>
          <a:bodyPr wrap="square">
            <a:spAutoFit/>
          </a:bodyPr>
          <a:lstStyle/>
          <a:p>
            <a:pPr algn="ctr">
              <a:defRPr sz="2200" b="0">
                <a:solidFill>
                  <a:srgbClr val="000000"/>
                </a:solidFill>
                <a:latin typeface="Calibri"/>
              </a:defRPr>
            </a:pPr>
            <a:r>
              <a:t>Oracle Fusion Cloud Advanced Inventory Management</a:t>
            </a:r>
          </a:p>
        </p:txBody>
      </p:sp>
      <p:sp>
        <p:nvSpPr>
          <p:cNvPr id="10" name="TextBox 9"/>
          <p:cNvSpPr txBox="1"/>
          <p:nvPr/>
        </p:nvSpPr>
        <p:spPr>
          <a:xfrm>
            <a:off x="914400" y="2663190"/>
            <a:ext cx="7315200" cy="274320"/>
          </a:xfrm>
          <a:prstGeom prst="rect">
            <a:avLst/>
          </a:prstGeom>
          <a:noFill/>
        </p:spPr>
        <p:txBody>
          <a:bodyPr wrap="square">
            <a:spAutoFit/>
          </a:bodyPr>
          <a:lstStyle/>
          <a:p>
            <a:pPr algn="ctr">
              <a:defRPr sz="1400" b="0">
                <a:solidFill>
                  <a:srgbClr val="000000"/>
                </a:solidFill>
                <a:latin typeface="Calibri"/>
              </a:defRPr>
            </a:pPr>
            <a:r>
              <a:t>May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
          </a:xfrm>
          <a:prstGeom prst="rect">
            <a:avLst/>
          </a:prstGeom>
          <a:solidFill>
            <a:srgbClr val="0099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960620"/>
            <a:ext cx="9144000" cy="182880"/>
          </a:xfrm>
          <a:prstGeom prst="rect">
            <a:avLst/>
          </a:prstGeom>
          <a:solidFill>
            <a:srgbClr val="0099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7269481" y="256032"/>
            <a:ext cx="1508760" cy="384734"/>
          </a:xfrm>
          <a:prstGeom prst="rect">
            <a:avLst/>
          </a:prstGeom>
        </p:spPr>
      </p:pic>
      <p:pic>
        <p:nvPicPr>
          <p:cNvPr id="5" name="Picture 4" descr="tid_logo.png"/>
          <p:cNvPicPr>
            <a:picLocks noChangeAspect="1"/>
          </p:cNvPicPr>
          <p:nvPr/>
        </p:nvPicPr>
        <p:blipFill>
          <a:blip r:embed="rId3"/>
          <a:stretch>
            <a:fillRect/>
          </a:stretch>
        </p:blipFill>
        <p:spPr>
          <a:xfrm>
            <a:off x="4251960" y="4366260"/>
            <a:ext cx="640080" cy="356153"/>
          </a:xfrm>
          <a:prstGeom prst="rect">
            <a:avLst/>
          </a:prstGeom>
        </p:spPr>
      </p:pic>
      <p:sp>
        <p:nvSpPr>
          <p:cNvPr id="6" name="TextBox 5"/>
          <p:cNvSpPr txBox="1"/>
          <p:nvPr/>
        </p:nvSpPr>
        <p:spPr>
          <a:xfrm>
            <a:off x="0" y="4960620"/>
            <a:ext cx="9144000" cy="182880"/>
          </a:xfrm>
          <a:prstGeom prst="rect">
            <a:avLst/>
          </a:prstGeom>
          <a:noFill/>
        </p:spPr>
        <p:txBody>
          <a:bodyPr wrap="none">
            <a:spAutoFit/>
          </a:bodyPr>
          <a:lstStyle/>
          <a:p>
            <a:pPr algn="ctr">
              <a:defRPr sz="500">
                <a:solidFill>
                  <a:srgbClr val="FFFFFF"/>
                </a:solidFill>
              </a:defRPr>
            </a:pPr>
            <a:r>
              <a:t>Oracle Upgrade 26B - Confidential</a:t>
            </a:r>
          </a:p>
        </p:txBody>
      </p:sp>
      <p:sp>
        <p:nvSpPr>
          <p:cNvPr id="7" name="TextBox 6"/>
          <p:cNvSpPr txBox="1"/>
          <p:nvPr/>
        </p:nvSpPr>
        <p:spPr>
          <a:xfrm>
            <a:off x="8686800" y="4960620"/>
            <a:ext cx="0" cy="182880"/>
          </a:xfrm>
          <a:prstGeom prst="rect">
            <a:avLst/>
          </a:prstGeom>
          <a:noFill/>
        </p:spPr>
        <p:txBody>
          <a:bodyPr wrap="none">
            <a:spAutoFit/>
          </a:bodyPr>
          <a:lstStyle/>
          <a:p>
            <a:pPr algn="r">
              <a:defRPr sz="600">
                <a:solidFill>
                  <a:srgbClr val="FFFFFF"/>
                </a:solidFill>
              </a:defRPr>
            </a:pPr>
            <a:r>
              <a:t>2</a:t>
            </a:r>
          </a:p>
        </p:txBody>
      </p:sp>
      <p:sp>
        <p:nvSpPr>
          <p:cNvPr id="8" name="TextBox 7"/>
          <p:cNvSpPr txBox="1"/>
          <p:nvPr/>
        </p:nvSpPr>
        <p:spPr>
          <a:xfrm>
            <a:off x="457200" y="457200"/>
            <a:ext cx="4572000" cy="457200"/>
          </a:xfrm>
          <a:prstGeom prst="rect">
            <a:avLst/>
          </a:prstGeom>
          <a:noFill/>
        </p:spPr>
        <p:txBody>
          <a:bodyPr wrap="square">
            <a:spAutoFit/>
          </a:bodyPr>
          <a:lstStyle/>
          <a:p>
            <a:pPr algn="l">
              <a:defRPr sz="2200" b="1">
                <a:solidFill>
                  <a:srgbClr val="000000"/>
                </a:solidFill>
                <a:latin typeface="Calibri"/>
              </a:defRPr>
            </a:pPr>
            <a:r>
              <a:t>Executive Summary: Upgrade Scope</a:t>
            </a:r>
          </a:p>
        </p:txBody>
      </p:sp>
      <p:graphicFrame>
        <p:nvGraphicFramePr>
          <p:cNvPr id="9" name="Table 8"/>
          <p:cNvGraphicFramePr>
            <a:graphicFrameLocks noGrp="1"/>
          </p:cNvGraphicFramePr>
          <p:nvPr/>
        </p:nvGraphicFramePr>
        <p:xfrm>
          <a:off x="731520" y="1280160"/>
          <a:ext cx="7315200" cy="3657600"/>
        </p:xfrm>
        <a:graphic>
          <a:graphicData uri="http://schemas.openxmlformats.org/drawingml/2006/table">
            <a:tbl>
              <a:tblPr firstRow="1" bandRow="1">
                <a:tableStyleId>{5C22544A-7EE6-4342-B048-85BDC9FD1C3A}</a:tableStyleId>
              </a:tblPr>
              <a:tblGrid>
                <a:gridCol w="5486400"/>
                <a:gridCol w="1828800"/>
              </a:tblGrid>
              <a:tr h="332509">
                <a:tc>
                  <a:txBody>
                    <a:bodyPr wrap="square"/>
                    <a:lstStyle/>
                    <a:p>
                      <a:pPr>
                        <a:defRPr sz="850" b="1">
                          <a:solidFill>
                            <a:srgbClr val="FFFFFF"/>
                          </a:solidFill>
                          <a:latin typeface="Calibri"/>
                        </a:defRPr>
                      </a:pPr>
                      <a:r>
                        <a:t>Module Name</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Feature Count</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32509">
                <a:tc>
                  <a:txBody>
                    <a:bodyPr wrap="square"/>
                    <a:lstStyle/>
                    <a:p>
                      <a:pPr>
                        <a:defRPr sz="1100" b="0">
                          <a:solidFill>
                            <a:srgbClr val="000000"/>
                          </a:solidFill>
                          <a:latin typeface="Calibri"/>
                        </a:defRPr>
                      </a:pPr>
                      <a:r>
                        <a:t>Advanced Inventory Management</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1100" b="0">
                          <a:solidFill>
                            <a:srgbClr val="000000"/>
                          </a:solidFill>
                          <a:latin typeface="Calibri"/>
                        </a:defRPr>
                      </a:pPr>
                      <a:r>
                        <a:t>3</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32509">
                <a:tc>
                  <a:txBody>
                    <a:bodyPr wrap="square"/>
                    <a:lstStyle/>
                    <a:p>
                      <a:pPr>
                        <a:defRPr sz="1100" b="0">
                          <a:solidFill>
                            <a:srgbClr val="000000"/>
                          </a:solidFill>
                          <a:latin typeface="Calibri"/>
                        </a:defRPr>
                      </a:pPr>
                      <a:r>
                        <a:t>Collaboration Messaging</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1100" b="0">
                          <a:solidFill>
                            <a:srgbClr val="000000"/>
                          </a:solidFill>
                          <a:latin typeface="Calibri"/>
                        </a:defRPr>
                      </a:pPr>
                      <a:r>
                        <a:t>6</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32509">
                <a:tc>
                  <a:txBody>
                    <a:bodyPr wrap="square"/>
                    <a:lstStyle/>
                    <a:p>
                      <a:pPr>
                        <a:defRPr sz="1100" b="0">
                          <a:solidFill>
                            <a:srgbClr val="000000"/>
                          </a:solidFill>
                          <a:latin typeface="Calibri"/>
                        </a:defRPr>
                      </a:pPr>
                      <a:r>
                        <a:t>Configure to Order</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1100" b="0">
                          <a:solidFill>
                            <a:srgbClr val="000000"/>
                          </a:solidFill>
                          <a:latin typeface="Calibri"/>
                        </a:defRPr>
                      </a:pPr>
                      <a:r>
                        <a:t>2</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32509">
                <a:tc>
                  <a:txBody>
                    <a:bodyPr wrap="square"/>
                    <a:lstStyle/>
                    <a:p>
                      <a:pPr>
                        <a:defRPr sz="1100" b="0">
                          <a:solidFill>
                            <a:srgbClr val="000000"/>
                          </a:solidFill>
                          <a:latin typeface="Calibri"/>
                        </a:defRPr>
                      </a:pPr>
                      <a:r>
                        <a:t>Cost Management</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1100" b="0">
                          <a:solidFill>
                            <a:srgbClr val="000000"/>
                          </a:solidFill>
                          <a:latin typeface="Calibri"/>
                        </a:defRPr>
                      </a:pPr>
                      <a:r>
                        <a:t>11</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32509">
                <a:tc>
                  <a:txBody>
                    <a:bodyPr wrap="square"/>
                    <a:lstStyle/>
                    <a:p>
                      <a:pPr>
                        <a:defRPr sz="1100" b="0">
                          <a:solidFill>
                            <a:srgbClr val="000000"/>
                          </a:solidFill>
                          <a:latin typeface="Calibri"/>
                        </a:defRPr>
                      </a:pPr>
                      <a:r>
                        <a:t>Fiscal Document Capture</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1100" b="0">
                          <a:solidFill>
                            <a:srgbClr val="000000"/>
                          </a:solidFill>
                          <a:latin typeface="Calibri"/>
                        </a:defRPr>
                      </a:pPr>
                      <a:r>
                        <a:t>3</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32509">
                <a:tc>
                  <a:txBody>
                    <a:bodyPr wrap="square"/>
                    <a:lstStyle/>
                    <a:p>
                      <a:pPr>
                        <a:defRPr sz="1100" b="0">
                          <a:solidFill>
                            <a:srgbClr val="000000"/>
                          </a:solidFill>
                          <a:latin typeface="Calibri"/>
                        </a:defRPr>
                      </a:pPr>
                      <a:r>
                        <a:t>Inventory Management</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1100" b="0">
                          <a:solidFill>
                            <a:srgbClr val="000000"/>
                          </a:solidFill>
                          <a:latin typeface="Calibri"/>
                        </a:defRPr>
                      </a:pPr>
                      <a:r>
                        <a:t>11</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32509">
                <a:tc>
                  <a:txBody>
                    <a:bodyPr wrap="square"/>
                    <a:lstStyle/>
                    <a:p>
                      <a:pPr>
                        <a:defRPr sz="1100" b="0">
                          <a:solidFill>
                            <a:srgbClr val="000000"/>
                          </a:solidFill>
                          <a:latin typeface="Calibri"/>
                        </a:defRPr>
                      </a:pPr>
                      <a:r>
                        <a:t>Landed Cost Management</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1100" b="0">
                          <a:solidFill>
                            <a:srgbClr val="000000"/>
                          </a:solidFill>
                          <a:latin typeface="Calibri"/>
                        </a:defRPr>
                      </a:pPr>
                      <a:r>
                        <a:t>1</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32509">
                <a:tc>
                  <a:txBody>
                    <a:bodyPr wrap="square"/>
                    <a:lstStyle/>
                    <a:p>
                      <a:pPr>
                        <a:defRPr sz="1100" b="0">
                          <a:solidFill>
                            <a:srgbClr val="000000"/>
                          </a:solidFill>
                          <a:latin typeface="Calibri"/>
                        </a:defRPr>
                      </a:pPr>
                      <a:r>
                        <a:t>Mobile Inventory</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1100" b="0">
                          <a:solidFill>
                            <a:srgbClr val="000000"/>
                          </a:solidFill>
                          <a:latin typeface="Calibri"/>
                        </a:defRPr>
                      </a:pPr>
                      <a:r>
                        <a:t>1</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32509">
                <a:tc>
                  <a:txBody>
                    <a:bodyPr wrap="square"/>
                    <a:lstStyle/>
                    <a:p>
                      <a:pPr>
                        <a:defRPr sz="1100" b="0">
                          <a:solidFill>
                            <a:srgbClr val="000000"/>
                          </a:solidFill>
                          <a:latin typeface="Calibri"/>
                        </a:defRPr>
                      </a:pPr>
                      <a:r>
                        <a:t>Product Recall Management</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1100" b="0">
                          <a:solidFill>
                            <a:srgbClr val="000000"/>
                          </a:solidFill>
                          <a:latin typeface="Calibri"/>
                        </a:defRPr>
                      </a:pPr>
                      <a:r>
                        <a:t>2</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32510">
                <a:tc>
                  <a:txBody>
                    <a:bodyPr wrap="square"/>
                    <a:lstStyle/>
                    <a:p>
                      <a:pPr>
                        <a:defRPr sz="1100" b="0">
                          <a:solidFill>
                            <a:srgbClr val="000000"/>
                          </a:solidFill>
                          <a:latin typeface="Calibri"/>
                        </a:defRPr>
                      </a:pPr>
                      <a:r>
                        <a:t>Receiving</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1100" b="0">
                          <a:solidFill>
                            <a:srgbClr val="000000"/>
                          </a:solidFill>
                          <a:latin typeface="Calibri"/>
                        </a:defRPr>
                      </a:pPr>
                      <a:r>
                        <a:t>11</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
          </a:xfrm>
          <a:prstGeom prst="rect">
            <a:avLst/>
          </a:prstGeom>
          <a:solidFill>
            <a:srgbClr val="0099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960620"/>
            <a:ext cx="9144000" cy="182880"/>
          </a:xfrm>
          <a:prstGeom prst="rect">
            <a:avLst/>
          </a:prstGeom>
          <a:solidFill>
            <a:srgbClr val="0099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7269481" y="256032"/>
            <a:ext cx="1508760" cy="384734"/>
          </a:xfrm>
          <a:prstGeom prst="rect">
            <a:avLst/>
          </a:prstGeom>
        </p:spPr>
      </p:pic>
      <p:pic>
        <p:nvPicPr>
          <p:cNvPr id="5" name="Picture 4" descr="tid_logo.png"/>
          <p:cNvPicPr>
            <a:picLocks noChangeAspect="1"/>
          </p:cNvPicPr>
          <p:nvPr/>
        </p:nvPicPr>
        <p:blipFill>
          <a:blip r:embed="rId3"/>
          <a:stretch>
            <a:fillRect/>
          </a:stretch>
        </p:blipFill>
        <p:spPr>
          <a:xfrm>
            <a:off x="4251960" y="4366260"/>
            <a:ext cx="640080" cy="356153"/>
          </a:xfrm>
          <a:prstGeom prst="rect">
            <a:avLst/>
          </a:prstGeom>
        </p:spPr>
      </p:pic>
      <p:sp>
        <p:nvSpPr>
          <p:cNvPr id="6" name="TextBox 5"/>
          <p:cNvSpPr txBox="1"/>
          <p:nvPr/>
        </p:nvSpPr>
        <p:spPr>
          <a:xfrm>
            <a:off x="0" y="4960620"/>
            <a:ext cx="9144000" cy="182880"/>
          </a:xfrm>
          <a:prstGeom prst="rect">
            <a:avLst/>
          </a:prstGeom>
          <a:noFill/>
        </p:spPr>
        <p:txBody>
          <a:bodyPr wrap="none">
            <a:spAutoFit/>
          </a:bodyPr>
          <a:lstStyle/>
          <a:p>
            <a:pPr algn="ctr">
              <a:defRPr sz="500">
                <a:solidFill>
                  <a:srgbClr val="FFFFFF"/>
                </a:solidFill>
              </a:defRPr>
            </a:pPr>
            <a:r>
              <a:t>Oracle Upgrade 26B - Confidential</a:t>
            </a:r>
          </a:p>
        </p:txBody>
      </p:sp>
      <p:sp>
        <p:nvSpPr>
          <p:cNvPr id="7" name="TextBox 6"/>
          <p:cNvSpPr txBox="1"/>
          <p:nvPr/>
        </p:nvSpPr>
        <p:spPr>
          <a:xfrm>
            <a:off x="8686800" y="4960620"/>
            <a:ext cx="0" cy="182880"/>
          </a:xfrm>
          <a:prstGeom prst="rect">
            <a:avLst/>
          </a:prstGeom>
          <a:noFill/>
        </p:spPr>
        <p:txBody>
          <a:bodyPr wrap="none">
            <a:spAutoFit/>
          </a:bodyPr>
          <a:lstStyle/>
          <a:p>
            <a:pPr algn="r">
              <a:defRPr sz="600">
                <a:solidFill>
                  <a:srgbClr val="FFFFFF"/>
                </a:solidFill>
              </a:defRPr>
            </a:pPr>
            <a:r>
              <a:t>3</a:t>
            </a:r>
          </a:p>
        </p:txBody>
      </p:sp>
      <p:sp>
        <p:nvSpPr>
          <p:cNvPr id="8" name="TextBox 7"/>
          <p:cNvSpPr txBox="1"/>
          <p:nvPr/>
        </p:nvSpPr>
        <p:spPr>
          <a:xfrm>
            <a:off x="457200" y="457200"/>
            <a:ext cx="4572000" cy="457200"/>
          </a:xfrm>
          <a:prstGeom prst="rect">
            <a:avLst/>
          </a:prstGeom>
          <a:noFill/>
        </p:spPr>
        <p:txBody>
          <a:bodyPr wrap="square">
            <a:spAutoFit/>
          </a:bodyPr>
          <a:lstStyle/>
          <a:p>
            <a:pPr algn="l">
              <a:defRPr sz="2200" b="1">
                <a:solidFill>
                  <a:srgbClr val="000000"/>
                </a:solidFill>
                <a:latin typeface="Calibri"/>
              </a:defRPr>
            </a:pPr>
            <a:r>
              <a:t>Executive Summary: Upgrade Scope</a:t>
            </a:r>
          </a:p>
        </p:txBody>
      </p:sp>
      <p:graphicFrame>
        <p:nvGraphicFramePr>
          <p:cNvPr id="9" name="Table 8"/>
          <p:cNvGraphicFramePr>
            <a:graphicFrameLocks noGrp="1"/>
          </p:cNvGraphicFramePr>
          <p:nvPr/>
        </p:nvGraphicFramePr>
        <p:xfrm>
          <a:off x="731520" y="1280160"/>
          <a:ext cx="7315200" cy="1097280"/>
        </p:xfrm>
        <a:graphic>
          <a:graphicData uri="http://schemas.openxmlformats.org/drawingml/2006/table">
            <a:tbl>
              <a:tblPr firstRow="1" bandRow="1">
                <a:tableStyleId>{5C22544A-7EE6-4342-B048-85BDC9FD1C3A}</a:tableStyleId>
              </a:tblPr>
              <a:tblGrid>
                <a:gridCol w="5486400"/>
                <a:gridCol w="1828800"/>
              </a:tblGrid>
              <a:tr h="274320">
                <a:tc>
                  <a:txBody>
                    <a:bodyPr wrap="square"/>
                    <a:lstStyle/>
                    <a:p>
                      <a:pPr>
                        <a:defRPr sz="850" b="1">
                          <a:solidFill>
                            <a:srgbClr val="FFFFFF"/>
                          </a:solidFill>
                          <a:latin typeface="Calibri"/>
                        </a:defRPr>
                      </a:pPr>
                      <a:r>
                        <a:t>Module Name</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Feature Count</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274320">
                <a:tc>
                  <a:txBody>
                    <a:bodyPr wrap="square"/>
                    <a:lstStyle/>
                    <a:p>
                      <a:pPr>
                        <a:defRPr sz="1100" b="0">
                          <a:solidFill>
                            <a:srgbClr val="000000"/>
                          </a:solidFill>
                          <a:latin typeface="Calibri"/>
                        </a:defRPr>
                      </a:pPr>
                      <a:r>
                        <a:t>SCM Common Components</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1100" b="0">
                          <a:solidFill>
                            <a:srgbClr val="000000"/>
                          </a:solidFill>
                          <a:latin typeface="Calibri"/>
                        </a:defRPr>
                      </a:pPr>
                      <a:r>
                        <a:t>4</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274320">
                <a:tc>
                  <a:txBody>
                    <a:bodyPr wrap="square"/>
                    <a:lstStyle/>
                    <a:p>
                      <a:pPr>
                        <a:defRPr sz="1100" b="0">
                          <a:solidFill>
                            <a:srgbClr val="000000"/>
                          </a:solidFill>
                          <a:latin typeface="Calibri"/>
                        </a:defRPr>
                      </a:pPr>
                      <a:r>
                        <a:t>Supply Chain Financial Orchestration</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1100" b="0">
                          <a:solidFill>
                            <a:srgbClr val="000000"/>
                          </a:solidFill>
                          <a:latin typeface="Calibri"/>
                        </a:defRPr>
                      </a:pPr>
                      <a:r>
                        <a:t>4</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274320">
                <a:tc>
                  <a:txBody>
                    <a:bodyPr wrap="square"/>
                    <a:lstStyle/>
                    <a:p>
                      <a:pPr>
                        <a:defRPr sz="1100" b="0">
                          <a:solidFill>
                            <a:srgbClr val="000000"/>
                          </a:solidFill>
                          <a:latin typeface="Calibri"/>
                        </a:defRPr>
                      </a:pPr>
                      <a:r>
                        <a:t>Supply Chain Orchestration</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1100" b="0">
                          <a:solidFill>
                            <a:srgbClr val="000000"/>
                          </a:solidFill>
                          <a:latin typeface="Calibri"/>
                        </a:defRPr>
                      </a:pPr>
                      <a:r>
                        <a:t>2</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
          </a:xfrm>
          <a:prstGeom prst="rect">
            <a:avLst/>
          </a:prstGeom>
          <a:solidFill>
            <a:srgbClr val="0099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960620"/>
            <a:ext cx="9144000" cy="182880"/>
          </a:xfrm>
          <a:prstGeom prst="rect">
            <a:avLst/>
          </a:prstGeom>
          <a:solidFill>
            <a:srgbClr val="0099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7269481" y="256032"/>
            <a:ext cx="1508760" cy="384734"/>
          </a:xfrm>
          <a:prstGeom prst="rect">
            <a:avLst/>
          </a:prstGeom>
        </p:spPr>
      </p:pic>
      <p:pic>
        <p:nvPicPr>
          <p:cNvPr id="5" name="Picture 4" descr="tid_logo.png"/>
          <p:cNvPicPr>
            <a:picLocks noChangeAspect="1"/>
          </p:cNvPicPr>
          <p:nvPr/>
        </p:nvPicPr>
        <p:blipFill>
          <a:blip r:embed="rId3"/>
          <a:stretch>
            <a:fillRect/>
          </a:stretch>
        </p:blipFill>
        <p:spPr>
          <a:xfrm>
            <a:off x="4251960" y="4366260"/>
            <a:ext cx="640080" cy="356153"/>
          </a:xfrm>
          <a:prstGeom prst="rect">
            <a:avLst/>
          </a:prstGeom>
        </p:spPr>
      </p:pic>
      <p:sp>
        <p:nvSpPr>
          <p:cNvPr id="6" name="TextBox 5"/>
          <p:cNvSpPr txBox="1"/>
          <p:nvPr/>
        </p:nvSpPr>
        <p:spPr>
          <a:xfrm>
            <a:off x="0" y="4960620"/>
            <a:ext cx="9144000" cy="182880"/>
          </a:xfrm>
          <a:prstGeom prst="rect">
            <a:avLst/>
          </a:prstGeom>
          <a:noFill/>
        </p:spPr>
        <p:txBody>
          <a:bodyPr wrap="none">
            <a:spAutoFit/>
          </a:bodyPr>
          <a:lstStyle/>
          <a:p>
            <a:pPr algn="ctr">
              <a:defRPr sz="500">
                <a:solidFill>
                  <a:srgbClr val="FFFFFF"/>
                </a:solidFill>
              </a:defRPr>
            </a:pPr>
            <a:r>
              <a:t>Oracle Upgrade 26B - Confidential</a:t>
            </a:r>
          </a:p>
        </p:txBody>
      </p:sp>
      <p:sp>
        <p:nvSpPr>
          <p:cNvPr id="7" name="TextBox 6"/>
          <p:cNvSpPr txBox="1"/>
          <p:nvPr/>
        </p:nvSpPr>
        <p:spPr>
          <a:xfrm>
            <a:off x="8686800" y="4960620"/>
            <a:ext cx="0" cy="182880"/>
          </a:xfrm>
          <a:prstGeom prst="rect">
            <a:avLst/>
          </a:prstGeom>
          <a:noFill/>
        </p:spPr>
        <p:txBody>
          <a:bodyPr wrap="none">
            <a:spAutoFit/>
          </a:bodyPr>
          <a:lstStyle/>
          <a:p>
            <a:pPr algn="r">
              <a:defRPr sz="600">
                <a:solidFill>
                  <a:srgbClr val="FFFFFF"/>
                </a:solidFill>
              </a:defRPr>
            </a:pPr>
            <a:r>
              <a:t>4</a:t>
            </a:r>
          </a:p>
        </p:txBody>
      </p:sp>
      <p:sp>
        <p:nvSpPr>
          <p:cNvPr id="8" name="TextBox 7"/>
          <p:cNvSpPr txBox="1"/>
          <p:nvPr/>
        </p:nvSpPr>
        <p:spPr>
          <a:xfrm>
            <a:off x="384048" y="438912"/>
            <a:ext cx="5669280" cy="320040"/>
          </a:xfrm>
          <a:prstGeom prst="rect">
            <a:avLst/>
          </a:prstGeom>
          <a:noFill/>
        </p:spPr>
        <p:txBody>
          <a:bodyPr wrap="square">
            <a:spAutoFit/>
          </a:bodyPr>
          <a:lstStyle/>
          <a:p>
            <a:pPr algn="l">
              <a:defRPr sz="1600" b="1">
                <a:solidFill>
                  <a:srgbClr val="000000"/>
                </a:solidFill>
                <a:latin typeface="Calibri"/>
              </a:defRPr>
            </a:pPr>
            <a:r>
              <a:t>Advanced Inventory Management (1/2)</a:t>
            </a:r>
          </a:p>
        </p:txBody>
      </p:sp>
      <p:graphicFrame>
        <p:nvGraphicFramePr>
          <p:cNvPr id="9" name="Table 8"/>
          <p:cNvGraphicFramePr>
            <a:graphicFrameLocks noGrp="1"/>
          </p:cNvGraphicFramePr>
          <p:nvPr/>
        </p:nvGraphicFramePr>
        <p:xfrm>
          <a:off x="384048" y="914400"/>
          <a:ext cx="8138160" cy="2514600"/>
        </p:xfrm>
        <a:graphic>
          <a:graphicData uri="http://schemas.openxmlformats.org/drawingml/2006/table">
            <a:tbl>
              <a:tblPr firstRow="1" bandRow="1">
                <a:tableStyleId>{5C22544A-7EE6-4342-B048-85BDC9FD1C3A}</a:tableStyleId>
              </a:tblPr>
              <a:tblGrid>
                <a:gridCol w="457200"/>
                <a:gridCol w="2011680"/>
                <a:gridCol w="2011680"/>
                <a:gridCol w="1828800"/>
                <a:gridCol w="914400"/>
                <a:gridCol w="914400"/>
              </a:tblGrid>
              <a:tr h="320040">
                <a:tc>
                  <a:txBody>
                    <a:bodyPr wrap="square"/>
                    <a:lstStyle/>
                    <a:p>
                      <a:pPr>
                        <a:defRPr sz="850" b="1">
                          <a:solidFill>
                            <a:srgbClr val="FFFFFF"/>
                          </a:solidFill>
                          <a:latin typeface="Calibri"/>
                        </a:defRPr>
                      </a:pPr>
                      <a:r>
                        <a:t>Sr.</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26B Feature</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Benefit</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Impact</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Priority</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Mandatory</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1097280">
                <a:tc>
                  <a:txBody>
                    <a:bodyPr wrap="square"/>
                    <a:lstStyle/>
                    <a:p>
                      <a:pPr>
                        <a:defRPr sz="850" b="0">
                          <a:solidFill>
                            <a:srgbClr val="000000"/>
                          </a:solidFill>
                          <a:latin typeface="Calibri"/>
                        </a:defRPr>
                      </a:pPr>
                      <a:r>
                        <a:t>1</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AI Agent: Inventory Task Allocation Assistant</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Tasking helps warehouse managers ensure that operators complete the activities required to keep operations running smoothly. A critical part of this process is ensuring tasks are assigned to the right operators.</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Tasking helps warehouse managers ensure that operators complete the activities required to keep operations running smoothly.</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High</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No</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1097280">
                <a:tc>
                  <a:txBody>
                    <a:bodyPr wrap="square"/>
                    <a:lstStyle/>
                    <a:p>
                      <a:pPr>
                        <a:defRPr sz="850" b="0">
                          <a:solidFill>
                            <a:srgbClr val="000000"/>
                          </a:solidFill>
                          <a:latin typeface="Calibri"/>
                        </a:defRPr>
                      </a:pPr>
                      <a:r>
                        <a:t>2</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Create LPN Reports Using the License Plate Number Real Time Subject Area in OTBI</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License Plate Number (LPN) is a unique identifier assigned to a pallet, bin, or container of goods to track inventory and manage the movement of goods within a warehouse. Using License Plate Number Real Time Subject Area in Oracle Transactional Business Intelligence (OTBI), you can now create...</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License Plate Number (LPN) is a unique identifier assigned to a pallet, bin, or container of goods to track inventory and manage the movement of goods within a warehouse.</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Medium</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Yes</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bl>
          </a:graphicData>
        </a:graphic>
      </p:graphicFrame>
      <p:sp>
        <p:nvSpPr>
          <p:cNvPr id="10" name="TextBox 9"/>
          <p:cNvSpPr txBox="1"/>
          <p:nvPr/>
        </p:nvSpPr>
        <p:spPr>
          <a:xfrm>
            <a:off x="502920" y="3735324"/>
            <a:ext cx="8046720" cy="274320"/>
          </a:xfrm>
          <a:prstGeom prst="rect">
            <a:avLst/>
          </a:prstGeom>
          <a:noFill/>
        </p:spPr>
        <p:txBody>
          <a:bodyPr wrap="none">
            <a:spAutoFit/>
          </a:bodyPr>
          <a:lstStyle/>
          <a:p>
            <a:pPr>
              <a:defRPr sz="800" u="sng">
                <a:solidFill>
                  <a:srgbClr val="0066CC"/>
                </a:solidFill>
              </a:defRPr>
            </a:pPr>
            <a:r>
              <a:t>AI Agent: Inventory Task Allocation Assistant</a:t>
            </a:r>
          </a:p>
        </p:txBody>
      </p:sp>
      <p:sp>
        <p:nvSpPr>
          <p:cNvPr id="11" name="TextBox 10"/>
          <p:cNvSpPr txBox="1"/>
          <p:nvPr/>
        </p:nvSpPr>
        <p:spPr>
          <a:xfrm>
            <a:off x="502920" y="3936492"/>
            <a:ext cx="8046720" cy="274320"/>
          </a:xfrm>
          <a:prstGeom prst="rect">
            <a:avLst/>
          </a:prstGeom>
          <a:noFill/>
        </p:spPr>
        <p:txBody>
          <a:bodyPr wrap="none">
            <a:spAutoFit/>
          </a:bodyPr>
          <a:lstStyle/>
          <a:p>
            <a:pPr>
              <a:defRPr sz="800" u="sng">
                <a:solidFill>
                  <a:srgbClr val="0066CC"/>
                </a:solidFill>
              </a:defRPr>
            </a:pPr>
            <a:r>
              <a:t>Create LPN Reports Using the License Plate Number Real Time Subject Area in OTBI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
          </a:xfrm>
          <a:prstGeom prst="rect">
            <a:avLst/>
          </a:prstGeom>
          <a:solidFill>
            <a:srgbClr val="0099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960620"/>
            <a:ext cx="9144000" cy="182880"/>
          </a:xfrm>
          <a:prstGeom prst="rect">
            <a:avLst/>
          </a:prstGeom>
          <a:solidFill>
            <a:srgbClr val="0099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7269481" y="256032"/>
            <a:ext cx="1508760" cy="384734"/>
          </a:xfrm>
          <a:prstGeom prst="rect">
            <a:avLst/>
          </a:prstGeom>
        </p:spPr>
      </p:pic>
      <p:pic>
        <p:nvPicPr>
          <p:cNvPr id="5" name="Picture 4" descr="tid_logo.png"/>
          <p:cNvPicPr>
            <a:picLocks noChangeAspect="1"/>
          </p:cNvPicPr>
          <p:nvPr/>
        </p:nvPicPr>
        <p:blipFill>
          <a:blip r:embed="rId3"/>
          <a:stretch>
            <a:fillRect/>
          </a:stretch>
        </p:blipFill>
        <p:spPr>
          <a:xfrm>
            <a:off x="4251960" y="4366260"/>
            <a:ext cx="640080" cy="356153"/>
          </a:xfrm>
          <a:prstGeom prst="rect">
            <a:avLst/>
          </a:prstGeom>
        </p:spPr>
      </p:pic>
      <p:sp>
        <p:nvSpPr>
          <p:cNvPr id="6" name="TextBox 5"/>
          <p:cNvSpPr txBox="1"/>
          <p:nvPr/>
        </p:nvSpPr>
        <p:spPr>
          <a:xfrm>
            <a:off x="0" y="4960620"/>
            <a:ext cx="9144000" cy="182880"/>
          </a:xfrm>
          <a:prstGeom prst="rect">
            <a:avLst/>
          </a:prstGeom>
          <a:noFill/>
        </p:spPr>
        <p:txBody>
          <a:bodyPr wrap="none">
            <a:spAutoFit/>
          </a:bodyPr>
          <a:lstStyle/>
          <a:p>
            <a:pPr algn="ctr">
              <a:defRPr sz="500">
                <a:solidFill>
                  <a:srgbClr val="FFFFFF"/>
                </a:solidFill>
              </a:defRPr>
            </a:pPr>
            <a:r>
              <a:t>Oracle Upgrade 26B - Confidential</a:t>
            </a:r>
          </a:p>
        </p:txBody>
      </p:sp>
      <p:sp>
        <p:nvSpPr>
          <p:cNvPr id="7" name="TextBox 6"/>
          <p:cNvSpPr txBox="1"/>
          <p:nvPr/>
        </p:nvSpPr>
        <p:spPr>
          <a:xfrm>
            <a:off x="8686800" y="4960620"/>
            <a:ext cx="0" cy="182880"/>
          </a:xfrm>
          <a:prstGeom prst="rect">
            <a:avLst/>
          </a:prstGeom>
          <a:noFill/>
        </p:spPr>
        <p:txBody>
          <a:bodyPr wrap="none">
            <a:spAutoFit/>
          </a:bodyPr>
          <a:lstStyle/>
          <a:p>
            <a:pPr algn="r">
              <a:defRPr sz="600">
                <a:solidFill>
                  <a:srgbClr val="FFFFFF"/>
                </a:solidFill>
              </a:defRPr>
            </a:pPr>
            <a:r>
              <a:t>5</a:t>
            </a:r>
          </a:p>
        </p:txBody>
      </p:sp>
      <p:sp>
        <p:nvSpPr>
          <p:cNvPr id="8" name="TextBox 7"/>
          <p:cNvSpPr txBox="1"/>
          <p:nvPr/>
        </p:nvSpPr>
        <p:spPr>
          <a:xfrm>
            <a:off x="384048" y="438912"/>
            <a:ext cx="5669280" cy="320040"/>
          </a:xfrm>
          <a:prstGeom prst="rect">
            <a:avLst/>
          </a:prstGeom>
          <a:noFill/>
        </p:spPr>
        <p:txBody>
          <a:bodyPr wrap="square">
            <a:spAutoFit/>
          </a:bodyPr>
          <a:lstStyle/>
          <a:p>
            <a:pPr algn="l">
              <a:defRPr sz="1600" b="1">
                <a:solidFill>
                  <a:srgbClr val="000000"/>
                </a:solidFill>
                <a:latin typeface="Calibri"/>
              </a:defRPr>
            </a:pPr>
            <a:r>
              <a:t>Advanced Inventory Management (2/2)</a:t>
            </a:r>
          </a:p>
        </p:txBody>
      </p:sp>
      <p:graphicFrame>
        <p:nvGraphicFramePr>
          <p:cNvPr id="9" name="Table 8"/>
          <p:cNvGraphicFramePr>
            <a:graphicFrameLocks noGrp="1"/>
          </p:cNvGraphicFramePr>
          <p:nvPr/>
        </p:nvGraphicFramePr>
        <p:xfrm>
          <a:off x="384048" y="914400"/>
          <a:ext cx="8138160" cy="1417320"/>
        </p:xfrm>
        <a:graphic>
          <a:graphicData uri="http://schemas.openxmlformats.org/drawingml/2006/table">
            <a:tbl>
              <a:tblPr firstRow="1" bandRow="1">
                <a:tableStyleId>{5C22544A-7EE6-4342-B048-85BDC9FD1C3A}</a:tableStyleId>
              </a:tblPr>
              <a:tblGrid>
                <a:gridCol w="457200"/>
                <a:gridCol w="2011680"/>
                <a:gridCol w="2011680"/>
                <a:gridCol w="1828800"/>
                <a:gridCol w="914400"/>
                <a:gridCol w="914400"/>
              </a:tblGrid>
              <a:tr h="320040">
                <a:tc>
                  <a:txBody>
                    <a:bodyPr wrap="square"/>
                    <a:lstStyle/>
                    <a:p>
                      <a:pPr>
                        <a:defRPr sz="850" b="1">
                          <a:solidFill>
                            <a:srgbClr val="FFFFFF"/>
                          </a:solidFill>
                          <a:latin typeface="Calibri"/>
                        </a:defRPr>
                      </a:pPr>
                      <a:r>
                        <a:t>Sr.</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26B Feature</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Benefit</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Impact</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Priority</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Mandatory</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1097280">
                <a:tc>
                  <a:txBody>
                    <a:bodyPr wrap="square"/>
                    <a:lstStyle/>
                    <a:p>
                      <a:pPr>
                        <a:defRPr sz="850" b="0">
                          <a:solidFill>
                            <a:srgbClr val="000000"/>
                          </a:solidFill>
                          <a:latin typeface="Calibri"/>
                        </a:defRPr>
                      </a:pPr>
                      <a:r>
                        <a:t>3</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Redwood: Deliver to Multiple Locations with Robotic Material Handling Equipment Using a Single Cart</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Healthcare providers often have multiple PAR locations in close proximity to each other, and delivering replenishment orders to all of these locations at the same time helps optimize the replenishment process. This approach reduces foot traffic and minimizes the number of trips required to restock...</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Healthcare providers often have multiple PAR locations in close proximity to each other, and delivering replenishment orders to all of these locations at the same time helps optimize the replenishment process.</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High</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No</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bl>
          </a:graphicData>
        </a:graphic>
      </p:graphicFrame>
      <p:sp>
        <p:nvSpPr>
          <p:cNvPr id="10" name="TextBox 9"/>
          <p:cNvSpPr txBox="1"/>
          <p:nvPr/>
        </p:nvSpPr>
        <p:spPr>
          <a:xfrm>
            <a:off x="502920" y="3936492"/>
            <a:ext cx="8046720" cy="274320"/>
          </a:xfrm>
          <a:prstGeom prst="rect">
            <a:avLst/>
          </a:prstGeom>
          <a:noFill/>
        </p:spPr>
        <p:txBody>
          <a:bodyPr wrap="none">
            <a:spAutoFit/>
          </a:bodyPr>
          <a:lstStyle/>
          <a:p>
            <a:pPr>
              <a:defRPr sz="800" u="sng">
                <a:solidFill>
                  <a:srgbClr val="0066CC"/>
                </a:solidFill>
              </a:defRPr>
            </a:pPr>
            <a:r>
              <a:t>Redwood: Deliver to Multiple Locations with Robotic Material Handling Equipment Using a Single Cart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
          </a:xfrm>
          <a:prstGeom prst="rect">
            <a:avLst/>
          </a:prstGeom>
          <a:solidFill>
            <a:srgbClr val="0099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960620"/>
            <a:ext cx="9144000" cy="182880"/>
          </a:xfrm>
          <a:prstGeom prst="rect">
            <a:avLst/>
          </a:prstGeom>
          <a:solidFill>
            <a:srgbClr val="0099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7269481" y="256032"/>
            <a:ext cx="1508760" cy="384734"/>
          </a:xfrm>
          <a:prstGeom prst="rect">
            <a:avLst/>
          </a:prstGeom>
        </p:spPr>
      </p:pic>
      <p:pic>
        <p:nvPicPr>
          <p:cNvPr id="5" name="Picture 4" descr="tid_logo.png"/>
          <p:cNvPicPr>
            <a:picLocks noChangeAspect="1"/>
          </p:cNvPicPr>
          <p:nvPr/>
        </p:nvPicPr>
        <p:blipFill>
          <a:blip r:embed="rId3"/>
          <a:stretch>
            <a:fillRect/>
          </a:stretch>
        </p:blipFill>
        <p:spPr>
          <a:xfrm>
            <a:off x="4251960" y="4366260"/>
            <a:ext cx="640080" cy="356153"/>
          </a:xfrm>
          <a:prstGeom prst="rect">
            <a:avLst/>
          </a:prstGeom>
        </p:spPr>
      </p:pic>
      <p:sp>
        <p:nvSpPr>
          <p:cNvPr id="6" name="TextBox 5"/>
          <p:cNvSpPr txBox="1"/>
          <p:nvPr/>
        </p:nvSpPr>
        <p:spPr>
          <a:xfrm>
            <a:off x="0" y="4960620"/>
            <a:ext cx="9144000" cy="182880"/>
          </a:xfrm>
          <a:prstGeom prst="rect">
            <a:avLst/>
          </a:prstGeom>
          <a:noFill/>
        </p:spPr>
        <p:txBody>
          <a:bodyPr wrap="none">
            <a:spAutoFit/>
          </a:bodyPr>
          <a:lstStyle/>
          <a:p>
            <a:pPr algn="ctr">
              <a:defRPr sz="500">
                <a:solidFill>
                  <a:srgbClr val="FFFFFF"/>
                </a:solidFill>
              </a:defRPr>
            </a:pPr>
            <a:r>
              <a:t>Oracle Upgrade 26B - Confidential</a:t>
            </a:r>
          </a:p>
        </p:txBody>
      </p:sp>
      <p:sp>
        <p:nvSpPr>
          <p:cNvPr id="7" name="TextBox 6"/>
          <p:cNvSpPr txBox="1"/>
          <p:nvPr/>
        </p:nvSpPr>
        <p:spPr>
          <a:xfrm>
            <a:off x="8686800" y="4960620"/>
            <a:ext cx="0" cy="182880"/>
          </a:xfrm>
          <a:prstGeom prst="rect">
            <a:avLst/>
          </a:prstGeom>
          <a:noFill/>
        </p:spPr>
        <p:txBody>
          <a:bodyPr wrap="none">
            <a:spAutoFit/>
          </a:bodyPr>
          <a:lstStyle/>
          <a:p>
            <a:pPr algn="r">
              <a:defRPr sz="600">
                <a:solidFill>
                  <a:srgbClr val="FFFFFF"/>
                </a:solidFill>
              </a:defRPr>
            </a:pPr>
            <a:r>
              <a:t>6</a:t>
            </a:r>
          </a:p>
        </p:txBody>
      </p:sp>
      <p:sp>
        <p:nvSpPr>
          <p:cNvPr id="8" name="TextBox 7"/>
          <p:cNvSpPr txBox="1"/>
          <p:nvPr/>
        </p:nvSpPr>
        <p:spPr>
          <a:xfrm>
            <a:off x="384048" y="438912"/>
            <a:ext cx="5669280" cy="320040"/>
          </a:xfrm>
          <a:prstGeom prst="rect">
            <a:avLst/>
          </a:prstGeom>
          <a:noFill/>
        </p:spPr>
        <p:txBody>
          <a:bodyPr wrap="square">
            <a:spAutoFit/>
          </a:bodyPr>
          <a:lstStyle/>
          <a:p>
            <a:pPr algn="l">
              <a:defRPr sz="1600" b="1">
                <a:solidFill>
                  <a:srgbClr val="000000"/>
                </a:solidFill>
                <a:latin typeface="Calibri"/>
              </a:defRPr>
            </a:pPr>
            <a:r>
              <a:t>Collaboration Messaging (1/3)</a:t>
            </a:r>
          </a:p>
        </p:txBody>
      </p:sp>
      <p:graphicFrame>
        <p:nvGraphicFramePr>
          <p:cNvPr id="9" name="Table 8"/>
          <p:cNvGraphicFramePr>
            <a:graphicFrameLocks noGrp="1"/>
          </p:cNvGraphicFramePr>
          <p:nvPr/>
        </p:nvGraphicFramePr>
        <p:xfrm>
          <a:off x="384048" y="914400"/>
          <a:ext cx="8138160" cy="2514600"/>
        </p:xfrm>
        <a:graphic>
          <a:graphicData uri="http://schemas.openxmlformats.org/drawingml/2006/table">
            <a:tbl>
              <a:tblPr firstRow="1" bandRow="1">
                <a:tableStyleId>{5C22544A-7EE6-4342-B048-85BDC9FD1C3A}</a:tableStyleId>
              </a:tblPr>
              <a:tblGrid>
                <a:gridCol w="457200"/>
                <a:gridCol w="2011680"/>
                <a:gridCol w="2011680"/>
                <a:gridCol w="1828800"/>
                <a:gridCol w="914400"/>
                <a:gridCol w="914400"/>
              </a:tblGrid>
              <a:tr h="320040">
                <a:tc>
                  <a:txBody>
                    <a:bodyPr wrap="square"/>
                    <a:lstStyle/>
                    <a:p>
                      <a:pPr>
                        <a:defRPr sz="850" b="1">
                          <a:solidFill>
                            <a:srgbClr val="FFFFFF"/>
                          </a:solidFill>
                          <a:latin typeface="Calibri"/>
                        </a:defRPr>
                      </a:pPr>
                      <a:r>
                        <a:t>Sr.</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26B Feature</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Benefit</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Impact</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Priority</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Mandatory</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1097280">
                <a:tc>
                  <a:txBody>
                    <a:bodyPr wrap="square"/>
                    <a:lstStyle/>
                    <a:p>
                      <a:pPr>
                        <a:defRPr sz="850" b="0">
                          <a:solidFill>
                            <a:srgbClr val="000000"/>
                          </a:solidFill>
                          <a:latin typeface="Calibri"/>
                        </a:defRPr>
                      </a:pPr>
                      <a:r>
                        <a:t>1</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AI Agent: B2B Message Converter - Enrich Workflow Features Along with Upload and Download Capabilities</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You can use the B2B Message Converter AI agent to streamline the conversion of B2B messages such as purchase orders and shipments from a Fusion Application REST resource into industry-standard formats, including OAG 7.2.1, OAGIS 10.1, and cXML 1.2.007. Users can now perform a complete sequence of...</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You can use the B2B Message Converter AI agent to streamline the conversion of B2B messages such as purchase orders and shipments from a Fusion Application REST resource into industry-standard formats, including OAG 7.2.1, OAGIS 10.1, and cXML 1.2.007.</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High</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No</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1097280">
                <a:tc>
                  <a:txBody>
                    <a:bodyPr wrap="square"/>
                    <a:lstStyle/>
                    <a:p>
                      <a:pPr>
                        <a:defRPr sz="850" b="0">
                          <a:solidFill>
                            <a:srgbClr val="000000"/>
                          </a:solidFill>
                          <a:latin typeface="Calibri"/>
                        </a:defRPr>
                      </a:pPr>
                      <a:r>
                        <a:t>2</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Redwood: Configure Collaboration Messaging</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You can now use a Redwood page to configure parameter values that control how Collaboration Messaging processes outbound and inbound messages. These are the parameters that can be defined on the page:</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You can now use a Redwood page to configure parameter values that control how Collaboration Messaging processes outbound and inbound messages.</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High</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No</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bl>
          </a:graphicData>
        </a:graphic>
      </p:graphicFrame>
      <p:sp>
        <p:nvSpPr>
          <p:cNvPr id="10" name="TextBox 9"/>
          <p:cNvSpPr txBox="1"/>
          <p:nvPr/>
        </p:nvSpPr>
        <p:spPr>
          <a:xfrm>
            <a:off x="502920" y="3735324"/>
            <a:ext cx="8046720" cy="274320"/>
          </a:xfrm>
          <a:prstGeom prst="rect">
            <a:avLst/>
          </a:prstGeom>
          <a:noFill/>
        </p:spPr>
        <p:txBody>
          <a:bodyPr wrap="none">
            <a:spAutoFit/>
          </a:bodyPr>
          <a:lstStyle/>
          <a:p>
            <a:pPr>
              <a:defRPr sz="800" u="sng">
                <a:solidFill>
                  <a:srgbClr val="0066CC"/>
                </a:solidFill>
              </a:defRPr>
            </a:pPr>
            <a:r>
              <a:t>AI Agent: B2B Message Converter - Enrich Workflow Features Along with Upload and Download Capabilities</a:t>
            </a:r>
          </a:p>
        </p:txBody>
      </p:sp>
      <p:sp>
        <p:nvSpPr>
          <p:cNvPr id="11" name="TextBox 10"/>
          <p:cNvSpPr txBox="1"/>
          <p:nvPr/>
        </p:nvSpPr>
        <p:spPr>
          <a:xfrm>
            <a:off x="502920" y="3936492"/>
            <a:ext cx="8046720" cy="274320"/>
          </a:xfrm>
          <a:prstGeom prst="rect">
            <a:avLst/>
          </a:prstGeom>
          <a:noFill/>
        </p:spPr>
        <p:txBody>
          <a:bodyPr wrap="none">
            <a:spAutoFit/>
          </a:bodyPr>
          <a:lstStyle/>
          <a:p>
            <a:pPr>
              <a:defRPr sz="800" u="sng">
                <a:solidFill>
                  <a:srgbClr val="0066CC"/>
                </a:solidFill>
              </a:defRPr>
            </a:pPr>
            <a:r>
              <a:t>Redwood: Configure Collaboration Messaging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
          </a:xfrm>
          <a:prstGeom prst="rect">
            <a:avLst/>
          </a:prstGeom>
          <a:solidFill>
            <a:srgbClr val="0099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960620"/>
            <a:ext cx="9144000" cy="182880"/>
          </a:xfrm>
          <a:prstGeom prst="rect">
            <a:avLst/>
          </a:prstGeom>
          <a:solidFill>
            <a:srgbClr val="0099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7269481" y="256032"/>
            <a:ext cx="1508760" cy="384734"/>
          </a:xfrm>
          <a:prstGeom prst="rect">
            <a:avLst/>
          </a:prstGeom>
        </p:spPr>
      </p:pic>
      <p:pic>
        <p:nvPicPr>
          <p:cNvPr id="5" name="Picture 4" descr="tid_logo.png"/>
          <p:cNvPicPr>
            <a:picLocks noChangeAspect="1"/>
          </p:cNvPicPr>
          <p:nvPr/>
        </p:nvPicPr>
        <p:blipFill>
          <a:blip r:embed="rId3"/>
          <a:stretch>
            <a:fillRect/>
          </a:stretch>
        </p:blipFill>
        <p:spPr>
          <a:xfrm>
            <a:off x="4251960" y="4366260"/>
            <a:ext cx="640080" cy="356153"/>
          </a:xfrm>
          <a:prstGeom prst="rect">
            <a:avLst/>
          </a:prstGeom>
        </p:spPr>
      </p:pic>
      <p:sp>
        <p:nvSpPr>
          <p:cNvPr id="6" name="TextBox 5"/>
          <p:cNvSpPr txBox="1"/>
          <p:nvPr/>
        </p:nvSpPr>
        <p:spPr>
          <a:xfrm>
            <a:off x="0" y="4960620"/>
            <a:ext cx="9144000" cy="182880"/>
          </a:xfrm>
          <a:prstGeom prst="rect">
            <a:avLst/>
          </a:prstGeom>
          <a:noFill/>
        </p:spPr>
        <p:txBody>
          <a:bodyPr wrap="none">
            <a:spAutoFit/>
          </a:bodyPr>
          <a:lstStyle/>
          <a:p>
            <a:pPr algn="ctr">
              <a:defRPr sz="500">
                <a:solidFill>
                  <a:srgbClr val="FFFFFF"/>
                </a:solidFill>
              </a:defRPr>
            </a:pPr>
            <a:r>
              <a:t>Oracle Upgrade 26B - Confidential</a:t>
            </a:r>
          </a:p>
        </p:txBody>
      </p:sp>
      <p:sp>
        <p:nvSpPr>
          <p:cNvPr id="7" name="TextBox 6"/>
          <p:cNvSpPr txBox="1"/>
          <p:nvPr/>
        </p:nvSpPr>
        <p:spPr>
          <a:xfrm>
            <a:off x="8686800" y="4960620"/>
            <a:ext cx="0" cy="182880"/>
          </a:xfrm>
          <a:prstGeom prst="rect">
            <a:avLst/>
          </a:prstGeom>
          <a:noFill/>
        </p:spPr>
        <p:txBody>
          <a:bodyPr wrap="none">
            <a:spAutoFit/>
          </a:bodyPr>
          <a:lstStyle/>
          <a:p>
            <a:pPr algn="r">
              <a:defRPr sz="600">
                <a:solidFill>
                  <a:srgbClr val="FFFFFF"/>
                </a:solidFill>
              </a:defRPr>
            </a:pPr>
            <a:r>
              <a:t>7</a:t>
            </a:r>
          </a:p>
        </p:txBody>
      </p:sp>
      <p:sp>
        <p:nvSpPr>
          <p:cNvPr id="8" name="TextBox 7"/>
          <p:cNvSpPr txBox="1"/>
          <p:nvPr/>
        </p:nvSpPr>
        <p:spPr>
          <a:xfrm>
            <a:off x="384048" y="438912"/>
            <a:ext cx="5669280" cy="320040"/>
          </a:xfrm>
          <a:prstGeom prst="rect">
            <a:avLst/>
          </a:prstGeom>
          <a:noFill/>
        </p:spPr>
        <p:txBody>
          <a:bodyPr wrap="square">
            <a:spAutoFit/>
          </a:bodyPr>
          <a:lstStyle/>
          <a:p>
            <a:pPr algn="l">
              <a:defRPr sz="1600" b="1">
                <a:solidFill>
                  <a:srgbClr val="000000"/>
                </a:solidFill>
                <a:latin typeface="Calibri"/>
              </a:defRPr>
            </a:pPr>
            <a:r>
              <a:t>Collaboration Messaging (2/3)</a:t>
            </a:r>
          </a:p>
        </p:txBody>
      </p:sp>
      <p:graphicFrame>
        <p:nvGraphicFramePr>
          <p:cNvPr id="9" name="Table 8"/>
          <p:cNvGraphicFramePr>
            <a:graphicFrameLocks noGrp="1"/>
          </p:cNvGraphicFramePr>
          <p:nvPr/>
        </p:nvGraphicFramePr>
        <p:xfrm>
          <a:off x="384048" y="914400"/>
          <a:ext cx="8138160" cy="2514600"/>
        </p:xfrm>
        <a:graphic>
          <a:graphicData uri="http://schemas.openxmlformats.org/drawingml/2006/table">
            <a:tbl>
              <a:tblPr firstRow="1" bandRow="1">
                <a:tableStyleId>{5C22544A-7EE6-4342-B048-85BDC9FD1C3A}</a:tableStyleId>
              </a:tblPr>
              <a:tblGrid>
                <a:gridCol w="457200"/>
                <a:gridCol w="2011680"/>
                <a:gridCol w="2011680"/>
                <a:gridCol w="1828800"/>
                <a:gridCol w="914400"/>
                <a:gridCol w="914400"/>
              </a:tblGrid>
              <a:tr h="320040">
                <a:tc>
                  <a:txBody>
                    <a:bodyPr wrap="square"/>
                    <a:lstStyle/>
                    <a:p>
                      <a:pPr>
                        <a:defRPr sz="850" b="1">
                          <a:solidFill>
                            <a:srgbClr val="FFFFFF"/>
                          </a:solidFill>
                          <a:latin typeface="Calibri"/>
                        </a:defRPr>
                      </a:pPr>
                      <a:r>
                        <a:t>Sr.</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26B Feature</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Benefit</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Impact</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Priority</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Mandatory</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1097280">
                <a:tc>
                  <a:txBody>
                    <a:bodyPr wrap="square"/>
                    <a:lstStyle/>
                    <a:p>
                      <a:pPr>
                        <a:defRPr sz="850" b="0">
                          <a:solidFill>
                            <a:srgbClr val="000000"/>
                          </a:solidFill>
                          <a:latin typeface="Calibri"/>
                        </a:defRPr>
                      </a:pPr>
                      <a:r>
                        <a:t>3</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Redwood: Define Processing Rules for B2B Messages</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Set up message processing rules to automatically modify inbound messages to meet your enterprise-specific collaboration requirements. You can now set default values or set fields as required, all without complex development.</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Set up message processing rules to automatically modify inbound messages to meet your enterprise-specific collaboration requirements.</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High</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No</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1097280">
                <a:tc>
                  <a:txBody>
                    <a:bodyPr wrap="square"/>
                    <a:lstStyle/>
                    <a:p>
                      <a:pPr>
                        <a:defRPr sz="850" b="0">
                          <a:solidFill>
                            <a:srgbClr val="000000"/>
                          </a:solidFill>
                          <a:latin typeface="Calibri"/>
                        </a:defRPr>
                      </a:pPr>
                      <a:r>
                        <a:t>4</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Redwood: Override Inbound Message Definitions</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You can now override a service provider’s inbound message definition to customize how messages received from a particular trading partner are processed. Instead of using the default inbound message definition set by the service provider, you can define alternate formats, standards, or data mappings...</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You can now override a service provider’s inbound message definition to customize how messages received from a particular trading partner are processed.</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High</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No</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bl>
          </a:graphicData>
        </a:graphic>
      </p:graphicFrame>
      <p:sp>
        <p:nvSpPr>
          <p:cNvPr id="10" name="TextBox 9"/>
          <p:cNvSpPr txBox="1"/>
          <p:nvPr/>
        </p:nvSpPr>
        <p:spPr>
          <a:xfrm>
            <a:off x="502920" y="3735324"/>
            <a:ext cx="8046720" cy="274320"/>
          </a:xfrm>
          <a:prstGeom prst="rect">
            <a:avLst/>
          </a:prstGeom>
          <a:noFill/>
        </p:spPr>
        <p:txBody>
          <a:bodyPr wrap="none">
            <a:spAutoFit/>
          </a:bodyPr>
          <a:lstStyle/>
          <a:p>
            <a:pPr>
              <a:defRPr sz="800" u="sng">
                <a:solidFill>
                  <a:srgbClr val="0066CC"/>
                </a:solidFill>
              </a:defRPr>
            </a:pPr>
            <a:r>
              <a:t>Redwood: Define Processing Rules for B2B Messages</a:t>
            </a:r>
          </a:p>
        </p:txBody>
      </p:sp>
      <p:sp>
        <p:nvSpPr>
          <p:cNvPr id="11" name="TextBox 10"/>
          <p:cNvSpPr txBox="1"/>
          <p:nvPr/>
        </p:nvSpPr>
        <p:spPr>
          <a:xfrm>
            <a:off x="502920" y="3936492"/>
            <a:ext cx="8046720" cy="274320"/>
          </a:xfrm>
          <a:prstGeom prst="rect">
            <a:avLst/>
          </a:prstGeom>
          <a:noFill/>
        </p:spPr>
        <p:txBody>
          <a:bodyPr wrap="none">
            <a:spAutoFit/>
          </a:bodyPr>
          <a:lstStyle/>
          <a:p>
            <a:pPr>
              <a:defRPr sz="800" u="sng">
                <a:solidFill>
                  <a:srgbClr val="0066CC"/>
                </a:solidFill>
              </a:defRPr>
            </a:pPr>
            <a:r>
              <a:t>Redwood: Override Inbound Message Definitions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
          </a:xfrm>
          <a:prstGeom prst="rect">
            <a:avLst/>
          </a:prstGeom>
          <a:solidFill>
            <a:srgbClr val="0099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960620"/>
            <a:ext cx="9144000" cy="182880"/>
          </a:xfrm>
          <a:prstGeom prst="rect">
            <a:avLst/>
          </a:prstGeom>
          <a:solidFill>
            <a:srgbClr val="0099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7269481" y="256032"/>
            <a:ext cx="1508760" cy="384734"/>
          </a:xfrm>
          <a:prstGeom prst="rect">
            <a:avLst/>
          </a:prstGeom>
        </p:spPr>
      </p:pic>
      <p:pic>
        <p:nvPicPr>
          <p:cNvPr id="5" name="Picture 4" descr="tid_logo.png"/>
          <p:cNvPicPr>
            <a:picLocks noChangeAspect="1"/>
          </p:cNvPicPr>
          <p:nvPr/>
        </p:nvPicPr>
        <p:blipFill>
          <a:blip r:embed="rId3"/>
          <a:stretch>
            <a:fillRect/>
          </a:stretch>
        </p:blipFill>
        <p:spPr>
          <a:xfrm>
            <a:off x="4251960" y="4366260"/>
            <a:ext cx="640080" cy="356153"/>
          </a:xfrm>
          <a:prstGeom prst="rect">
            <a:avLst/>
          </a:prstGeom>
        </p:spPr>
      </p:pic>
      <p:sp>
        <p:nvSpPr>
          <p:cNvPr id="6" name="TextBox 5"/>
          <p:cNvSpPr txBox="1"/>
          <p:nvPr/>
        </p:nvSpPr>
        <p:spPr>
          <a:xfrm>
            <a:off x="0" y="4960620"/>
            <a:ext cx="9144000" cy="182880"/>
          </a:xfrm>
          <a:prstGeom prst="rect">
            <a:avLst/>
          </a:prstGeom>
          <a:noFill/>
        </p:spPr>
        <p:txBody>
          <a:bodyPr wrap="none">
            <a:spAutoFit/>
          </a:bodyPr>
          <a:lstStyle/>
          <a:p>
            <a:pPr algn="ctr">
              <a:defRPr sz="500">
                <a:solidFill>
                  <a:srgbClr val="FFFFFF"/>
                </a:solidFill>
              </a:defRPr>
            </a:pPr>
            <a:r>
              <a:t>Oracle Upgrade 26B - Confidential</a:t>
            </a:r>
          </a:p>
        </p:txBody>
      </p:sp>
      <p:sp>
        <p:nvSpPr>
          <p:cNvPr id="7" name="TextBox 6"/>
          <p:cNvSpPr txBox="1"/>
          <p:nvPr/>
        </p:nvSpPr>
        <p:spPr>
          <a:xfrm>
            <a:off x="8686800" y="4960620"/>
            <a:ext cx="0" cy="182880"/>
          </a:xfrm>
          <a:prstGeom prst="rect">
            <a:avLst/>
          </a:prstGeom>
          <a:noFill/>
        </p:spPr>
        <p:txBody>
          <a:bodyPr wrap="none">
            <a:spAutoFit/>
          </a:bodyPr>
          <a:lstStyle/>
          <a:p>
            <a:pPr algn="r">
              <a:defRPr sz="600">
                <a:solidFill>
                  <a:srgbClr val="FFFFFF"/>
                </a:solidFill>
              </a:defRPr>
            </a:pPr>
            <a:r>
              <a:t>8</a:t>
            </a:r>
          </a:p>
        </p:txBody>
      </p:sp>
      <p:sp>
        <p:nvSpPr>
          <p:cNvPr id="8" name="TextBox 7"/>
          <p:cNvSpPr txBox="1"/>
          <p:nvPr/>
        </p:nvSpPr>
        <p:spPr>
          <a:xfrm>
            <a:off x="384048" y="438912"/>
            <a:ext cx="5669280" cy="320040"/>
          </a:xfrm>
          <a:prstGeom prst="rect">
            <a:avLst/>
          </a:prstGeom>
          <a:noFill/>
        </p:spPr>
        <p:txBody>
          <a:bodyPr wrap="square">
            <a:spAutoFit/>
          </a:bodyPr>
          <a:lstStyle/>
          <a:p>
            <a:pPr algn="l">
              <a:defRPr sz="1600" b="1">
                <a:solidFill>
                  <a:srgbClr val="000000"/>
                </a:solidFill>
                <a:latin typeface="Calibri"/>
              </a:defRPr>
            </a:pPr>
            <a:r>
              <a:t>Collaboration Messaging (3/3)</a:t>
            </a:r>
          </a:p>
        </p:txBody>
      </p:sp>
      <p:graphicFrame>
        <p:nvGraphicFramePr>
          <p:cNvPr id="9" name="Table 8"/>
          <p:cNvGraphicFramePr>
            <a:graphicFrameLocks noGrp="1"/>
          </p:cNvGraphicFramePr>
          <p:nvPr/>
        </p:nvGraphicFramePr>
        <p:xfrm>
          <a:off x="384048" y="914400"/>
          <a:ext cx="8138160" cy="2514600"/>
        </p:xfrm>
        <a:graphic>
          <a:graphicData uri="http://schemas.openxmlformats.org/drawingml/2006/table">
            <a:tbl>
              <a:tblPr firstRow="1" bandRow="1">
                <a:tableStyleId>{5C22544A-7EE6-4342-B048-85BDC9FD1C3A}</a:tableStyleId>
              </a:tblPr>
              <a:tblGrid>
                <a:gridCol w="457200"/>
                <a:gridCol w="2011680"/>
                <a:gridCol w="2011680"/>
                <a:gridCol w="1828800"/>
                <a:gridCol w="914400"/>
                <a:gridCol w="914400"/>
              </a:tblGrid>
              <a:tr h="320040">
                <a:tc>
                  <a:txBody>
                    <a:bodyPr wrap="square"/>
                    <a:lstStyle/>
                    <a:p>
                      <a:pPr>
                        <a:defRPr sz="850" b="1">
                          <a:solidFill>
                            <a:srgbClr val="FFFFFF"/>
                          </a:solidFill>
                          <a:latin typeface="Calibri"/>
                        </a:defRPr>
                      </a:pPr>
                      <a:r>
                        <a:t>Sr.</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26B Feature</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Benefit</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Impact</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Priority</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Mandatory</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1097280">
                <a:tc>
                  <a:txBody>
                    <a:bodyPr wrap="square"/>
                    <a:lstStyle/>
                    <a:p>
                      <a:pPr>
                        <a:defRPr sz="850" b="0">
                          <a:solidFill>
                            <a:srgbClr val="000000"/>
                          </a:solidFill>
                          <a:latin typeface="Calibri"/>
                        </a:defRPr>
                      </a:pPr>
                      <a:r>
                        <a:t>5</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Redwood: Receive an Order from Oracle Configure, Price, Quote (CPQ)</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Use the new predefined Oracle CPQ message definition Oracle-1-0-A2A-CPQ-Quote-In to receive quote messages from Oracle CPQ and seamlessly transform them into the appropriate payload format required by Fusion Order Management for order ingestion. You can now send status update notifications about...</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Use the new predefined Oracle CPQ message definition Oracle-1-0-A2A-CPQ-Quote-In to receive quote messages from Oracle CPQ and seamlessly transform them into the appropriate payload format required by Fusion Order Management for order ingestion.</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High</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No</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1097280">
                <a:tc>
                  <a:txBody>
                    <a:bodyPr wrap="square"/>
                    <a:lstStyle/>
                    <a:p>
                      <a:pPr>
                        <a:defRPr sz="850" b="0">
                          <a:solidFill>
                            <a:srgbClr val="000000"/>
                          </a:solidFill>
                          <a:latin typeface="Calibri"/>
                        </a:defRPr>
                      </a:pPr>
                      <a:r>
                        <a:t>6</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Redwood: Set up Supplier and Customer Collaboration Messaging Using a Redwood Page</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Use the B2B Documents task to set up default B2B connections for outbound order forecasts and supply forecasts. Collaboration messaging can now use the default settings to route messages, eliminating the need to configure connection details for each customer and supplier.</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Use the B2B Documents task to set up default B2B connections for outbound order forecasts and supply forecasts.</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High</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No</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bl>
          </a:graphicData>
        </a:graphic>
      </p:graphicFrame>
      <p:sp>
        <p:nvSpPr>
          <p:cNvPr id="10" name="TextBox 9"/>
          <p:cNvSpPr txBox="1"/>
          <p:nvPr/>
        </p:nvSpPr>
        <p:spPr>
          <a:xfrm>
            <a:off x="502920" y="3735324"/>
            <a:ext cx="8046720" cy="274320"/>
          </a:xfrm>
          <a:prstGeom prst="rect">
            <a:avLst/>
          </a:prstGeom>
          <a:noFill/>
        </p:spPr>
        <p:txBody>
          <a:bodyPr wrap="none">
            <a:spAutoFit/>
          </a:bodyPr>
          <a:lstStyle/>
          <a:p>
            <a:pPr>
              <a:defRPr sz="800" u="sng">
                <a:solidFill>
                  <a:srgbClr val="0066CC"/>
                </a:solidFill>
              </a:defRPr>
            </a:pPr>
            <a:r>
              <a:t>Redwood: Receive an Order from Oracle Configure, Price, Quote (CPQ)</a:t>
            </a:r>
          </a:p>
        </p:txBody>
      </p:sp>
      <p:sp>
        <p:nvSpPr>
          <p:cNvPr id="11" name="TextBox 10"/>
          <p:cNvSpPr txBox="1"/>
          <p:nvPr/>
        </p:nvSpPr>
        <p:spPr>
          <a:xfrm>
            <a:off x="502920" y="3936492"/>
            <a:ext cx="8046720" cy="274320"/>
          </a:xfrm>
          <a:prstGeom prst="rect">
            <a:avLst/>
          </a:prstGeom>
          <a:noFill/>
        </p:spPr>
        <p:txBody>
          <a:bodyPr wrap="none">
            <a:spAutoFit/>
          </a:bodyPr>
          <a:lstStyle/>
          <a:p>
            <a:pPr>
              <a:defRPr sz="800" u="sng">
                <a:solidFill>
                  <a:srgbClr val="0066CC"/>
                </a:solidFill>
              </a:defRPr>
            </a:pPr>
            <a:r>
              <a:t>Redwood: Set up Supplier and Customer Collaboration Messaging Using a Redwood Page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
          </a:xfrm>
          <a:prstGeom prst="rect">
            <a:avLst/>
          </a:prstGeom>
          <a:solidFill>
            <a:srgbClr val="0099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960620"/>
            <a:ext cx="9144000" cy="182880"/>
          </a:xfrm>
          <a:prstGeom prst="rect">
            <a:avLst/>
          </a:prstGeom>
          <a:solidFill>
            <a:srgbClr val="0099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7269481" y="256032"/>
            <a:ext cx="1508760" cy="384734"/>
          </a:xfrm>
          <a:prstGeom prst="rect">
            <a:avLst/>
          </a:prstGeom>
        </p:spPr>
      </p:pic>
      <p:pic>
        <p:nvPicPr>
          <p:cNvPr id="5" name="Picture 4" descr="tid_logo.png"/>
          <p:cNvPicPr>
            <a:picLocks noChangeAspect="1"/>
          </p:cNvPicPr>
          <p:nvPr/>
        </p:nvPicPr>
        <p:blipFill>
          <a:blip r:embed="rId3"/>
          <a:stretch>
            <a:fillRect/>
          </a:stretch>
        </p:blipFill>
        <p:spPr>
          <a:xfrm>
            <a:off x="4251960" y="4366260"/>
            <a:ext cx="640080" cy="356153"/>
          </a:xfrm>
          <a:prstGeom prst="rect">
            <a:avLst/>
          </a:prstGeom>
        </p:spPr>
      </p:pic>
      <p:sp>
        <p:nvSpPr>
          <p:cNvPr id="6" name="TextBox 5"/>
          <p:cNvSpPr txBox="1"/>
          <p:nvPr/>
        </p:nvSpPr>
        <p:spPr>
          <a:xfrm>
            <a:off x="0" y="4960620"/>
            <a:ext cx="9144000" cy="182880"/>
          </a:xfrm>
          <a:prstGeom prst="rect">
            <a:avLst/>
          </a:prstGeom>
          <a:noFill/>
        </p:spPr>
        <p:txBody>
          <a:bodyPr wrap="none">
            <a:spAutoFit/>
          </a:bodyPr>
          <a:lstStyle/>
          <a:p>
            <a:pPr algn="ctr">
              <a:defRPr sz="500">
                <a:solidFill>
                  <a:srgbClr val="FFFFFF"/>
                </a:solidFill>
              </a:defRPr>
            </a:pPr>
            <a:r>
              <a:t>Oracle Upgrade 26B - Confidential</a:t>
            </a:r>
          </a:p>
        </p:txBody>
      </p:sp>
      <p:sp>
        <p:nvSpPr>
          <p:cNvPr id="7" name="TextBox 6"/>
          <p:cNvSpPr txBox="1"/>
          <p:nvPr/>
        </p:nvSpPr>
        <p:spPr>
          <a:xfrm>
            <a:off x="8686800" y="4960620"/>
            <a:ext cx="0" cy="182880"/>
          </a:xfrm>
          <a:prstGeom prst="rect">
            <a:avLst/>
          </a:prstGeom>
          <a:noFill/>
        </p:spPr>
        <p:txBody>
          <a:bodyPr wrap="none">
            <a:spAutoFit/>
          </a:bodyPr>
          <a:lstStyle/>
          <a:p>
            <a:pPr algn="r">
              <a:defRPr sz="600">
                <a:solidFill>
                  <a:srgbClr val="FFFFFF"/>
                </a:solidFill>
              </a:defRPr>
            </a:pPr>
            <a:r>
              <a:t>9</a:t>
            </a:r>
          </a:p>
        </p:txBody>
      </p:sp>
      <p:sp>
        <p:nvSpPr>
          <p:cNvPr id="8" name="TextBox 7"/>
          <p:cNvSpPr txBox="1"/>
          <p:nvPr/>
        </p:nvSpPr>
        <p:spPr>
          <a:xfrm>
            <a:off x="384048" y="438912"/>
            <a:ext cx="5669280" cy="320040"/>
          </a:xfrm>
          <a:prstGeom prst="rect">
            <a:avLst/>
          </a:prstGeom>
          <a:noFill/>
        </p:spPr>
        <p:txBody>
          <a:bodyPr wrap="square">
            <a:spAutoFit/>
          </a:bodyPr>
          <a:lstStyle/>
          <a:p>
            <a:pPr algn="l">
              <a:defRPr sz="1600" b="1">
                <a:solidFill>
                  <a:srgbClr val="000000"/>
                </a:solidFill>
                <a:latin typeface="Calibri"/>
              </a:defRPr>
            </a:pPr>
            <a:r>
              <a:t>Configure to Order</a:t>
            </a:r>
          </a:p>
        </p:txBody>
      </p:sp>
      <p:graphicFrame>
        <p:nvGraphicFramePr>
          <p:cNvPr id="9" name="Table 8"/>
          <p:cNvGraphicFramePr>
            <a:graphicFrameLocks noGrp="1"/>
          </p:cNvGraphicFramePr>
          <p:nvPr/>
        </p:nvGraphicFramePr>
        <p:xfrm>
          <a:off x="384048" y="914400"/>
          <a:ext cx="8138160" cy="2514600"/>
        </p:xfrm>
        <a:graphic>
          <a:graphicData uri="http://schemas.openxmlformats.org/drawingml/2006/table">
            <a:tbl>
              <a:tblPr firstRow="1" bandRow="1">
                <a:tableStyleId>{5C22544A-7EE6-4342-B048-85BDC9FD1C3A}</a:tableStyleId>
              </a:tblPr>
              <a:tblGrid>
                <a:gridCol w="457200"/>
                <a:gridCol w="2011680"/>
                <a:gridCol w="2011680"/>
                <a:gridCol w="1828800"/>
                <a:gridCol w="914400"/>
                <a:gridCol w="914400"/>
              </a:tblGrid>
              <a:tr h="320040">
                <a:tc>
                  <a:txBody>
                    <a:bodyPr wrap="square"/>
                    <a:lstStyle/>
                    <a:p>
                      <a:pPr>
                        <a:defRPr sz="850" b="1">
                          <a:solidFill>
                            <a:srgbClr val="FFFFFF"/>
                          </a:solidFill>
                          <a:latin typeface="Calibri"/>
                        </a:defRPr>
                      </a:pPr>
                      <a:r>
                        <a:t>Sr.</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26B Feature</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Benefit</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Impact</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Priority</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Mandatory</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1097280">
                <a:tc>
                  <a:txBody>
                    <a:bodyPr wrap="square"/>
                    <a:lstStyle/>
                    <a:p>
                      <a:pPr>
                        <a:defRPr sz="850" b="0">
                          <a:solidFill>
                            <a:srgbClr val="000000"/>
                          </a:solidFill>
                          <a:latin typeface="Calibri"/>
                        </a:defRPr>
                      </a:pPr>
                      <a:r>
                        <a:t>1</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Redwood: Manage Configured Items and Review Their Structures</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Use a redesigned page to view your configured items. View each item's sales structure and complete structure.</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Use a redesigned page to view your configured items.</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High</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No</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1097280">
                <a:tc>
                  <a:txBody>
                    <a:bodyPr wrap="square"/>
                    <a:lstStyle/>
                    <a:p>
                      <a:pPr>
                        <a:defRPr sz="850" b="0">
                          <a:solidFill>
                            <a:srgbClr val="000000"/>
                          </a:solidFill>
                          <a:latin typeface="Calibri"/>
                        </a:defRPr>
                      </a:pPr>
                      <a:r>
                        <a:t>2</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AI Agent: Configuration Advisor</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Use an AI agent to help you identify the optimal configuration for a configured item according to your inputs. Use the agent to compare two or more configurations and select the best one.</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Small scale</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High</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Yes</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bl>
          </a:graphicData>
        </a:graphic>
      </p:graphicFrame>
      <p:sp>
        <p:nvSpPr>
          <p:cNvPr id="10" name="TextBox 9"/>
          <p:cNvSpPr txBox="1"/>
          <p:nvPr/>
        </p:nvSpPr>
        <p:spPr>
          <a:xfrm>
            <a:off x="502920" y="3735324"/>
            <a:ext cx="8046720" cy="274320"/>
          </a:xfrm>
          <a:prstGeom prst="rect">
            <a:avLst/>
          </a:prstGeom>
          <a:noFill/>
        </p:spPr>
        <p:txBody>
          <a:bodyPr wrap="none">
            <a:spAutoFit/>
          </a:bodyPr>
          <a:lstStyle/>
          <a:p>
            <a:pPr>
              <a:defRPr sz="800" u="sng">
                <a:solidFill>
                  <a:srgbClr val="0066CC"/>
                </a:solidFill>
              </a:defRPr>
            </a:pPr>
            <a:r>
              <a:t>Redwood: Manage Configured Items and Review Their Structures</a:t>
            </a:r>
          </a:p>
        </p:txBody>
      </p:sp>
      <p:sp>
        <p:nvSpPr>
          <p:cNvPr id="11" name="TextBox 10"/>
          <p:cNvSpPr txBox="1"/>
          <p:nvPr/>
        </p:nvSpPr>
        <p:spPr>
          <a:xfrm>
            <a:off x="502920" y="3936492"/>
            <a:ext cx="8046720" cy="274320"/>
          </a:xfrm>
          <a:prstGeom prst="rect">
            <a:avLst/>
          </a:prstGeom>
          <a:noFill/>
        </p:spPr>
        <p:txBody>
          <a:bodyPr wrap="none">
            <a:spAutoFit/>
          </a:bodyPr>
          <a:lstStyle/>
          <a:p>
            <a:pPr>
              <a:defRPr sz="800" u="sng">
                <a:solidFill>
                  <a:srgbClr val="0066CC"/>
                </a:solidFill>
              </a:defRPr>
            </a:pPr>
            <a:r>
              <a:t>AI Agent: Configuration Advisor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
          </a:xfrm>
          <a:prstGeom prst="rect">
            <a:avLst/>
          </a:prstGeom>
          <a:solidFill>
            <a:srgbClr val="0099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960620"/>
            <a:ext cx="9144000" cy="182880"/>
          </a:xfrm>
          <a:prstGeom prst="rect">
            <a:avLst/>
          </a:prstGeom>
          <a:solidFill>
            <a:srgbClr val="0099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7269481" y="256032"/>
            <a:ext cx="1508760" cy="384734"/>
          </a:xfrm>
          <a:prstGeom prst="rect">
            <a:avLst/>
          </a:prstGeom>
        </p:spPr>
      </p:pic>
      <p:pic>
        <p:nvPicPr>
          <p:cNvPr id="5" name="Picture 4" descr="tid_logo.png"/>
          <p:cNvPicPr>
            <a:picLocks noChangeAspect="1"/>
          </p:cNvPicPr>
          <p:nvPr/>
        </p:nvPicPr>
        <p:blipFill>
          <a:blip r:embed="rId3"/>
          <a:stretch>
            <a:fillRect/>
          </a:stretch>
        </p:blipFill>
        <p:spPr>
          <a:xfrm>
            <a:off x="4251960" y="4366260"/>
            <a:ext cx="640080" cy="356153"/>
          </a:xfrm>
          <a:prstGeom prst="rect">
            <a:avLst/>
          </a:prstGeom>
        </p:spPr>
      </p:pic>
      <p:sp>
        <p:nvSpPr>
          <p:cNvPr id="6" name="TextBox 5"/>
          <p:cNvSpPr txBox="1"/>
          <p:nvPr/>
        </p:nvSpPr>
        <p:spPr>
          <a:xfrm>
            <a:off x="0" y="4960620"/>
            <a:ext cx="9144000" cy="182880"/>
          </a:xfrm>
          <a:prstGeom prst="rect">
            <a:avLst/>
          </a:prstGeom>
          <a:noFill/>
        </p:spPr>
        <p:txBody>
          <a:bodyPr wrap="none">
            <a:spAutoFit/>
          </a:bodyPr>
          <a:lstStyle/>
          <a:p>
            <a:pPr algn="ctr">
              <a:defRPr sz="500">
                <a:solidFill>
                  <a:srgbClr val="FFFFFF"/>
                </a:solidFill>
              </a:defRPr>
            </a:pPr>
            <a:r>
              <a:t>Oracle Upgrade 26B - Confidential</a:t>
            </a:r>
          </a:p>
        </p:txBody>
      </p:sp>
      <p:sp>
        <p:nvSpPr>
          <p:cNvPr id="7" name="TextBox 6"/>
          <p:cNvSpPr txBox="1"/>
          <p:nvPr/>
        </p:nvSpPr>
        <p:spPr>
          <a:xfrm>
            <a:off x="8686800" y="4960620"/>
            <a:ext cx="0" cy="182880"/>
          </a:xfrm>
          <a:prstGeom prst="rect">
            <a:avLst/>
          </a:prstGeom>
          <a:noFill/>
        </p:spPr>
        <p:txBody>
          <a:bodyPr wrap="none">
            <a:spAutoFit/>
          </a:bodyPr>
          <a:lstStyle/>
          <a:p>
            <a:pPr algn="r">
              <a:defRPr sz="600">
                <a:solidFill>
                  <a:srgbClr val="FFFFFF"/>
                </a:solidFill>
              </a:defRPr>
            </a:pPr>
            <a:r>
              <a:t>10</a:t>
            </a:r>
          </a:p>
        </p:txBody>
      </p:sp>
      <p:sp>
        <p:nvSpPr>
          <p:cNvPr id="8" name="TextBox 7"/>
          <p:cNvSpPr txBox="1"/>
          <p:nvPr/>
        </p:nvSpPr>
        <p:spPr>
          <a:xfrm>
            <a:off x="384048" y="438912"/>
            <a:ext cx="5669280" cy="320040"/>
          </a:xfrm>
          <a:prstGeom prst="rect">
            <a:avLst/>
          </a:prstGeom>
          <a:noFill/>
        </p:spPr>
        <p:txBody>
          <a:bodyPr wrap="square">
            <a:spAutoFit/>
          </a:bodyPr>
          <a:lstStyle/>
          <a:p>
            <a:pPr algn="l">
              <a:defRPr sz="1600" b="1">
                <a:solidFill>
                  <a:srgbClr val="000000"/>
                </a:solidFill>
                <a:latin typeface="Calibri"/>
              </a:defRPr>
            </a:pPr>
            <a:r>
              <a:t>Cost Management (1/6)</a:t>
            </a:r>
          </a:p>
        </p:txBody>
      </p:sp>
      <p:graphicFrame>
        <p:nvGraphicFramePr>
          <p:cNvPr id="9" name="Table 8"/>
          <p:cNvGraphicFramePr>
            <a:graphicFrameLocks noGrp="1"/>
          </p:cNvGraphicFramePr>
          <p:nvPr/>
        </p:nvGraphicFramePr>
        <p:xfrm>
          <a:off x="384048" y="914400"/>
          <a:ext cx="8138160" cy="2514600"/>
        </p:xfrm>
        <a:graphic>
          <a:graphicData uri="http://schemas.openxmlformats.org/drawingml/2006/table">
            <a:tbl>
              <a:tblPr firstRow="1" bandRow="1">
                <a:tableStyleId>{5C22544A-7EE6-4342-B048-85BDC9FD1C3A}</a:tableStyleId>
              </a:tblPr>
              <a:tblGrid>
                <a:gridCol w="457200"/>
                <a:gridCol w="2011680"/>
                <a:gridCol w="2011680"/>
                <a:gridCol w="1828800"/>
                <a:gridCol w="914400"/>
                <a:gridCol w="914400"/>
              </a:tblGrid>
              <a:tr h="320040">
                <a:tc>
                  <a:txBody>
                    <a:bodyPr wrap="square"/>
                    <a:lstStyle/>
                    <a:p>
                      <a:pPr>
                        <a:defRPr sz="850" b="1">
                          <a:solidFill>
                            <a:srgbClr val="FFFFFF"/>
                          </a:solidFill>
                          <a:latin typeface="Calibri"/>
                        </a:defRPr>
                      </a:pPr>
                      <a:r>
                        <a:t>Sr.</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26B Feature</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Benefit</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Impact</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Priority</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Mandatory</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1097280">
                <a:tc>
                  <a:txBody>
                    <a:bodyPr wrap="square"/>
                    <a:lstStyle/>
                    <a:p>
                      <a:pPr>
                        <a:defRPr sz="850" b="0">
                          <a:solidFill>
                            <a:srgbClr val="000000"/>
                          </a:solidFill>
                          <a:latin typeface="Calibri"/>
                        </a:defRPr>
                      </a:pPr>
                      <a:r>
                        <a:t>1</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AI Agent: Gross Margin Analyst</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In today’s complex supply chains and global order networks, organizations face increasing pressure to protect profitability while ensuring customer satisfaction. Users often lack real-time, actionable visibility into gross margin at the point of decision, which can lead to sales representatives...</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Transforms margin management from a reactive financial activity into a proactive operational control mechanism . Enables business users to view real-time profitability before order confirmation , preventing low or negative-margin transactions. Reduces financial leakage and ensures compliance with...</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High</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No</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1097280">
                <a:tc>
                  <a:txBody>
                    <a:bodyPr wrap="square"/>
                    <a:lstStyle/>
                    <a:p>
                      <a:pPr>
                        <a:defRPr sz="850" b="0">
                          <a:solidFill>
                            <a:srgbClr val="000000"/>
                          </a:solidFill>
                          <a:latin typeface="Calibri"/>
                        </a:defRPr>
                      </a:pPr>
                      <a:r>
                        <a:t>2</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AI Agentic App: Cost Accounting Close Workspace</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The Cost Accounting Close Workspace is an AI-powered workspace where cost accountants and financial controllers can continuously review the readiness for period close status. Key capabilities include: The Cost Accounting Close Workspace provides AI-powered workflows through 6 panels:</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The Cost Accounting Close Workspace is an AI-powered workspace where cost accountants and financial controllers can continuously review the readiness for period close status.</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High</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No</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bl>
          </a:graphicData>
        </a:graphic>
      </p:graphicFrame>
      <p:sp>
        <p:nvSpPr>
          <p:cNvPr id="10" name="TextBox 9"/>
          <p:cNvSpPr txBox="1"/>
          <p:nvPr/>
        </p:nvSpPr>
        <p:spPr>
          <a:xfrm>
            <a:off x="502920" y="3735324"/>
            <a:ext cx="8046720" cy="274320"/>
          </a:xfrm>
          <a:prstGeom prst="rect">
            <a:avLst/>
          </a:prstGeom>
          <a:noFill/>
        </p:spPr>
        <p:txBody>
          <a:bodyPr wrap="none">
            <a:spAutoFit/>
          </a:bodyPr>
          <a:lstStyle/>
          <a:p>
            <a:pPr>
              <a:defRPr sz="800" u="sng">
                <a:solidFill>
                  <a:srgbClr val="0066CC"/>
                </a:solidFill>
              </a:defRPr>
            </a:pPr>
            <a:r>
              <a:t>AI Agent: Gross Margin Analyst</a:t>
            </a:r>
          </a:p>
        </p:txBody>
      </p:sp>
      <p:sp>
        <p:nvSpPr>
          <p:cNvPr id="11" name="TextBox 10"/>
          <p:cNvSpPr txBox="1"/>
          <p:nvPr/>
        </p:nvSpPr>
        <p:spPr>
          <a:xfrm>
            <a:off x="502920" y="3936492"/>
            <a:ext cx="8046720" cy="274320"/>
          </a:xfrm>
          <a:prstGeom prst="rect">
            <a:avLst/>
          </a:prstGeom>
          <a:noFill/>
        </p:spPr>
        <p:txBody>
          <a:bodyPr wrap="none">
            <a:spAutoFit/>
          </a:bodyPr>
          <a:lstStyle/>
          <a:p>
            <a:pPr>
              <a:defRPr sz="800" u="sng">
                <a:solidFill>
                  <a:srgbClr val="0066CC"/>
                </a:solidFill>
              </a:defRPr>
            </a:pPr>
            <a:r>
              <a:t>AI Agentic App: Cost Accounting Close Workspace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
          </a:xfrm>
          <a:prstGeom prst="rect">
            <a:avLst/>
          </a:prstGeom>
          <a:solidFill>
            <a:srgbClr val="0099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960620"/>
            <a:ext cx="9144000" cy="182880"/>
          </a:xfrm>
          <a:prstGeom prst="rect">
            <a:avLst/>
          </a:prstGeom>
          <a:solidFill>
            <a:srgbClr val="0099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7269481" y="256032"/>
            <a:ext cx="1508760" cy="384734"/>
          </a:xfrm>
          <a:prstGeom prst="rect">
            <a:avLst/>
          </a:prstGeom>
        </p:spPr>
      </p:pic>
      <p:pic>
        <p:nvPicPr>
          <p:cNvPr id="5" name="Picture 4" descr="tid_logo.png"/>
          <p:cNvPicPr>
            <a:picLocks noChangeAspect="1"/>
          </p:cNvPicPr>
          <p:nvPr/>
        </p:nvPicPr>
        <p:blipFill>
          <a:blip r:embed="rId3"/>
          <a:stretch>
            <a:fillRect/>
          </a:stretch>
        </p:blipFill>
        <p:spPr>
          <a:xfrm>
            <a:off x="4251960" y="4366260"/>
            <a:ext cx="640080" cy="356153"/>
          </a:xfrm>
          <a:prstGeom prst="rect">
            <a:avLst/>
          </a:prstGeom>
        </p:spPr>
      </p:pic>
      <p:sp>
        <p:nvSpPr>
          <p:cNvPr id="6" name="TextBox 5"/>
          <p:cNvSpPr txBox="1"/>
          <p:nvPr/>
        </p:nvSpPr>
        <p:spPr>
          <a:xfrm>
            <a:off x="0" y="4960620"/>
            <a:ext cx="9144000" cy="182880"/>
          </a:xfrm>
          <a:prstGeom prst="rect">
            <a:avLst/>
          </a:prstGeom>
          <a:noFill/>
        </p:spPr>
        <p:txBody>
          <a:bodyPr wrap="none">
            <a:spAutoFit/>
          </a:bodyPr>
          <a:lstStyle/>
          <a:p>
            <a:pPr algn="ctr">
              <a:defRPr sz="500">
                <a:solidFill>
                  <a:srgbClr val="FFFFFF"/>
                </a:solidFill>
              </a:defRPr>
            </a:pPr>
            <a:r>
              <a:t>Oracle Upgrade 26B - Confidential</a:t>
            </a:r>
          </a:p>
        </p:txBody>
      </p:sp>
      <p:sp>
        <p:nvSpPr>
          <p:cNvPr id="7" name="TextBox 6"/>
          <p:cNvSpPr txBox="1"/>
          <p:nvPr/>
        </p:nvSpPr>
        <p:spPr>
          <a:xfrm>
            <a:off x="8686800" y="4960620"/>
            <a:ext cx="0" cy="182880"/>
          </a:xfrm>
          <a:prstGeom prst="rect">
            <a:avLst/>
          </a:prstGeom>
          <a:noFill/>
        </p:spPr>
        <p:txBody>
          <a:bodyPr wrap="none">
            <a:spAutoFit/>
          </a:bodyPr>
          <a:lstStyle/>
          <a:p>
            <a:pPr algn="r">
              <a:defRPr sz="600">
                <a:solidFill>
                  <a:srgbClr val="FFFFFF"/>
                </a:solidFill>
              </a:defRPr>
            </a:pPr>
            <a:r>
              <a:t>11</a:t>
            </a:r>
          </a:p>
        </p:txBody>
      </p:sp>
      <p:sp>
        <p:nvSpPr>
          <p:cNvPr id="8" name="TextBox 7"/>
          <p:cNvSpPr txBox="1"/>
          <p:nvPr/>
        </p:nvSpPr>
        <p:spPr>
          <a:xfrm>
            <a:off x="384048" y="438912"/>
            <a:ext cx="5669280" cy="320040"/>
          </a:xfrm>
          <a:prstGeom prst="rect">
            <a:avLst/>
          </a:prstGeom>
          <a:noFill/>
        </p:spPr>
        <p:txBody>
          <a:bodyPr wrap="square">
            <a:spAutoFit/>
          </a:bodyPr>
          <a:lstStyle/>
          <a:p>
            <a:pPr algn="l">
              <a:defRPr sz="1600" b="1">
                <a:solidFill>
                  <a:srgbClr val="000000"/>
                </a:solidFill>
                <a:latin typeface="Calibri"/>
              </a:defRPr>
            </a:pPr>
            <a:r>
              <a:t>Cost Management (2/6)</a:t>
            </a:r>
          </a:p>
        </p:txBody>
      </p:sp>
      <p:graphicFrame>
        <p:nvGraphicFramePr>
          <p:cNvPr id="9" name="Table 8"/>
          <p:cNvGraphicFramePr>
            <a:graphicFrameLocks noGrp="1"/>
          </p:cNvGraphicFramePr>
          <p:nvPr/>
        </p:nvGraphicFramePr>
        <p:xfrm>
          <a:off x="384048" y="914400"/>
          <a:ext cx="8138160" cy="2514600"/>
        </p:xfrm>
        <a:graphic>
          <a:graphicData uri="http://schemas.openxmlformats.org/drawingml/2006/table">
            <a:tbl>
              <a:tblPr firstRow="1" bandRow="1">
                <a:tableStyleId>{5C22544A-7EE6-4342-B048-85BDC9FD1C3A}</a:tableStyleId>
              </a:tblPr>
              <a:tblGrid>
                <a:gridCol w="457200"/>
                <a:gridCol w="2011680"/>
                <a:gridCol w="2011680"/>
                <a:gridCol w="1828800"/>
                <a:gridCol w="914400"/>
                <a:gridCol w="914400"/>
              </a:tblGrid>
              <a:tr h="320040">
                <a:tc>
                  <a:txBody>
                    <a:bodyPr wrap="square"/>
                    <a:lstStyle/>
                    <a:p>
                      <a:pPr>
                        <a:defRPr sz="850" b="1">
                          <a:solidFill>
                            <a:srgbClr val="FFFFFF"/>
                          </a:solidFill>
                          <a:latin typeface="Calibri"/>
                        </a:defRPr>
                      </a:pPr>
                      <a:r>
                        <a:t>Sr.</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26B Feature</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Benefit</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Impact</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Priority</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Mandatory</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1097280">
                <a:tc>
                  <a:txBody>
                    <a:bodyPr wrap="square"/>
                    <a:lstStyle/>
                    <a:p>
                      <a:pPr>
                        <a:defRPr sz="850" b="0">
                          <a:solidFill>
                            <a:srgbClr val="000000"/>
                          </a:solidFill>
                          <a:latin typeface="Calibri"/>
                        </a:defRPr>
                      </a:pPr>
                      <a:r>
                        <a:t>3</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Redwood: Track Asset Costs for Maintenance Work Orders</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The new Asset Costs page delivers a comprehensive and intuitive experience for tracking the maintenance asset costs. It enables you to easily filter, analyze, and review asset cost data in the Cost Accounting work area, improving visibility and control over maintenance-related expenses.</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The new Asset Costs page delivers a comprehensive and intuitive experience for tracking the maintenance asset costs.</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High</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No</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1097280">
                <a:tc>
                  <a:txBody>
                    <a:bodyPr wrap="square"/>
                    <a:lstStyle/>
                    <a:p>
                      <a:pPr>
                        <a:defRPr sz="850" b="0">
                          <a:solidFill>
                            <a:srgbClr val="000000"/>
                          </a:solidFill>
                          <a:latin typeface="Calibri"/>
                        </a:defRPr>
                      </a:pPr>
                      <a:r>
                        <a:t>4</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Track Costs for Parallel Work Order Operations Using Precedence Constraints</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You can now plan for your product costs when your work definitions have parallel operations enabled. This allows for accurate calculation of your product costs, when using the standard cost method.</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Process Manufacturing If you're using process manufacturing work definitions, when you roll up the costs of your products, the transfer percentage indicates the percentage of batch quantity moving to the next operation. This impact of transfer percentage continues until the parallel operations...</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Medium</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Yes</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bl>
          </a:graphicData>
        </a:graphic>
      </p:graphicFrame>
      <p:sp>
        <p:nvSpPr>
          <p:cNvPr id="10" name="TextBox 9"/>
          <p:cNvSpPr txBox="1"/>
          <p:nvPr/>
        </p:nvSpPr>
        <p:spPr>
          <a:xfrm>
            <a:off x="502920" y="3735324"/>
            <a:ext cx="8046720" cy="274320"/>
          </a:xfrm>
          <a:prstGeom prst="rect">
            <a:avLst/>
          </a:prstGeom>
          <a:noFill/>
        </p:spPr>
        <p:txBody>
          <a:bodyPr wrap="none">
            <a:spAutoFit/>
          </a:bodyPr>
          <a:lstStyle/>
          <a:p>
            <a:pPr>
              <a:defRPr sz="800" u="sng">
                <a:solidFill>
                  <a:srgbClr val="0066CC"/>
                </a:solidFill>
              </a:defRPr>
            </a:pPr>
            <a:r>
              <a:t>Redwood: Track Asset Costs for Maintenance Work Orders</a:t>
            </a:r>
          </a:p>
        </p:txBody>
      </p:sp>
      <p:sp>
        <p:nvSpPr>
          <p:cNvPr id="11" name="TextBox 10"/>
          <p:cNvSpPr txBox="1"/>
          <p:nvPr/>
        </p:nvSpPr>
        <p:spPr>
          <a:xfrm>
            <a:off x="502920" y="3936492"/>
            <a:ext cx="8046720" cy="274320"/>
          </a:xfrm>
          <a:prstGeom prst="rect">
            <a:avLst/>
          </a:prstGeom>
          <a:noFill/>
        </p:spPr>
        <p:txBody>
          <a:bodyPr wrap="none">
            <a:spAutoFit/>
          </a:bodyPr>
          <a:lstStyle/>
          <a:p>
            <a:pPr>
              <a:defRPr sz="800" u="sng">
                <a:solidFill>
                  <a:srgbClr val="0066CC"/>
                </a:solidFill>
              </a:defRPr>
            </a:pPr>
            <a:r>
              <a:t>Track Costs for Parallel Work Order Operations Using Precedence Constraints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
          </a:xfrm>
          <a:prstGeom prst="rect">
            <a:avLst/>
          </a:prstGeom>
          <a:solidFill>
            <a:srgbClr val="0099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960620"/>
            <a:ext cx="9144000" cy="182880"/>
          </a:xfrm>
          <a:prstGeom prst="rect">
            <a:avLst/>
          </a:prstGeom>
          <a:solidFill>
            <a:srgbClr val="0099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7269481" y="256032"/>
            <a:ext cx="1508760" cy="384734"/>
          </a:xfrm>
          <a:prstGeom prst="rect">
            <a:avLst/>
          </a:prstGeom>
        </p:spPr>
      </p:pic>
      <p:pic>
        <p:nvPicPr>
          <p:cNvPr id="5" name="Picture 4" descr="tid_logo.png"/>
          <p:cNvPicPr>
            <a:picLocks noChangeAspect="1"/>
          </p:cNvPicPr>
          <p:nvPr/>
        </p:nvPicPr>
        <p:blipFill>
          <a:blip r:embed="rId3"/>
          <a:stretch>
            <a:fillRect/>
          </a:stretch>
        </p:blipFill>
        <p:spPr>
          <a:xfrm>
            <a:off x="4251960" y="4366260"/>
            <a:ext cx="640080" cy="356153"/>
          </a:xfrm>
          <a:prstGeom prst="rect">
            <a:avLst/>
          </a:prstGeom>
        </p:spPr>
      </p:pic>
      <p:sp>
        <p:nvSpPr>
          <p:cNvPr id="6" name="TextBox 5"/>
          <p:cNvSpPr txBox="1"/>
          <p:nvPr/>
        </p:nvSpPr>
        <p:spPr>
          <a:xfrm>
            <a:off x="0" y="4960620"/>
            <a:ext cx="9144000" cy="182880"/>
          </a:xfrm>
          <a:prstGeom prst="rect">
            <a:avLst/>
          </a:prstGeom>
          <a:noFill/>
        </p:spPr>
        <p:txBody>
          <a:bodyPr wrap="none">
            <a:spAutoFit/>
          </a:bodyPr>
          <a:lstStyle/>
          <a:p>
            <a:pPr algn="ctr">
              <a:defRPr sz="500">
                <a:solidFill>
                  <a:srgbClr val="FFFFFF"/>
                </a:solidFill>
              </a:defRPr>
            </a:pPr>
            <a:r>
              <a:t>Oracle Upgrade 26B - Confidential</a:t>
            </a:r>
          </a:p>
        </p:txBody>
      </p:sp>
      <p:sp>
        <p:nvSpPr>
          <p:cNvPr id="7" name="TextBox 6"/>
          <p:cNvSpPr txBox="1"/>
          <p:nvPr/>
        </p:nvSpPr>
        <p:spPr>
          <a:xfrm>
            <a:off x="8686800" y="4960620"/>
            <a:ext cx="0" cy="182880"/>
          </a:xfrm>
          <a:prstGeom prst="rect">
            <a:avLst/>
          </a:prstGeom>
          <a:noFill/>
        </p:spPr>
        <p:txBody>
          <a:bodyPr wrap="none">
            <a:spAutoFit/>
          </a:bodyPr>
          <a:lstStyle/>
          <a:p>
            <a:pPr algn="r">
              <a:defRPr sz="600">
                <a:solidFill>
                  <a:srgbClr val="FFFFFF"/>
                </a:solidFill>
              </a:defRPr>
            </a:pPr>
            <a:r>
              <a:t>12</a:t>
            </a:r>
          </a:p>
        </p:txBody>
      </p:sp>
      <p:sp>
        <p:nvSpPr>
          <p:cNvPr id="8" name="TextBox 7"/>
          <p:cNvSpPr txBox="1"/>
          <p:nvPr/>
        </p:nvSpPr>
        <p:spPr>
          <a:xfrm>
            <a:off x="384048" y="438912"/>
            <a:ext cx="5669280" cy="320040"/>
          </a:xfrm>
          <a:prstGeom prst="rect">
            <a:avLst/>
          </a:prstGeom>
          <a:noFill/>
        </p:spPr>
        <p:txBody>
          <a:bodyPr wrap="square">
            <a:spAutoFit/>
          </a:bodyPr>
          <a:lstStyle/>
          <a:p>
            <a:pPr algn="l">
              <a:defRPr sz="1600" b="1">
                <a:solidFill>
                  <a:srgbClr val="000000"/>
                </a:solidFill>
                <a:latin typeface="Calibri"/>
              </a:defRPr>
            </a:pPr>
            <a:r>
              <a:t>Cost Management (3/6)</a:t>
            </a:r>
          </a:p>
        </p:txBody>
      </p:sp>
      <p:graphicFrame>
        <p:nvGraphicFramePr>
          <p:cNvPr id="9" name="Table 8"/>
          <p:cNvGraphicFramePr>
            <a:graphicFrameLocks noGrp="1"/>
          </p:cNvGraphicFramePr>
          <p:nvPr/>
        </p:nvGraphicFramePr>
        <p:xfrm>
          <a:off x="384048" y="914400"/>
          <a:ext cx="8138160" cy="2514600"/>
        </p:xfrm>
        <a:graphic>
          <a:graphicData uri="http://schemas.openxmlformats.org/drawingml/2006/table">
            <a:tbl>
              <a:tblPr firstRow="1" bandRow="1">
                <a:tableStyleId>{5C22544A-7EE6-4342-B048-85BDC9FD1C3A}</a:tableStyleId>
              </a:tblPr>
              <a:tblGrid>
                <a:gridCol w="457200"/>
                <a:gridCol w="2011680"/>
                <a:gridCol w="2011680"/>
                <a:gridCol w="1828800"/>
                <a:gridCol w="914400"/>
                <a:gridCol w="914400"/>
              </a:tblGrid>
              <a:tr h="320040">
                <a:tc>
                  <a:txBody>
                    <a:bodyPr wrap="square"/>
                    <a:lstStyle/>
                    <a:p>
                      <a:pPr>
                        <a:defRPr sz="850" b="1">
                          <a:solidFill>
                            <a:srgbClr val="FFFFFF"/>
                          </a:solidFill>
                          <a:latin typeface="Calibri"/>
                        </a:defRPr>
                      </a:pPr>
                      <a:r>
                        <a:t>Sr.</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26B Feature</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Benefit</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Impact</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Priority</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Mandatory</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1097280">
                <a:tc>
                  <a:txBody>
                    <a:bodyPr wrap="square"/>
                    <a:lstStyle/>
                    <a:p>
                      <a:pPr>
                        <a:defRPr sz="850" b="0">
                          <a:solidFill>
                            <a:srgbClr val="000000"/>
                          </a:solidFill>
                          <a:latin typeface="Calibri"/>
                        </a:defRPr>
                      </a:pPr>
                      <a:r>
                        <a:t>5</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Account for Component Scrap in Work Order Costs Without Material Returns</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You can now scrap an already issued component to a work order without having to do a component return. You can move the scrapped item to a specific subinventory where it can be reviewed before a final disposition.</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Small scale</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Medium</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Yes</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1097280">
                <a:tc>
                  <a:txBody>
                    <a:bodyPr wrap="square"/>
                    <a:lstStyle/>
                    <a:p>
                      <a:pPr>
                        <a:defRPr sz="850" b="0">
                          <a:solidFill>
                            <a:srgbClr val="000000"/>
                          </a:solidFill>
                          <a:latin typeface="Calibri"/>
                        </a:defRPr>
                      </a:pPr>
                      <a:r>
                        <a:t>6</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Calculate and Track Product Costs when Using an Item Multiple Times in a Discrete Work Order Operation</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If you use an item multiple times in a discrete work order operation or in a flow schedule, you can now calculate your product costs and cost the transactions. Additionally, if you use standard cost, you can track variances by the item and basis type.</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Small scale</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Medium</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Yes</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bl>
          </a:graphicData>
        </a:graphic>
      </p:graphicFrame>
      <p:sp>
        <p:nvSpPr>
          <p:cNvPr id="10" name="TextBox 9"/>
          <p:cNvSpPr txBox="1"/>
          <p:nvPr/>
        </p:nvSpPr>
        <p:spPr>
          <a:xfrm>
            <a:off x="502920" y="3735324"/>
            <a:ext cx="8046720" cy="274320"/>
          </a:xfrm>
          <a:prstGeom prst="rect">
            <a:avLst/>
          </a:prstGeom>
          <a:noFill/>
        </p:spPr>
        <p:txBody>
          <a:bodyPr wrap="none">
            <a:spAutoFit/>
          </a:bodyPr>
          <a:lstStyle/>
          <a:p>
            <a:pPr>
              <a:defRPr sz="800" u="sng">
                <a:solidFill>
                  <a:srgbClr val="0066CC"/>
                </a:solidFill>
              </a:defRPr>
            </a:pPr>
            <a:r>
              <a:t>Account for Component Scrap in Work Order Costs Without Material Returns</a:t>
            </a:r>
          </a:p>
        </p:txBody>
      </p:sp>
      <p:sp>
        <p:nvSpPr>
          <p:cNvPr id="11" name="TextBox 10"/>
          <p:cNvSpPr txBox="1"/>
          <p:nvPr/>
        </p:nvSpPr>
        <p:spPr>
          <a:xfrm>
            <a:off x="502920" y="3936492"/>
            <a:ext cx="8046720" cy="274320"/>
          </a:xfrm>
          <a:prstGeom prst="rect">
            <a:avLst/>
          </a:prstGeom>
          <a:noFill/>
        </p:spPr>
        <p:txBody>
          <a:bodyPr wrap="none">
            <a:spAutoFit/>
          </a:bodyPr>
          <a:lstStyle/>
          <a:p>
            <a:pPr>
              <a:defRPr sz="800" u="sng">
                <a:solidFill>
                  <a:srgbClr val="0066CC"/>
                </a:solidFill>
              </a:defRPr>
            </a:pPr>
            <a:r>
              <a:t>Calculate and Track Product Costs when Using an Item Multiple Times in a Discrete Work Order Operation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
          </a:xfrm>
          <a:prstGeom prst="rect">
            <a:avLst/>
          </a:prstGeom>
          <a:solidFill>
            <a:srgbClr val="0099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960620"/>
            <a:ext cx="9144000" cy="182880"/>
          </a:xfrm>
          <a:prstGeom prst="rect">
            <a:avLst/>
          </a:prstGeom>
          <a:solidFill>
            <a:srgbClr val="0099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7269481" y="256032"/>
            <a:ext cx="1508760" cy="384734"/>
          </a:xfrm>
          <a:prstGeom prst="rect">
            <a:avLst/>
          </a:prstGeom>
        </p:spPr>
      </p:pic>
      <p:pic>
        <p:nvPicPr>
          <p:cNvPr id="5" name="Picture 4" descr="tid_logo.png"/>
          <p:cNvPicPr>
            <a:picLocks noChangeAspect="1"/>
          </p:cNvPicPr>
          <p:nvPr/>
        </p:nvPicPr>
        <p:blipFill>
          <a:blip r:embed="rId3"/>
          <a:stretch>
            <a:fillRect/>
          </a:stretch>
        </p:blipFill>
        <p:spPr>
          <a:xfrm>
            <a:off x="4251960" y="4366260"/>
            <a:ext cx="640080" cy="356153"/>
          </a:xfrm>
          <a:prstGeom prst="rect">
            <a:avLst/>
          </a:prstGeom>
        </p:spPr>
      </p:pic>
      <p:sp>
        <p:nvSpPr>
          <p:cNvPr id="6" name="TextBox 5"/>
          <p:cNvSpPr txBox="1"/>
          <p:nvPr/>
        </p:nvSpPr>
        <p:spPr>
          <a:xfrm>
            <a:off x="0" y="4960620"/>
            <a:ext cx="9144000" cy="182880"/>
          </a:xfrm>
          <a:prstGeom prst="rect">
            <a:avLst/>
          </a:prstGeom>
          <a:noFill/>
        </p:spPr>
        <p:txBody>
          <a:bodyPr wrap="none">
            <a:spAutoFit/>
          </a:bodyPr>
          <a:lstStyle/>
          <a:p>
            <a:pPr algn="ctr">
              <a:defRPr sz="500">
                <a:solidFill>
                  <a:srgbClr val="FFFFFF"/>
                </a:solidFill>
              </a:defRPr>
            </a:pPr>
            <a:r>
              <a:t>Oracle Upgrade 26B - Confidential</a:t>
            </a:r>
          </a:p>
        </p:txBody>
      </p:sp>
      <p:sp>
        <p:nvSpPr>
          <p:cNvPr id="7" name="TextBox 6"/>
          <p:cNvSpPr txBox="1"/>
          <p:nvPr/>
        </p:nvSpPr>
        <p:spPr>
          <a:xfrm>
            <a:off x="8686800" y="4960620"/>
            <a:ext cx="0" cy="182880"/>
          </a:xfrm>
          <a:prstGeom prst="rect">
            <a:avLst/>
          </a:prstGeom>
          <a:noFill/>
        </p:spPr>
        <p:txBody>
          <a:bodyPr wrap="none">
            <a:spAutoFit/>
          </a:bodyPr>
          <a:lstStyle/>
          <a:p>
            <a:pPr algn="r">
              <a:defRPr sz="600">
                <a:solidFill>
                  <a:srgbClr val="FFFFFF"/>
                </a:solidFill>
              </a:defRPr>
            </a:pPr>
            <a:r>
              <a:t>13</a:t>
            </a:r>
          </a:p>
        </p:txBody>
      </p:sp>
      <p:sp>
        <p:nvSpPr>
          <p:cNvPr id="8" name="TextBox 7"/>
          <p:cNvSpPr txBox="1"/>
          <p:nvPr/>
        </p:nvSpPr>
        <p:spPr>
          <a:xfrm>
            <a:off x="384048" y="438912"/>
            <a:ext cx="5669280" cy="320040"/>
          </a:xfrm>
          <a:prstGeom prst="rect">
            <a:avLst/>
          </a:prstGeom>
          <a:noFill/>
        </p:spPr>
        <p:txBody>
          <a:bodyPr wrap="square">
            <a:spAutoFit/>
          </a:bodyPr>
          <a:lstStyle/>
          <a:p>
            <a:pPr algn="l">
              <a:defRPr sz="1600" b="1">
                <a:solidFill>
                  <a:srgbClr val="000000"/>
                </a:solidFill>
                <a:latin typeface="Calibri"/>
              </a:defRPr>
            </a:pPr>
            <a:r>
              <a:t>Cost Management (4/6)</a:t>
            </a:r>
          </a:p>
        </p:txBody>
      </p:sp>
      <p:graphicFrame>
        <p:nvGraphicFramePr>
          <p:cNvPr id="9" name="Table 8"/>
          <p:cNvGraphicFramePr>
            <a:graphicFrameLocks noGrp="1"/>
          </p:cNvGraphicFramePr>
          <p:nvPr/>
        </p:nvGraphicFramePr>
        <p:xfrm>
          <a:off x="384048" y="914400"/>
          <a:ext cx="8138160" cy="2514600"/>
        </p:xfrm>
        <a:graphic>
          <a:graphicData uri="http://schemas.openxmlformats.org/drawingml/2006/table">
            <a:tbl>
              <a:tblPr firstRow="1" bandRow="1">
                <a:tableStyleId>{5C22544A-7EE6-4342-B048-85BDC9FD1C3A}</a:tableStyleId>
              </a:tblPr>
              <a:tblGrid>
                <a:gridCol w="457200"/>
                <a:gridCol w="2011680"/>
                <a:gridCol w="2011680"/>
                <a:gridCol w="1828800"/>
                <a:gridCol w="914400"/>
                <a:gridCol w="914400"/>
              </a:tblGrid>
              <a:tr h="320040">
                <a:tc>
                  <a:txBody>
                    <a:bodyPr wrap="square"/>
                    <a:lstStyle/>
                    <a:p>
                      <a:pPr>
                        <a:defRPr sz="850" b="1">
                          <a:solidFill>
                            <a:srgbClr val="FFFFFF"/>
                          </a:solidFill>
                          <a:latin typeface="Calibri"/>
                        </a:defRPr>
                      </a:pPr>
                      <a:r>
                        <a:t>Sr.</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26B Feature</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Benefit</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Impact</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Priority</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Mandatory</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1097280">
                <a:tc>
                  <a:txBody>
                    <a:bodyPr wrap="square"/>
                    <a:lstStyle/>
                    <a:p>
                      <a:pPr>
                        <a:defRPr sz="850" b="0">
                          <a:solidFill>
                            <a:srgbClr val="000000"/>
                          </a:solidFill>
                          <a:latin typeface="Calibri"/>
                        </a:defRPr>
                      </a:pPr>
                      <a:r>
                        <a:t>7</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Calculate the Cost of Products After Assigning Phantom Subassembly Materials and Resources to Operations</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If you're a manufacturing enterprise and want granular control and auditability over the components consumed as part of the phantom subassembly in production process, you can now cost the materials and resources consumed in the phantom subassembly with the correct operation. On the Rolled-up Costs...</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Larger scale</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Medium</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Yes</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1097280">
                <a:tc>
                  <a:txBody>
                    <a:bodyPr wrap="square"/>
                    <a:lstStyle/>
                    <a:p>
                      <a:pPr>
                        <a:defRPr sz="850" b="0">
                          <a:solidFill>
                            <a:srgbClr val="000000"/>
                          </a:solidFill>
                          <a:latin typeface="Calibri"/>
                        </a:defRPr>
                      </a:pPr>
                      <a:r>
                        <a:t>8</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Calculate the Costs of Standard Costed Configured Items On Demand</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You can now calculate and publish the costs of all your configured items, even if those items don't have a new work order or purchase order in the application, if you use the standard cost method to value your inventory. When you create a cost scenario of configured items with rollup scope set to...</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Larger scale</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Medium</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Yes</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bl>
          </a:graphicData>
        </a:graphic>
      </p:graphicFrame>
      <p:sp>
        <p:nvSpPr>
          <p:cNvPr id="10" name="TextBox 9"/>
          <p:cNvSpPr txBox="1"/>
          <p:nvPr/>
        </p:nvSpPr>
        <p:spPr>
          <a:xfrm>
            <a:off x="502920" y="3735324"/>
            <a:ext cx="8046720" cy="274320"/>
          </a:xfrm>
          <a:prstGeom prst="rect">
            <a:avLst/>
          </a:prstGeom>
          <a:noFill/>
        </p:spPr>
        <p:txBody>
          <a:bodyPr wrap="none">
            <a:spAutoFit/>
          </a:bodyPr>
          <a:lstStyle/>
          <a:p>
            <a:pPr>
              <a:defRPr sz="800" u="sng">
                <a:solidFill>
                  <a:srgbClr val="0066CC"/>
                </a:solidFill>
              </a:defRPr>
            </a:pPr>
            <a:r>
              <a:t>Calculate the Cost of Products After Assigning Phantom Subassembly Materials and Resources to Operations</a:t>
            </a:r>
          </a:p>
        </p:txBody>
      </p:sp>
      <p:sp>
        <p:nvSpPr>
          <p:cNvPr id="11" name="TextBox 10"/>
          <p:cNvSpPr txBox="1"/>
          <p:nvPr/>
        </p:nvSpPr>
        <p:spPr>
          <a:xfrm>
            <a:off x="502920" y="3936492"/>
            <a:ext cx="8046720" cy="274320"/>
          </a:xfrm>
          <a:prstGeom prst="rect">
            <a:avLst/>
          </a:prstGeom>
          <a:noFill/>
        </p:spPr>
        <p:txBody>
          <a:bodyPr wrap="none">
            <a:spAutoFit/>
          </a:bodyPr>
          <a:lstStyle/>
          <a:p>
            <a:pPr>
              <a:defRPr sz="800" u="sng">
                <a:solidFill>
                  <a:srgbClr val="0066CC"/>
                </a:solidFill>
              </a:defRPr>
            </a:pPr>
            <a:r>
              <a:t>Calculate the Costs of Standard Costed Configured Items On Demand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
          </a:xfrm>
          <a:prstGeom prst="rect">
            <a:avLst/>
          </a:prstGeom>
          <a:solidFill>
            <a:srgbClr val="0099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960620"/>
            <a:ext cx="9144000" cy="182880"/>
          </a:xfrm>
          <a:prstGeom prst="rect">
            <a:avLst/>
          </a:prstGeom>
          <a:solidFill>
            <a:srgbClr val="0099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7269481" y="256032"/>
            <a:ext cx="1508760" cy="384734"/>
          </a:xfrm>
          <a:prstGeom prst="rect">
            <a:avLst/>
          </a:prstGeom>
        </p:spPr>
      </p:pic>
      <p:pic>
        <p:nvPicPr>
          <p:cNvPr id="5" name="Picture 4" descr="tid_logo.png"/>
          <p:cNvPicPr>
            <a:picLocks noChangeAspect="1"/>
          </p:cNvPicPr>
          <p:nvPr/>
        </p:nvPicPr>
        <p:blipFill>
          <a:blip r:embed="rId3"/>
          <a:stretch>
            <a:fillRect/>
          </a:stretch>
        </p:blipFill>
        <p:spPr>
          <a:xfrm>
            <a:off x="4251960" y="4366260"/>
            <a:ext cx="640080" cy="356153"/>
          </a:xfrm>
          <a:prstGeom prst="rect">
            <a:avLst/>
          </a:prstGeom>
        </p:spPr>
      </p:pic>
      <p:sp>
        <p:nvSpPr>
          <p:cNvPr id="6" name="TextBox 5"/>
          <p:cNvSpPr txBox="1"/>
          <p:nvPr/>
        </p:nvSpPr>
        <p:spPr>
          <a:xfrm>
            <a:off x="0" y="4960620"/>
            <a:ext cx="9144000" cy="182880"/>
          </a:xfrm>
          <a:prstGeom prst="rect">
            <a:avLst/>
          </a:prstGeom>
          <a:noFill/>
        </p:spPr>
        <p:txBody>
          <a:bodyPr wrap="none">
            <a:spAutoFit/>
          </a:bodyPr>
          <a:lstStyle/>
          <a:p>
            <a:pPr algn="ctr">
              <a:defRPr sz="500">
                <a:solidFill>
                  <a:srgbClr val="FFFFFF"/>
                </a:solidFill>
              </a:defRPr>
            </a:pPr>
            <a:r>
              <a:t>Oracle Upgrade 26B - Confidential</a:t>
            </a:r>
          </a:p>
        </p:txBody>
      </p:sp>
      <p:sp>
        <p:nvSpPr>
          <p:cNvPr id="7" name="TextBox 6"/>
          <p:cNvSpPr txBox="1"/>
          <p:nvPr/>
        </p:nvSpPr>
        <p:spPr>
          <a:xfrm>
            <a:off x="8686800" y="4960620"/>
            <a:ext cx="0" cy="182880"/>
          </a:xfrm>
          <a:prstGeom prst="rect">
            <a:avLst/>
          </a:prstGeom>
          <a:noFill/>
        </p:spPr>
        <p:txBody>
          <a:bodyPr wrap="none">
            <a:spAutoFit/>
          </a:bodyPr>
          <a:lstStyle/>
          <a:p>
            <a:pPr algn="r">
              <a:defRPr sz="600">
                <a:solidFill>
                  <a:srgbClr val="FFFFFF"/>
                </a:solidFill>
              </a:defRPr>
            </a:pPr>
            <a:r>
              <a:t>14</a:t>
            </a:r>
          </a:p>
        </p:txBody>
      </p:sp>
      <p:sp>
        <p:nvSpPr>
          <p:cNvPr id="8" name="TextBox 7"/>
          <p:cNvSpPr txBox="1"/>
          <p:nvPr/>
        </p:nvSpPr>
        <p:spPr>
          <a:xfrm>
            <a:off x="384048" y="438912"/>
            <a:ext cx="5669280" cy="320040"/>
          </a:xfrm>
          <a:prstGeom prst="rect">
            <a:avLst/>
          </a:prstGeom>
          <a:noFill/>
        </p:spPr>
        <p:txBody>
          <a:bodyPr wrap="square">
            <a:spAutoFit/>
          </a:bodyPr>
          <a:lstStyle/>
          <a:p>
            <a:pPr algn="l">
              <a:defRPr sz="1600" b="1">
                <a:solidFill>
                  <a:srgbClr val="000000"/>
                </a:solidFill>
                <a:latin typeface="Calibri"/>
              </a:defRPr>
            </a:pPr>
            <a:r>
              <a:t>Cost Management (5/6)</a:t>
            </a:r>
          </a:p>
        </p:txBody>
      </p:sp>
      <p:graphicFrame>
        <p:nvGraphicFramePr>
          <p:cNvPr id="9" name="Table 8"/>
          <p:cNvGraphicFramePr>
            <a:graphicFrameLocks noGrp="1"/>
          </p:cNvGraphicFramePr>
          <p:nvPr/>
        </p:nvGraphicFramePr>
        <p:xfrm>
          <a:off x="384048" y="914400"/>
          <a:ext cx="8138160" cy="2514600"/>
        </p:xfrm>
        <a:graphic>
          <a:graphicData uri="http://schemas.openxmlformats.org/drawingml/2006/table">
            <a:tbl>
              <a:tblPr firstRow="1" bandRow="1">
                <a:tableStyleId>{5C22544A-7EE6-4342-B048-85BDC9FD1C3A}</a:tableStyleId>
              </a:tblPr>
              <a:tblGrid>
                <a:gridCol w="457200"/>
                <a:gridCol w="2011680"/>
                <a:gridCol w="2011680"/>
                <a:gridCol w="1828800"/>
                <a:gridCol w="914400"/>
                <a:gridCol w="914400"/>
              </a:tblGrid>
              <a:tr h="320040">
                <a:tc>
                  <a:txBody>
                    <a:bodyPr wrap="square"/>
                    <a:lstStyle/>
                    <a:p>
                      <a:pPr>
                        <a:defRPr sz="850" b="1">
                          <a:solidFill>
                            <a:srgbClr val="FFFFFF"/>
                          </a:solidFill>
                          <a:latin typeface="Calibri"/>
                        </a:defRPr>
                      </a:pPr>
                      <a:r>
                        <a:t>Sr.</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26B Feature</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Benefit</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Impact</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Priority</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Mandatory</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1097280">
                <a:tc>
                  <a:txBody>
                    <a:bodyPr wrap="square"/>
                    <a:lstStyle/>
                    <a:p>
                      <a:pPr>
                        <a:defRPr sz="850" b="0">
                          <a:solidFill>
                            <a:srgbClr val="000000"/>
                          </a:solidFill>
                          <a:latin typeface="Calibri"/>
                        </a:defRPr>
                      </a:pPr>
                      <a:r>
                        <a:t>9</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Complete the Same Output Across Multiple Operations in Discrete Manufacturing</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You can now add co-products and by-products to different operations in a discrete work definition or work order, with enhanced support for accurate cost calculations. When co-products or by-products are specified at the operation level, the application automatically apportions costs based on the...</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Small scale</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Medium</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Yes</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1097280">
                <a:tc>
                  <a:txBody>
                    <a:bodyPr wrap="square"/>
                    <a:lstStyle/>
                    <a:p>
                      <a:pPr>
                        <a:defRPr sz="850" b="0">
                          <a:solidFill>
                            <a:srgbClr val="000000"/>
                          </a:solidFill>
                          <a:latin typeface="Calibri"/>
                        </a:defRPr>
                      </a:pPr>
                      <a:r>
                        <a:t>10</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Review Periodic Average Cost Adjustments Using Filters in Smart Search</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You can now use the new filters to search and review adjustments on the Periodic Average Cost Adjustments page. You can use filters such as Cost Organization, Cost Book, Adjustment Type, and Period to identify cost adjustments that you had created.</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Small scale</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Low</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Yes</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bl>
          </a:graphicData>
        </a:graphic>
      </p:graphicFrame>
      <p:sp>
        <p:nvSpPr>
          <p:cNvPr id="10" name="TextBox 9"/>
          <p:cNvSpPr txBox="1"/>
          <p:nvPr/>
        </p:nvSpPr>
        <p:spPr>
          <a:xfrm>
            <a:off x="502920" y="3735324"/>
            <a:ext cx="8046720" cy="274320"/>
          </a:xfrm>
          <a:prstGeom prst="rect">
            <a:avLst/>
          </a:prstGeom>
          <a:noFill/>
        </p:spPr>
        <p:txBody>
          <a:bodyPr wrap="none">
            <a:spAutoFit/>
          </a:bodyPr>
          <a:lstStyle/>
          <a:p>
            <a:pPr>
              <a:defRPr sz="800" u="sng">
                <a:solidFill>
                  <a:srgbClr val="0066CC"/>
                </a:solidFill>
              </a:defRPr>
            </a:pPr>
            <a:r>
              <a:t>Complete the Same Output Across Multiple Operations in Discrete Manufacturing</a:t>
            </a:r>
          </a:p>
        </p:txBody>
      </p:sp>
      <p:sp>
        <p:nvSpPr>
          <p:cNvPr id="11" name="TextBox 10"/>
          <p:cNvSpPr txBox="1"/>
          <p:nvPr/>
        </p:nvSpPr>
        <p:spPr>
          <a:xfrm>
            <a:off x="502920" y="3936492"/>
            <a:ext cx="8046720" cy="274320"/>
          </a:xfrm>
          <a:prstGeom prst="rect">
            <a:avLst/>
          </a:prstGeom>
          <a:noFill/>
        </p:spPr>
        <p:txBody>
          <a:bodyPr wrap="none">
            <a:spAutoFit/>
          </a:bodyPr>
          <a:lstStyle/>
          <a:p>
            <a:pPr>
              <a:defRPr sz="800" u="sng">
                <a:solidFill>
                  <a:srgbClr val="0066CC"/>
                </a:solidFill>
              </a:defRPr>
            </a:pPr>
            <a:r>
              <a:t>Review Periodic Average Cost Adjustments Using Filters in Smart Search</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
          </a:xfrm>
          <a:prstGeom prst="rect">
            <a:avLst/>
          </a:prstGeom>
          <a:solidFill>
            <a:srgbClr val="0099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960620"/>
            <a:ext cx="9144000" cy="182880"/>
          </a:xfrm>
          <a:prstGeom prst="rect">
            <a:avLst/>
          </a:prstGeom>
          <a:solidFill>
            <a:srgbClr val="0099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7269481" y="256032"/>
            <a:ext cx="1508760" cy="384734"/>
          </a:xfrm>
          <a:prstGeom prst="rect">
            <a:avLst/>
          </a:prstGeom>
        </p:spPr>
      </p:pic>
      <p:pic>
        <p:nvPicPr>
          <p:cNvPr id="5" name="Picture 4" descr="tid_logo.png"/>
          <p:cNvPicPr>
            <a:picLocks noChangeAspect="1"/>
          </p:cNvPicPr>
          <p:nvPr/>
        </p:nvPicPr>
        <p:blipFill>
          <a:blip r:embed="rId3"/>
          <a:stretch>
            <a:fillRect/>
          </a:stretch>
        </p:blipFill>
        <p:spPr>
          <a:xfrm>
            <a:off x="4251960" y="4366260"/>
            <a:ext cx="640080" cy="356153"/>
          </a:xfrm>
          <a:prstGeom prst="rect">
            <a:avLst/>
          </a:prstGeom>
        </p:spPr>
      </p:pic>
      <p:sp>
        <p:nvSpPr>
          <p:cNvPr id="6" name="TextBox 5"/>
          <p:cNvSpPr txBox="1"/>
          <p:nvPr/>
        </p:nvSpPr>
        <p:spPr>
          <a:xfrm>
            <a:off x="0" y="4960620"/>
            <a:ext cx="9144000" cy="182880"/>
          </a:xfrm>
          <a:prstGeom prst="rect">
            <a:avLst/>
          </a:prstGeom>
          <a:noFill/>
        </p:spPr>
        <p:txBody>
          <a:bodyPr wrap="none">
            <a:spAutoFit/>
          </a:bodyPr>
          <a:lstStyle/>
          <a:p>
            <a:pPr algn="ctr">
              <a:defRPr sz="500">
                <a:solidFill>
                  <a:srgbClr val="FFFFFF"/>
                </a:solidFill>
              </a:defRPr>
            </a:pPr>
            <a:r>
              <a:t>Oracle Upgrade 26B - Confidential</a:t>
            </a:r>
          </a:p>
        </p:txBody>
      </p:sp>
      <p:sp>
        <p:nvSpPr>
          <p:cNvPr id="7" name="TextBox 6"/>
          <p:cNvSpPr txBox="1"/>
          <p:nvPr/>
        </p:nvSpPr>
        <p:spPr>
          <a:xfrm>
            <a:off x="8686800" y="4960620"/>
            <a:ext cx="0" cy="182880"/>
          </a:xfrm>
          <a:prstGeom prst="rect">
            <a:avLst/>
          </a:prstGeom>
          <a:noFill/>
        </p:spPr>
        <p:txBody>
          <a:bodyPr wrap="none">
            <a:spAutoFit/>
          </a:bodyPr>
          <a:lstStyle/>
          <a:p>
            <a:pPr algn="r">
              <a:defRPr sz="600">
                <a:solidFill>
                  <a:srgbClr val="FFFFFF"/>
                </a:solidFill>
              </a:defRPr>
            </a:pPr>
            <a:r>
              <a:t>15</a:t>
            </a:r>
          </a:p>
        </p:txBody>
      </p:sp>
      <p:sp>
        <p:nvSpPr>
          <p:cNvPr id="8" name="TextBox 7"/>
          <p:cNvSpPr txBox="1"/>
          <p:nvPr/>
        </p:nvSpPr>
        <p:spPr>
          <a:xfrm>
            <a:off x="384048" y="438912"/>
            <a:ext cx="5669280" cy="320040"/>
          </a:xfrm>
          <a:prstGeom prst="rect">
            <a:avLst/>
          </a:prstGeom>
          <a:noFill/>
        </p:spPr>
        <p:txBody>
          <a:bodyPr wrap="square">
            <a:spAutoFit/>
          </a:bodyPr>
          <a:lstStyle/>
          <a:p>
            <a:pPr algn="l">
              <a:defRPr sz="1600" b="1">
                <a:solidFill>
                  <a:srgbClr val="000000"/>
                </a:solidFill>
                <a:latin typeface="Calibri"/>
              </a:defRPr>
            </a:pPr>
            <a:r>
              <a:t>Cost Management (6/6)</a:t>
            </a:r>
          </a:p>
        </p:txBody>
      </p:sp>
      <p:graphicFrame>
        <p:nvGraphicFramePr>
          <p:cNvPr id="9" name="Table 8"/>
          <p:cNvGraphicFramePr>
            <a:graphicFrameLocks noGrp="1"/>
          </p:cNvGraphicFramePr>
          <p:nvPr/>
        </p:nvGraphicFramePr>
        <p:xfrm>
          <a:off x="384048" y="914400"/>
          <a:ext cx="8138160" cy="1417320"/>
        </p:xfrm>
        <a:graphic>
          <a:graphicData uri="http://schemas.openxmlformats.org/drawingml/2006/table">
            <a:tbl>
              <a:tblPr firstRow="1" bandRow="1">
                <a:tableStyleId>{5C22544A-7EE6-4342-B048-85BDC9FD1C3A}</a:tableStyleId>
              </a:tblPr>
              <a:tblGrid>
                <a:gridCol w="457200"/>
                <a:gridCol w="2011680"/>
                <a:gridCol w="2011680"/>
                <a:gridCol w="1828800"/>
                <a:gridCol w="914400"/>
                <a:gridCol w="914400"/>
              </a:tblGrid>
              <a:tr h="320040">
                <a:tc>
                  <a:txBody>
                    <a:bodyPr wrap="square"/>
                    <a:lstStyle/>
                    <a:p>
                      <a:pPr>
                        <a:defRPr sz="850" b="1">
                          <a:solidFill>
                            <a:srgbClr val="FFFFFF"/>
                          </a:solidFill>
                          <a:latin typeface="Calibri"/>
                        </a:defRPr>
                      </a:pPr>
                      <a:r>
                        <a:t>Sr.</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26B Feature</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Benefit</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Impact</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Priority</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Mandatory</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1097280">
                <a:tc>
                  <a:txBody>
                    <a:bodyPr wrap="square"/>
                    <a:lstStyle/>
                    <a:p>
                      <a:pPr>
                        <a:defRPr sz="850" b="0">
                          <a:solidFill>
                            <a:srgbClr val="000000"/>
                          </a:solidFill>
                          <a:latin typeface="Calibri"/>
                        </a:defRPr>
                      </a:pPr>
                      <a:r>
                        <a:t>11</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Track and Account for Rework Costs in Standard and Nonstandard Discrete Work Orders</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You can now track the costs incurred in rework activities and capture the cost of poor quality for scenarios where a rework is performed in a standard or nonstandard discrete manufacturing work order. Material and resource costs that are incurred to rework products in a discrete work order are now...</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Small scale</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Medium</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Yes</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bl>
          </a:graphicData>
        </a:graphic>
      </p:graphicFrame>
      <p:sp>
        <p:nvSpPr>
          <p:cNvPr id="10" name="TextBox 9"/>
          <p:cNvSpPr txBox="1"/>
          <p:nvPr/>
        </p:nvSpPr>
        <p:spPr>
          <a:xfrm>
            <a:off x="502920" y="3936492"/>
            <a:ext cx="8046720" cy="274320"/>
          </a:xfrm>
          <a:prstGeom prst="rect">
            <a:avLst/>
          </a:prstGeom>
          <a:noFill/>
        </p:spPr>
        <p:txBody>
          <a:bodyPr wrap="none">
            <a:spAutoFit/>
          </a:bodyPr>
          <a:lstStyle/>
          <a:p>
            <a:pPr>
              <a:defRPr sz="800" u="sng">
                <a:solidFill>
                  <a:srgbClr val="0066CC"/>
                </a:solidFill>
              </a:defRPr>
            </a:pPr>
            <a:r>
              <a:t>Track and Account for Rework Costs in Standard and Nonstandard Discrete Work Orders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
          </a:xfrm>
          <a:prstGeom prst="rect">
            <a:avLst/>
          </a:prstGeom>
          <a:solidFill>
            <a:srgbClr val="0099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960620"/>
            <a:ext cx="9144000" cy="182880"/>
          </a:xfrm>
          <a:prstGeom prst="rect">
            <a:avLst/>
          </a:prstGeom>
          <a:solidFill>
            <a:srgbClr val="0099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7269481" y="256032"/>
            <a:ext cx="1508760" cy="384734"/>
          </a:xfrm>
          <a:prstGeom prst="rect">
            <a:avLst/>
          </a:prstGeom>
        </p:spPr>
      </p:pic>
      <p:pic>
        <p:nvPicPr>
          <p:cNvPr id="5" name="Picture 4" descr="tid_logo.png"/>
          <p:cNvPicPr>
            <a:picLocks noChangeAspect="1"/>
          </p:cNvPicPr>
          <p:nvPr/>
        </p:nvPicPr>
        <p:blipFill>
          <a:blip r:embed="rId3"/>
          <a:stretch>
            <a:fillRect/>
          </a:stretch>
        </p:blipFill>
        <p:spPr>
          <a:xfrm>
            <a:off x="4251960" y="4366260"/>
            <a:ext cx="640080" cy="356153"/>
          </a:xfrm>
          <a:prstGeom prst="rect">
            <a:avLst/>
          </a:prstGeom>
        </p:spPr>
      </p:pic>
      <p:sp>
        <p:nvSpPr>
          <p:cNvPr id="6" name="TextBox 5"/>
          <p:cNvSpPr txBox="1"/>
          <p:nvPr/>
        </p:nvSpPr>
        <p:spPr>
          <a:xfrm>
            <a:off x="0" y="4960620"/>
            <a:ext cx="9144000" cy="182880"/>
          </a:xfrm>
          <a:prstGeom prst="rect">
            <a:avLst/>
          </a:prstGeom>
          <a:noFill/>
        </p:spPr>
        <p:txBody>
          <a:bodyPr wrap="none">
            <a:spAutoFit/>
          </a:bodyPr>
          <a:lstStyle/>
          <a:p>
            <a:pPr algn="ctr">
              <a:defRPr sz="500">
                <a:solidFill>
                  <a:srgbClr val="FFFFFF"/>
                </a:solidFill>
              </a:defRPr>
            </a:pPr>
            <a:r>
              <a:t>Oracle Upgrade 26B - Confidential</a:t>
            </a:r>
          </a:p>
        </p:txBody>
      </p:sp>
      <p:sp>
        <p:nvSpPr>
          <p:cNvPr id="7" name="TextBox 6"/>
          <p:cNvSpPr txBox="1"/>
          <p:nvPr/>
        </p:nvSpPr>
        <p:spPr>
          <a:xfrm>
            <a:off x="8686800" y="4960620"/>
            <a:ext cx="0" cy="182880"/>
          </a:xfrm>
          <a:prstGeom prst="rect">
            <a:avLst/>
          </a:prstGeom>
          <a:noFill/>
        </p:spPr>
        <p:txBody>
          <a:bodyPr wrap="none">
            <a:spAutoFit/>
          </a:bodyPr>
          <a:lstStyle/>
          <a:p>
            <a:pPr algn="r">
              <a:defRPr sz="600">
                <a:solidFill>
                  <a:srgbClr val="FFFFFF"/>
                </a:solidFill>
              </a:defRPr>
            </a:pPr>
            <a:r>
              <a:t>16</a:t>
            </a:r>
          </a:p>
        </p:txBody>
      </p:sp>
      <p:sp>
        <p:nvSpPr>
          <p:cNvPr id="8" name="TextBox 7"/>
          <p:cNvSpPr txBox="1"/>
          <p:nvPr/>
        </p:nvSpPr>
        <p:spPr>
          <a:xfrm>
            <a:off x="384048" y="438912"/>
            <a:ext cx="5669280" cy="320040"/>
          </a:xfrm>
          <a:prstGeom prst="rect">
            <a:avLst/>
          </a:prstGeom>
          <a:noFill/>
        </p:spPr>
        <p:txBody>
          <a:bodyPr wrap="square">
            <a:spAutoFit/>
          </a:bodyPr>
          <a:lstStyle/>
          <a:p>
            <a:pPr algn="l">
              <a:defRPr sz="1600" b="1">
                <a:solidFill>
                  <a:srgbClr val="000000"/>
                </a:solidFill>
                <a:latin typeface="Calibri"/>
              </a:defRPr>
            </a:pPr>
            <a:r>
              <a:t>Fiscal Document Capture (1/2)</a:t>
            </a:r>
          </a:p>
        </p:txBody>
      </p:sp>
      <p:graphicFrame>
        <p:nvGraphicFramePr>
          <p:cNvPr id="9" name="Table 8"/>
          <p:cNvGraphicFramePr>
            <a:graphicFrameLocks noGrp="1"/>
          </p:cNvGraphicFramePr>
          <p:nvPr/>
        </p:nvGraphicFramePr>
        <p:xfrm>
          <a:off x="384048" y="914400"/>
          <a:ext cx="8138160" cy="2514600"/>
        </p:xfrm>
        <a:graphic>
          <a:graphicData uri="http://schemas.openxmlformats.org/drawingml/2006/table">
            <a:tbl>
              <a:tblPr firstRow="1" bandRow="1">
                <a:tableStyleId>{5C22544A-7EE6-4342-B048-85BDC9FD1C3A}</a:tableStyleId>
              </a:tblPr>
              <a:tblGrid>
                <a:gridCol w="457200"/>
                <a:gridCol w="2011680"/>
                <a:gridCol w="2011680"/>
                <a:gridCol w="1828800"/>
                <a:gridCol w="914400"/>
                <a:gridCol w="914400"/>
              </a:tblGrid>
              <a:tr h="320040">
                <a:tc>
                  <a:txBody>
                    <a:bodyPr wrap="square"/>
                    <a:lstStyle/>
                    <a:p>
                      <a:pPr>
                        <a:defRPr sz="850" b="1">
                          <a:solidFill>
                            <a:srgbClr val="FFFFFF"/>
                          </a:solidFill>
                          <a:latin typeface="Calibri"/>
                        </a:defRPr>
                      </a:pPr>
                      <a:r>
                        <a:t>Sr.</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26B Feature</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Benefit</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Impact</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Priority</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Mandatory</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1097280">
                <a:tc>
                  <a:txBody>
                    <a:bodyPr wrap="square"/>
                    <a:lstStyle/>
                    <a:p>
                      <a:pPr>
                        <a:defRPr sz="850" b="0">
                          <a:solidFill>
                            <a:srgbClr val="000000"/>
                          </a:solidFill>
                          <a:latin typeface="Calibri"/>
                        </a:defRPr>
                      </a:pPr>
                      <a:r>
                        <a:t>1</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Update Tax Determinants on Fiscal Document Line Using REST</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To better support high-volume transaction environments, the existing Inbound Fiscal Documents REST service has been enhanced to support both single and bulk patch actions . This enhancement enables you to quickly and efficiently update tax determinants on fiscal document lines.</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Small scale</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Medium</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Yes</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1097280">
                <a:tc>
                  <a:txBody>
                    <a:bodyPr wrap="square"/>
                    <a:lstStyle/>
                    <a:p>
                      <a:pPr>
                        <a:defRPr sz="850" b="0">
                          <a:solidFill>
                            <a:srgbClr val="000000"/>
                          </a:solidFill>
                          <a:latin typeface="Calibri"/>
                        </a:defRPr>
                      </a:pPr>
                      <a:r>
                        <a:t>2</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Enable Accurate Capture and Fiscal Processing for Prepayments Under the New Tax Regime</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You can now record, tax, and track supplier prepayments against purchase orders before goods are received in Brazil’s standard procure-to-pay fiscal flows. With the new Prepayment fiscal flow for source document type Purchase Order , the system automatically associates and applies prepayments to...</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Small scale</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Medium</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Yes</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bl>
          </a:graphicData>
        </a:graphic>
      </p:graphicFrame>
      <p:sp>
        <p:nvSpPr>
          <p:cNvPr id="10" name="TextBox 9"/>
          <p:cNvSpPr txBox="1"/>
          <p:nvPr/>
        </p:nvSpPr>
        <p:spPr>
          <a:xfrm>
            <a:off x="502920" y="3735324"/>
            <a:ext cx="8046720" cy="274320"/>
          </a:xfrm>
          <a:prstGeom prst="rect">
            <a:avLst/>
          </a:prstGeom>
          <a:noFill/>
        </p:spPr>
        <p:txBody>
          <a:bodyPr wrap="none">
            <a:spAutoFit/>
          </a:bodyPr>
          <a:lstStyle/>
          <a:p>
            <a:pPr>
              <a:defRPr sz="800" u="sng">
                <a:solidFill>
                  <a:srgbClr val="0066CC"/>
                </a:solidFill>
              </a:defRPr>
            </a:pPr>
            <a:r>
              <a:t>Update Tax Determinants on Fiscal Document Line Using REST</a:t>
            </a:r>
          </a:p>
        </p:txBody>
      </p:sp>
      <p:sp>
        <p:nvSpPr>
          <p:cNvPr id="11" name="TextBox 10"/>
          <p:cNvSpPr txBox="1"/>
          <p:nvPr/>
        </p:nvSpPr>
        <p:spPr>
          <a:xfrm>
            <a:off x="502920" y="3936492"/>
            <a:ext cx="8046720" cy="274320"/>
          </a:xfrm>
          <a:prstGeom prst="rect">
            <a:avLst/>
          </a:prstGeom>
          <a:noFill/>
        </p:spPr>
        <p:txBody>
          <a:bodyPr wrap="none">
            <a:spAutoFit/>
          </a:bodyPr>
          <a:lstStyle/>
          <a:p>
            <a:pPr>
              <a:defRPr sz="800" u="sng">
                <a:solidFill>
                  <a:srgbClr val="0066CC"/>
                </a:solidFill>
              </a:defRPr>
            </a:pPr>
            <a:r>
              <a:t>Enable Accurate Capture and Fiscal Processing for Prepayments Under the New Tax Regime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
          </a:xfrm>
          <a:prstGeom prst="rect">
            <a:avLst/>
          </a:prstGeom>
          <a:solidFill>
            <a:srgbClr val="0099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960620"/>
            <a:ext cx="9144000" cy="182880"/>
          </a:xfrm>
          <a:prstGeom prst="rect">
            <a:avLst/>
          </a:prstGeom>
          <a:solidFill>
            <a:srgbClr val="0099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7269481" y="256032"/>
            <a:ext cx="1508760" cy="384734"/>
          </a:xfrm>
          <a:prstGeom prst="rect">
            <a:avLst/>
          </a:prstGeom>
        </p:spPr>
      </p:pic>
      <p:pic>
        <p:nvPicPr>
          <p:cNvPr id="5" name="Picture 4" descr="tid_logo.png"/>
          <p:cNvPicPr>
            <a:picLocks noChangeAspect="1"/>
          </p:cNvPicPr>
          <p:nvPr/>
        </p:nvPicPr>
        <p:blipFill>
          <a:blip r:embed="rId3"/>
          <a:stretch>
            <a:fillRect/>
          </a:stretch>
        </p:blipFill>
        <p:spPr>
          <a:xfrm>
            <a:off x="4251960" y="4366260"/>
            <a:ext cx="640080" cy="356153"/>
          </a:xfrm>
          <a:prstGeom prst="rect">
            <a:avLst/>
          </a:prstGeom>
        </p:spPr>
      </p:pic>
      <p:sp>
        <p:nvSpPr>
          <p:cNvPr id="6" name="TextBox 5"/>
          <p:cNvSpPr txBox="1"/>
          <p:nvPr/>
        </p:nvSpPr>
        <p:spPr>
          <a:xfrm>
            <a:off x="0" y="4960620"/>
            <a:ext cx="9144000" cy="182880"/>
          </a:xfrm>
          <a:prstGeom prst="rect">
            <a:avLst/>
          </a:prstGeom>
          <a:noFill/>
        </p:spPr>
        <p:txBody>
          <a:bodyPr wrap="none">
            <a:spAutoFit/>
          </a:bodyPr>
          <a:lstStyle/>
          <a:p>
            <a:pPr algn="ctr">
              <a:defRPr sz="500">
                <a:solidFill>
                  <a:srgbClr val="FFFFFF"/>
                </a:solidFill>
              </a:defRPr>
            </a:pPr>
            <a:r>
              <a:t>Oracle Upgrade 26B - Confidential</a:t>
            </a:r>
          </a:p>
        </p:txBody>
      </p:sp>
      <p:sp>
        <p:nvSpPr>
          <p:cNvPr id="7" name="TextBox 6"/>
          <p:cNvSpPr txBox="1"/>
          <p:nvPr/>
        </p:nvSpPr>
        <p:spPr>
          <a:xfrm>
            <a:off x="8686800" y="4960620"/>
            <a:ext cx="0" cy="182880"/>
          </a:xfrm>
          <a:prstGeom prst="rect">
            <a:avLst/>
          </a:prstGeom>
          <a:noFill/>
        </p:spPr>
        <p:txBody>
          <a:bodyPr wrap="none">
            <a:spAutoFit/>
          </a:bodyPr>
          <a:lstStyle/>
          <a:p>
            <a:pPr algn="r">
              <a:defRPr sz="600">
                <a:solidFill>
                  <a:srgbClr val="FFFFFF"/>
                </a:solidFill>
              </a:defRPr>
            </a:pPr>
            <a:r>
              <a:t>17</a:t>
            </a:r>
          </a:p>
        </p:txBody>
      </p:sp>
      <p:sp>
        <p:nvSpPr>
          <p:cNvPr id="8" name="TextBox 7"/>
          <p:cNvSpPr txBox="1"/>
          <p:nvPr/>
        </p:nvSpPr>
        <p:spPr>
          <a:xfrm>
            <a:off x="384048" y="438912"/>
            <a:ext cx="5669280" cy="320040"/>
          </a:xfrm>
          <a:prstGeom prst="rect">
            <a:avLst/>
          </a:prstGeom>
          <a:noFill/>
        </p:spPr>
        <p:txBody>
          <a:bodyPr wrap="square">
            <a:spAutoFit/>
          </a:bodyPr>
          <a:lstStyle/>
          <a:p>
            <a:pPr algn="l">
              <a:defRPr sz="1600" b="1">
                <a:solidFill>
                  <a:srgbClr val="000000"/>
                </a:solidFill>
                <a:latin typeface="Calibri"/>
              </a:defRPr>
            </a:pPr>
            <a:r>
              <a:t>Fiscal Document Capture (2/2)</a:t>
            </a:r>
          </a:p>
        </p:txBody>
      </p:sp>
      <p:graphicFrame>
        <p:nvGraphicFramePr>
          <p:cNvPr id="9" name="Table 8"/>
          <p:cNvGraphicFramePr>
            <a:graphicFrameLocks noGrp="1"/>
          </p:cNvGraphicFramePr>
          <p:nvPr/>
        </p:nvGraphicFramePr>
        <p:xfrm>
          <a:off x="384048" y="914400"/>
          <a:ext cx="8138160" cy="1417320"/>
        </p:xfrm>
        <a:graphic>
          <a:graphicData uri="http://schemas.openxmlformats.org/drawingml/2006/table">
            <a:tbl>
              <a:tblPr firstRow="1" bandRow="1">
                <a:tableStyleId>{5C22544A-7EE6-4342-B048-85BDC9FD1C3A}</a:tableStyleId>
              </a:tblPr>
              <a:tblGrid>
                <a:gridCol w="457200"/>
                <a:gridCol w="2011680"/>
                <a:gridCol w="2011680"/>
                <a:gridCol w="1828800"/>
                <a:gridCol w="914400"/>
                <a:gridCol w="914400"/>
              </a:tblGrid>
              <a:tr h="320040">
                <a:tc>
                  <a:txBody>
                    <a:bodyPr wrap="square"/>
                    <a:lstStyle/>
                    <a:p>
                      <a:pPr>
                        <a:defRPr sz="850" b="1">
                          <a:solidFill>
                            <a:srgbClr val="FFFFFF"/>
                          </a:solidFill>
                          <a:latin typeface="Calibri"/>
                        </a:defRPr>
                      </a:pPr>
                      <a:r>
                        <a:t>Sr.</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26B Feature</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Benefit</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Impact</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Priority</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Mandatory</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1097280">
                <a:tc>
                  <a:txBody>
                    <a:bodyPr wrap="square"/>
                    <a:lstStyle/>
                    <a:p>
                      <a:pPr>
                        <a:defRPr sz="850" b="0">
                          <a:solidFill>
                            <a:srgbClr val="000000"/>
                          </a:solidFill>
                          <a:latin typeface="Calibri"/>
                        </a:defRPr>
                      </a:pPr>
                      <a:r>
                        <a:t>3</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Use Additional CFOP Codes for Buyer-Issued Bookkeeping</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You can now use additional CFOP codes 1604 / 2604 – Release of credit related to the purchase of goods for fixed assets when capturing fiscal documents in buyer-issued bookkeeping flows. This enhancement supports processes involving the return of goods for repair or maintenance, as well as the...</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Small scale</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Medium</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Yes</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bl>
          </a:graphicData>
        </a:graphic>
      </p:graphicFrame>
      <p:sp>
        <p:nvSpPr>
          <p:cNvPr id="10" name="TextBox 9"/>
          <p:cNvSpPr txBox="1"/>
          <p:nvPr/>
        </p:nvSpPr>
        <p:spPr>
          <a:xfrm>
            <a:off x="502920" y="3936492"/>
            <a:ext cx="8046720" cy="274320"/>
          </a:xfrm>
          <a:prstGeom prst="rect">
            <a:avLst/>
          </a:prstGeom>
          <a:noFill/>
        </p:spPr>
        <p:txBody>
          <a:bodyPr wrap="none">
            <a:spAutoFit/>
          </a:bodyPr>
          <a:lstStyle/>
          <a:p>
            <a:pPr>
              <a:defRPr sz="800" u="sng">
                <a:solidFill>
                  <a:srgbClr val="0066CC"/>
                </a:solidFill>
              </a:defRPr>
            </a:pPr>
            <a:r>
              <a:t>Use Additional CFOP Codes for Buyer-Issued Bookkeeping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
          </a:xfrm>
          <a:prstGeom prst="rect">
            <a:avLst/>
          </a:prstGeom>
          <a:solidFill>
            <a:srgbClr val="0099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960620"/>
            <a:ext cx="9144000" cy="182880"/>
          </a:xfrm>
          <a:prstGeom prst="rect">
            <a:avLst/>
          </a:prstGeom>
          <a:solidFill>
            <a:srgbClr val="0099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7269481" y="256032"/>
            <a:ext cx="1508760" cy="384734"/>
          </a:xfrm>
          <a:prstGeom prst="rect">
            <a:avLst/>
          </a:prstGeom>
        </p:spPr>
      </p:pic>
      <p:pic>
        <p:nvPicPr>
          <p:cNvPr id="5" name="Picture 4" descr="tid_logo.png"/>
          <p:cNvPicPr>
            <a:picLocks noChangeAspect="1"/>
          </p:cNvPicPr>
          <p:nvPr/>
        </p:nvPicPr>
        <p:blipFill>
          <a:blip r:embed="rId3"/>
          <a:stretch>
            <a:fillRect/>
          </a:stretch>
        </p:blipFill>
        <p:spPr>
          <a:xfrm>
            <a:off x="4251960" y="4366260"/>
            <a:ext cx="640080" cy="356153"/>
          </a:xfrm>
          <a:prstGeom prst="rect">
            <a:avLst/>
          </a:prstGeom>
        </p:spPr>
      </p:pic>
      <p:sp>
        <p:nvSpPr>
          <p:cNvPr id="6" name="TextBox 5"/>
          <p:cNvSpPr txBox="1"/>
          <p:nvPr/>
        </p:nvSpPr>
        <p:spPr>
          <a:xfrm>
            <a:off x="0" y="4960620"/>
            <a:ext cx="9144000" cy="182880"/>
          </a:xfrm>
          <a:prstGeom prst="rect">
            <a:avLst/>
          </a:prstGeom>
          <a:noFill/>
        </p:spPr>
        <p:txBody>
          <a:bodyPr wrap="none">
            <a:spAutoFit/>
          </a:bodyPr>
          <a:lstStyle/>
          <a:p>
            <a:pPr algn="ctr">
              <a:defRPr sz="500">
                <a:solidFill>
                  <a:srgbClr val="FFFFFF"/>
                </a:solidFill>
              </a:defRPr>
            </a:pPr>
            <a:r>
              <a:t>Oracle Upgrade 26B - Confidential</a:t>
            </a:r>
          </a:p>
        </p:txBody>
      </p:sp>
      <p:sp>
        <p:nvSpPr>
          <p:cNvPr id="7" name="TextBox 6"/>
          <p:cNvSpPr txBox="1"/>
          <p:nvPr/>
        </p:nvSpPr>
        <p:spPr>
          <a:xfrm>
            <a:off x="8686800" y="4960620"/>
            <a:ext cx="0" cy="182880"/>
          </a:xfrm>
          <a:prstGeom prst="rect">
            <a:avLst/>
          </a:prstGeom>
          <a:noFill/>
        </p:spPr>
        <p:txBody>
          <a:bodyPr wrap="none">
            <a:spAutoFit/>
          </a:bodyPr>
          <a:lstStyle/>
          <a:p>
            <a:pPr algn="r">
              <a:defRPr sz="600">
                <a:solidFill>
                  <a:srgbClr val="FFFFFF"/>
                </a:solidFill>
              </a:defRPr>
            </a:pPr>
            <a:r>
              <a:t>18</a:t>
            </a:r>
          </a:p>
        </p:txBody>
      </p:sp>
      <p:sp>
        <p:nvSpPr>
          <p:cNvPr id="8" name="TextBox 7"/>
          <p:cNvSpPr txBox="1"/>
          <p:nvPr/>
        </p:nvSpPr>
        <p:spPr>
          <a:xfrm>
            <a:off x="384048" y="438912"/>
            <a:ext cx="5669280" cy="320040"/>
          </a:xfrm>
          <a:prstGeom prst="rect">
            <a:avLst/>
          </a:prstGeom>
          <a:noFill/>
        </p:spPr>
        <p:txBody>
          <a:bodyPr wrap="square">
            <a:spAutoFit/>
          </a:bodyPr>
          <a:lstStyle/>
          <a:p>
            <a:pPr algn="l">
              <a:defRPr sz="1600" b="1">
                <a:solidFill>
                  <a:srgbClr val="000000"/>
                </a:solidFill>
                <a:latin typeface="Calibri"/>
              </a:defRPr>
            </a:pPr>
            <a:r>
              <a:t>Inventory Management (1/6)</a:t>
            </a:r>
          </a:p>
        </p:txBody>
      </p:sp>
      <p:graphicFrame>
        <p:nvGraphicFramePr>
          <p:cNvPr id="9" name="Table 8"/>
          <p:cNvGraphicFramePr>
            <a:graphicFrameLocks noGrp="1"/>
          </p:cNvGraphicFramePr>
          <p:nvPr/>
        </p:nvGraphicFramePr>
        <p:xfrm>
          <a:off x="384048" y="914400"/>
          <a:ext cx="8138160" cy="2514600"/>
        </p:xfrm>
        <a:graphic>
          <a:graphicData uri="http://schemas.openxmlformats.org/drawingml/2006/table">
            <a:tbl>
              <a:tblPr firstRow="1" bandRow="1">
                <a:tableStyleId>{5C22544A-7EE6-4342-B048-85BDC9FD1C3A}</a:tableStyleId>
              </a:tblPr>
              <a:tblGrid>
                <a:gridCol w="457200"/>
                <a:gridCol w="2011680"/>
                <a:gridCol w="2011680"/>
                <a:gridCol w="1828800"/>
                <a:gridCol w="914400"/>
                <a:gridCol w="914400"/>
              </a:tblGrid>
              <a:tr h="320040">
                <a:tc>
                  <a:txBody>
                    <a:bodyPr wrap="square"/>
                    <a:lstStyle/>
                    <a:p>
                      <a:pPr>
                        <a:defRPr sz="850" b="1">
                          <a:solidFill>
                            <a:srgbClr val="FFFFFF"/>
                          </a:solidFill>
                          <a:latin typeface="Calibri"/>
                        </a:defRPr>
                      </a:pPr>
                      <a:r>
                        <a:t>Sr.</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26B Feature</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Benefit</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Impact</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Priority</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Mandatory</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1097280">
                <a:tc>
                  <a:txBody>
                    <a:bodyPr wrap="square"/>
                    <a:lstStyle/>
                    <a:p>
                      <a:pPr>
                        <a:defRPr sz="850" b="0">
                          <a:solidFill>
                            <a:srgbClr val="000000"/>
                          </a:solidFill>
                          <a:latin typeface="Calibri"/>
                        </a:defRPr>
                      </a:pPr>
                      <a:r>
                        <a:t>1</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AI Agent: Inventory Shortages Assistant</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The Inventory Shortages Assistant AI agent helps inventory managers analyze item shortages and stockouts, evaluate available replenishment options, and execute recommended actions to prevent disruptions caused by missing critical supplies. Unlike the existing Item Shortages Analysis Advisor, which...</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The Inventory Shortages Assistant AI agent helps inventory managers analyze item shortages and stockouts, evaluate available replenishment options, and execute recommended actions to prevent disruptions caused by missing critical supplies.</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High</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No</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1097280">
                <a:tc>
                  <a:txBody>
                    <a:bodyPr wrap="square"/>
                    <a:lstStyle/>
                    <a:p>
                      <a:pPr>
                        <a:defRPr sz="850" b="0">
                          <a:solidFill>
                            <a:srgbClr val="000000"/>
                          </a:solidFill>
                          <a:latin typeface="Calibri"/>
                        </a:defRPr>
                      </a:pPr>
                      <a:r>
                        <a:t>2</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AI Agent: Lot Management Advisor</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For businesses that manage perishable or regulated inventory with lot control, efficient lot management is essential for operational success. Tasks such as monitoring expiring lots, updating lot-specific unit of measure (UOM) conversions based on transactions, or executing timely lot splits and...</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For businesses that manage perishable or regulated inventory with lot control, efficient lot management is essential for operational success.</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High</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No</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bl>
          </a:graphicData>
        </a:graphic>
      </p:graphicFrame>
      <p:sp>
        <p:nvSpPr>
          <p:cNvPr id="10" name="TextBox 9"/>
          <p:cNvSpPr txBox="1"/>
          <p:nvPr/>
        </p:nvSpPr>
        <p:spPr>
          <a:xfrm>
            <a:off x="502920" y="3735324"/>
            <a:ext cx="8046720" cy="274320"/>
          </a:xfrm>
          <a:prstGeom prst="rect">
            <a:avLst/>
          </a:prstGeom>
          <a:noFill/>
        </p:spPr>
        <p:txBody>
          <a:bodyPr wrap="none">
            <a:spAutoFit/>
          </a:bodyPr>
          <a:lstStyle/>
          <a:p>
            <a:pPr>
              <a:defRPr sz="800" u="sng">
                <a:solidFill>
                  <a:srgbClr val="0066CC"/>
                </a:solidFill>
              </a:defRPr>
            </a:pPr>
            <a:r>
              <a:t>AI Agent: Inventory Shortages Assistant</a:t>
            </a:r>
          </a:p>
        </p:txBody>
      </p:sp>
      <p:sp>
        <p:nvSpPr>
          <p:cNvPr id="11" name="TextBox 10"/>
          <p:cNvSpPr txBox="1"/>
          <p:nvPr/>
        </p:nvSpPr>
        <p:spPr>
          <a:xfrm>
            <a:off x="502920" y="3936492"/>
            <a:ext cx="8046720" cy="274320"/>
          </a:xfrm>
          <a:prstGeom prst="rect">
            <a:avLst/>
          </a:prstGeom>
          <a:noFill/>
        </p:spPr>
        <p:txBody>
          <a:bodyPr wrap="none">
            <a:spAutoFit/>
          </a:bodyPr>
          <a:lstStyle/>
          <a:p>
            <a:pPr>
              <a:defRPr sz="800" u="sng">
                <a:solidFill>
                  <a:srgbClr val="0066CC"/>
                </a:solidFill>
              </a:defRPr>
            </a:pPr>
            <a:r>
              <a:t>AI Agent: Lot Management Advisor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
          </a:xfrm>
          <a:prstGeom prst="rect">
            <a:avLst/>
          </a:prstGeom>
          <a:solidFill>
            <a:srgbClr val="0099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960620"/>
            <a:ext cx="9144000" cy="182880"/>
          </a:xfrm>
          <a:prstGeom prst="rect">
            <a:avLst/>
          </a:prstGeom>
          <a:solidFill>
            <a:srgbClr val="0099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7269481" y="256032"/>
            <a:ext cx="1508760" cy="384734"/>
          </a:xfrm>
          <a:prstGeom prst="rect">
            <a:avLst/>
          </a:prstGeom>
        </p:spPr>
      </p:pic>
      <p:pic>
        <p:nvPicPr>
          <p:cNvPr id="5" name="Picture 4" descr="tid_logo.png"/>
          <p:cNvPicPr>
            <a:picLocks noChangeAspect="1"/>
          </p:cNvPicPr>
          <p:nvPr/>
        </p:nvPicPr>
        <p:blipFill>
          <a:blip r:embed="rId3"/>
          <a:stretch>
            <a:fillRect/>
          </a:stretch>
        </p:blipFill>
        <p:spPr>
          <a:xfrm>
            <a:off x="4251960" y="4366260"/>
            <a:ext cx="640080" cy="356153"/>
          </a:xfrm>
          <a:prstGeom prst="rect">
            <a:avLst/>
          </a:prstGeom>
        </p:spPr>
      </p:pic>
      <p:sp>
        <p:nvSpPr>
          <p:cNvPr id="6" name="TextBox 5"/>
          <p:cNvSpPr txBox="1"/>
          <p:nvPr/>
        </p:nvSpPr>
        <p:spPr>
          <a:xfrm>
            <a:off x="0" y="4960620"/>
            <a:ext cx="9144000" cy="182880"/>
          </a:xfrm>
          <a:prstGeom prst="rect">
            <a:avLst/>
          </a:prstGeom>
          <a:noFill/>
        </p:spPr>
        <p:txBody>
          <a:bodyPr wrap="none">
            <a:spAutoFit/>
          </a:bodyPr>
          <a:lstStyle/>
          <a:p>
            <a:pPr algn="ctr">
              <a:defRPr sz="500">
                <a:solidFill>
                  <a:srgbClr val="FFFFFF"/>
                </a:solidFill>
              </a:defRPr>
            </a:pPr>
            <a:r>
              <a:t>Oracle Upgrade 26B - Confidential</a:t>
            </a:r>
          </a:p>
        </p:txBody>
      </p:sp>
      <p:sp>
        <p:nvSpPr>
          <p:cNvPr id="7" name="TextBox 6"/>
          <p:cNvSpPr txBox="1"/>
          <p:nvPr/>
        </p:nvSpPr>
        <p:spPr>
          <a:xfrm>
            <a:off x="8686800" y="4960620"/>
            <a:ext cx="0" cy="182880"/>
          </a:xfrm>
          <a:prstGeom prst="rect">
            <a:avLst/>
          </a:prstGeom>
          <a:noFill/>
        </p:spPr>
        <p:txBody>
          <a:bodyPr wrap="none">
            <a:spAutoFit/>
          </a:bodyPr>
          <a:lstStyle/>
          <a:p>
            <a:pPr algn="r">
              <a:defRPr sz="600">
                <a:solidFill>
                  <a:srgbClr val="FFFFFF"/>
                </a:solidFill>
              </a:defRPr>
            </a:pPr>
            <a:r>
              <a:t>19</a:t>
            </a:r>
          </a:p>
        </p:txBody>
      </p:sp>
      <p:sp>
        <p:nvSpPr>
          <p:cNvPr id="8" name="TextBox 7"/>
          <p:cNvSpPr txBox="1"/>
          <p:nvPr/>
        </p:nvSpPr>
        <p:spPr>
          <a:xfrm>
            <a:off x="384048" y="438912"/>
            <a:ext cx="5669280" cy="320040"/>
          </a:xfrm>
          <a:prstGeom prst="rect">
            <a:avLst/>
          </a:prstGeom>
          <a:noFill/>
        </p:spPr>
        <p:txBody>
          <a:bodyPr wrap="square">
            <a:spAutoFit/>
          </a:bodyPr>
          <a:lstStyle/>
          <a:p>
            <a:pPr algn="l">
              <a:defRPr sz="1600" b="1">
                <a:solidFill>
                  <a:srgbClr val="000000"/>
                </a:solidFill>
                <a:latin typeface="Calibri"/>
              </a:defRPr>
            </a:pPr>
            <a:r>
              <a:t>Inventory Management (2/6)</a:t>
            </a:r>
          </a:p>
        </p:txBody>
      </p:sp>
      <p:graphicFrame>
        <p:nvGraphicFramePr>
          <p:cNvPr id="9" name="Table 8"/>
          <p:cNvGraphicFramePr>
            <a:graphicFrameLocks noGrp="1"/>
          </p:cNvGraphicFramePr>
          <p:nvPr/>
        </p:nvGraphicFramePr>
        <p:xfrm>
          <a:off x="384048" y="914400"/>
          <a:ext cx="8138160" cy="2514600"/>
        </p:xfrm>
        <a:graphic>
          <a:graphicData uri="http://schemas.openxmlformats.org/drawingml/2006/table">
            <a:tbl>
              <a:tblPr firstRow="1" bandRow="1">
                <a:tableStyleId>{5C22544A-7EE6-4342-B048-85BDC9FD1C3A}</a:tableStyleId>
              </a:tblPr>
              <a:tblGrid>
                <a:gridCol w="457200"/>
                <a:gridCol w="2011680"/>
                <a:gridCol w="2011680"/>
                <a:gridCol w="1828800"/>
                <a:gridCol w="914400"/>
                <a:gridCol w="914400"/>
              </a:tblGrid>
              <a:tr h="320040">
                <a:tc>
                  <a:txBody>
                    <a:bodyPr wrap="square"/>
                    <a:lstStyle/>
                    <a:p>
                      <a:pPr>
                        <a:defRPr sz="850" b="1">
                          <a:solidFill>
                            <a:srgbClr val="FFFFFF"/>
                          </a:solidFill>
                          <a:latin typeface="Calibri"/>
                        </a:defRPr>
                      </a:pPr>
                      <a:r>
                        <a:t>Sr.</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26B Feature</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Benefit</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Impact</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Priority</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Mandatory</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1097280">
                <a:tc>
                  <a:txBody>
                    <a:bodyPr wrap="square"/>
                    <a:lstStyle/>
                    <a:p>
                      <a:pPr>
                        <a:defRPr sz="850" b="0">
                          <a:solidFill>
                            <a:srgbClr val="000000"/>
                          </a:solidFill>
                          <a:latin typeface="Calibri"/>
                        </a:defRPr>
                      </a:pPr>
                      <a:r>
                        <a:t>3</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AI Agentic App: Warehouse Operations Workspace</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Warehouse managers are accountable for keeping warehouse operations running smoothly and efficiently. When problems occur, they’re responsible for resolving them quickly so operators can continue working without disruption.</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Warehouse managers are accountable for keeping warehouse operations running smoothly and efficiently.</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High</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No</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1097280">
                <a:tc>
                  <a:txBody>
                    <a:bodyPr wrap="square"/>
                    <a:lstStyle/>
                    <a:p>
                      <a:pPr>
                        <a:defRPr sz="850" b="0">
                          <a:solidFill>
                            <a:srgbClr val="000000"/>
                          </a:solidFill>
                          <a:latin typeface="Calibri"/>
                        </a:defRPr>
                      </a:pPr>
                      <a:r>
                        <a:t>4</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Redwood: Use Additional Business Rules</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Business rules allow you to control the appearance and behavior of fields within various Redwood pages. This can include hiding fields that aren't necessary for your business process or making extra fields required for every transaction.</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Business rules allow you to control the appearance and behavior of fields within various Redwood pages.</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Medium</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Yes</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bl>
          </a:graphicData>
        </a:graphic>
      </p:graphicFrame>
      <p:sp>
        <p:nvSpPr>
          <p:cNvPr id="10" name="TextBox 9"/>
          <p:cNvSpPr txBox="1"/>
          <p:nvPr/>
        </p:nvSpPr>
        <p:spPr>
          <a:xfrm>
            <a:off x="502920" y="3735324"/>
            <a:ext cx="8046720" cy="274320"/>
          </a:xfrm>
          <a:prstGeom prst="rect">
            <a:avLst/>
          </a:prstGeom>
          <a:noFill/>
        </p:spPr>
        <p:txBody>
          <a:bodyPr wrap="none">
            <a:spAutoFit/>
          </a:bodyPr>
          <a:lstStyle/>
          <a:p>
            <a:pPr>
              <a:defRPr sz="800" u="sng">
                <a:solidFill>
                  <a:srgbClr val="0066CC"/>
                </a:solidFill>
              </a:defRPr>
            </a:pPr>
            <a:r>
              <a:t>AI Agentic App: Warehouse Operations Workspace</a:t>
            </a:r>
          </a:p>
        </p:txBody>
      </p:sp>
      <p:sp>
        <p:nvSpPr>
          <p:cNvPr id="11" name="TextBox 10"/>
          <p:cNvSpPr txBox="1"/>
          <p:nvPr/>
        </p:nvSpPr>
        <p:spPr>
          <a:xfrm>
            <a:off x="502920" y="3936492"/>
            <a:ext cx="8046720" cy="274320"/>
          </a:xfrm>
          <a:prstGeom prst="rect">
            <a:avLst/>
          </a:prstGeom>
          <a:noFill/>
        </p:spPr>
        <p:txBody>
          <a:bodyPr wrap="none">
            <a:spAutoFit/>
          </a:bodyPr>
          <a:lstStyle/>
          <a:p>
            <a:pPr>
              <a:defRPr sz="800" u="sng">
                <a:solidFill>
                  <a:srgbClr val="0066CC"/>
                </a:solidFill>
              </a:defRPr>
            </a:pPr>
            <a:r>
              <a:t>Redwood: Use Additional Business Rules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
          </a:xfrm>
          <a:prstGeom prst="rect">
            <a:avLst/>
          </a:prstGeom>
          <a:solidFill>
            <a:srgbClr val="0099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960620"/>
            <a:ext cx="9144000" cy="182880"/>
          </a:xfrm>
          <a:prstGeom prst="rect">
            <a:avLst/>
          </a:prstGeom>
          <a:solidFill>
            <a:srgbClr val="0099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7269481" y="256032"/>
            <a:ext cx="1508760" cy="384734"/>
          </a:xfrm>
          <a:prstGeom prst="rect">
            <a:avLst/>
          </a:prstGeom>
        </p:spPr>
      </p:pic>
      <p:pic>
        <p:nvPicPr>
          <p:cNvPr id="5" name="Picture 4" descr="tid_logo.png"/>
          <p:cNvPicPr>
            <a:picLocks noChangeAspect="1"/>
          </p:cNvPicPr>
          <p:nvPr/>
        </p:nvPicPr>
        <p:blipFill>
          <a:blip r:embed="rId3"/>
          <a:stretch>
            <a:fillRect/>
          </a:stretch>
        </p:blipFill>
        <p:spPr>
          <a:xfrm>
            <a:off x="4251960" y="4366260"/>
            <a:ext cx="640080" cy="356153"/>
          </a:xfrm>
          <a:prstGeom prst="rect">
            <a:avLst/>
          </a:prstGeom>
        </p:spPr>
      </p:pic>
      <p:sp>
        <p:nvSpPr>
          <p:cNvPr id="6" name="TextBox 5"/>
          <p:cNvSpPr txBox="1"/>
          <p:nvPr/>
        </p:nvSpPr>
        <p:spPr>
          <a:xfrm>
            <a:off x="0" y="4960620"/>
            <a:ext cx="9144000" cy="182880"/>
          </a:xfrm>
          <a:prstGeom prst="rect">
            <a:avLst/>
          </a:prstGeom>
          <a:noFill/>
        </p:spPr>
        <p:txBody>
          <a:bodyPr wrap="none">
            <a:spAutoFit/>
          </a:bodyPr>
          <a:lstStyle/>
          <a:p>
            <a:pPr algn="ctr">
              <a:defRPr sz="500">
                <a:solidFill>
                  <a:srgbClr val="FFFFFF"/>
                </a:solidFill>
              </a:defRPr>
            </a:pPr>
            <a:r>
              <a:t>Oracle Upgrade 26B - Confidential</a:t>
            </a:r>
          </a:p>
        </p:txBody>
      </p:sp>
      <p:sp>
        <p:nvSpPr>
          <p:cNvPr id="7" name="TextBox 6"/>
          <p:cNvSpPr txBox="1"/>
          <p:nvPr/>
        </p:nvSpPr>
        <p:spPr>
          <a:xfrm>
            <a:off x="8686800" y="4960620"/>
            <a:ext cx="0" cy="182880"/>
          </a:xfrm>
          <a:prstGeom prst="rect">
            <a:avLst/>
          </a:prstGeom>
          <a:noFill/>
        </p:spPr>
        <p:txBody>
          <a:bodyPr wrap="none">
            <a:spAutoFit/>
          </a:bodyPr>
          <a:lstStyle/>
          <a:p>
            <a:pPr algn="r">
              <a:defRPr sz="600">
                <a:solidFill>
                  <a:srgbClr val="FFFFFF"/>
                </a:solidFill>
              </a:defRPr>
            </a:pPr>
            <a:r>
              <a:t>20</a:t>
            </a:r>
          </a:p>
        </p:txBody>
      </p:sp>
      <p:sp>
        <p:nvSpPr>
          <p:cNvPr id="8" name="TextBox 7"/>
          <p:cNvSpPr txBox="1"/>
          <p:nvPr/>
        </p:nvSpPr>
        <p:spPr>
          <a:xfrm>
            <a:off x="384048" y="438912"/>
            <a:ext cx="5669280" cy="320040"/>
          </a:xfrm>
          <a:prstGeom prst="rect">
            <a:avLst/>
          </a:prstGeom>
          <a:noFill/>
        </p:spPr>
        <p:txBody>
          <a:bodyPr wrap="square">
            <a:spAutoFit/>
          </a:bodyPr>
          <a:lstStyle/>
          <a:p>
            <a:pPr algn="l">
              <a:defRPr sz="1600" b="1">
                <a:solidFill>
                  <a:srgbClr val="000000"/>
                </a:solidFill>
                <a:latin typeface="Calibri"/>
              </a:defRPr>
            </a:pPr>
            <a:r>
              <a:t>Inventory Management (3/6)</a:t>
            </a:r>
          </a:p>
        </p:txBody>
      </p:sp>
      <p:graphicFrame>
        <p:nvGraphicFramePr>
          <p:cNvPr id="9" name="Table 8"/>
          <p:cNvGraphicFramePr>
            <a:graphicFrameLocks noGrp="1"/>
          </p:cNvGraphicFramePr>
          <p:nvPr/>
        </p:nvGraphicFramePr>
        <p:xfrm>
          <a:off x="384048" y="914400"/>
          <a:ext cx="8138160" cy="2514600"/>
        </p:xfrm>
        <a:graphic>
          <a:graphicData uri="http://schemas.openxmlformats.org/drawingml/2006/table">
            <a:tbl>
              <a:tblPr firstRow="1" bandRow="1">
                <a:tableStyleId>{5C22544A-7EE6-4342-B048-85BDC9FD1C3A}</a:tableStyleId>
              </a:tblPr>
              <a:tblGrid>
                <a:gridCol w="457200"/>
                <a:gridCol w="2011680"/>
                <a:gridCol w="2011680"/>
                <a:gridCol w="1828800"/>
                <a:gridCol w="914400"/>
                <a:gridCol w="914400"/>
              </a:tblGrid>
              <a:tr h="320040">
                <a:tc>
                  <a:txBody>
                    <a:bodyPr wrap="square"/>
                    <a:lstStyle/>
                    <a:p>
                      <a:pPr>
                        <a:defRPr sz="850" b="1">
                          <a:solidFill>
                            <a:srgbClr val="FFFFFF"/>
                          </a:solidFill>
                          <a:latin typeface="Calibri"/>
                        </a:defRPr>
                      </a:pPr>
                      <a:r>
                        <a:t>Sr.</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26B Feature</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Benefit</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Impact</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Priority</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Mandatory</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1097280">
                <a:tc>
                  <a:txBody>
                    <a:bodyPr wrap="square"/>
                    <a:lstStyle/>
                    <a:p>
                      <a:pPr>
                        <a:defRPr sz="850" b="0">
                          <a:solidFill>
                            <a:srgbClr val="000000"/>
                          </a:solidFill>
                          <a:latin typeface="Calibri"/>
                        </a:defRPr>
                      </a:pPr>
                      <a:r>
                        <a:t>5</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Redwood: Use Improved Logic for Goods in RFID-Enabled Cabinets</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When you store high-value items that require perpetual tracking in a radio frequency identification (RFID)-enabled cabinet to automate goods transactions, you expect the on-hand quantity at those locations to be accurate. Previously, each time an RFID-tagged item was placed in the cabinet, the...</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When you store high-value items that require perpetual tracking in a radio frequency identification (RFID)-enabled cabinet to automate goods transactions, you expect the on-hand quantity at those locations to be accurate.</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High</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No</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1097280">
                <a:tc>
                  <a:txBody>
                    <a:bodyPr wrap="square"/>
                    <a:lstStyle/>
                    <a:p>
                      <a:pPr>
                        <a:defRPr sz="850" b="0">
                          <a:solidFill>
                            <a:srgbClr val="000000"/>
                          </a:solidFill>
                          <a:latin typeface="Calibri"/>
                        </a:defRPr>
                      </a:pPr>
                      <a:r>
                        <a:t>6</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Redwood: Perform Lot Split, Merge, or Translate Transactions Using a Redwood Page</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When managing goods under lot control, various situations may require you to split, merge, or otherwise adjust the lot assignments for certain items. For instance, if a weather incident damages your warehouse and only part of a lot is affected, the compromised portion might still be suitable for...</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Larger scale</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Medium</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Yes</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bl>
          </a:graphicData>
        </a:graphic>
      </p:graphicFrame>
      <p:sp>
        <p:nvSpPr>
          <p:cNvPr id="10" name="TextBox 9"/>
          <p:cNvSpPr txBox="1"/>
          <p:nvPr/>
        </p:nvSpPr>
        <p:spPr>
          <a:xfrm>
            <a:off x="502920" y="3735324"/>
            <a:ext cx="8046720" cy="274320"/>
          </a:xfrm>
          <a:prstGeom prst="rect">
            <a:avLst/>
          </a:prstGeom>
          <a:noFill/>
        </p:spPr>
        <p:txBody>
          <a:bodyPr wrap="none">
            <a:spAutoFit/>
          </a:bodyPr>
          <a:lstStyle/>
          <a:p>
            <a:pPr>
              <a:defRPr sz="800" u="sng">
                <a:solidFill>
                  <a:srgbClr val="0066CC"/>
                </a:solidFill>
              </a:defRPr>
            </a:pPr>
            <a:r>
              <a:t>Redwood: Use Improved Logic for Goods in RFID-Enabled Cabinets</a:t>
            </a:r>
          </a:p>
        </p:txBody>
      </p:sp>
      <p:sp>
        <p:nvSpPr>
          <p:cNvPr id="11" name="TextBox 10"/>
          <p:cNvSpPr txBox="1"/>
          <p:nvPr/>
        </p:nvSpPr>
        <p:spPr>
          <a:xfrm>
            <a:off x="502920" y="3936492"/>
            <a:ext cx="8046720" cy="274320"/>
          </a:xfrm>
          <a:prstGeom prst="rect">
            <a:avLst/>
          </a:prstGeom>
          <a:noFill/>
        </p:spPr>
        <p:txBody>
          <a:bodyPr wrap="none">
            <a:spAutoFit/>
          </a:bodyPr>
          <a:lstStyle/>
          <a:p>
            <a:pPr>
              <a:defRPr sz="800" u="sng">
                <a:solidFill>
                  <a:srgbClr val="0066CC"/>
                </a:solidFill>
              </a:defRPr>
            </a:pPr>
            <a:r>
              <a:t>Redwood: Perform Lot Split, Merge, or Translate Transactions Using a Redwood Page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
          </a:xfrm>
          <a:prstGeom prst="rect">
            <a:avLst/>
          </a:prstGeom>
          <a:solidFill>
            <a:srgbClr val="0099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960620"/>
            <a:ext cx="9144000" cy="182880"/>
          </a:xfrm>
          <a:prstGeom prst="rect">
            <a:avLst/>
          </a:prstGeom>
          <a:solidFill>
            <a:srgbClr val="0099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7269481" y="256032"/>
            <a:ext cx="1508760" cy="384734"/>
          </a:xfrm>
          <a:prstGeom prst="rect">
            <a:avLst/>
          </a:prstGeom>
        </p:spPr>
      </p:pic>
      <p:pic>
        <p:nvPicPr>
          <p:cNvPr id="5" name="Picture 4" descr="tid_logo.png"/>
          <p:cNvPicPr>
            <a:picLocks noChangeAspect="1"/>
          </p:cNvPicPr>
          <p:nvPr/>
        </p:nvPicPr>
        <p:blipFill>
          <a:blip r:embed="rId3"/>
          <a:stretch>
            <a:fillRect/>
          </a:stretch>
        </p:blipFill>
        <p:spPr>
          <a:xfrm>
            <a:off x="4251960" y="4366260"/>
            <a:ext cx="640080" cy="356153"/>
          </a:xfrm>
          <a:prstGeom prst="rect">
            <a:avLst/>
          </a:prstGeom>
        </p:spPr>
      </p:pic>
      <p:sp>
        <p:nvSpPr>
          <p:cNvPr id="6" name="TextBox 5"/>
          <p:cNvSpPr txBox="1"/>
          <p:nvPr/>
        </p:nvSpPr>
        <p:spPr>
          <a:xfrm>
            <a:off x="0" y="4960620"/>
            <a:ext cx="9144000" cy="182880"/>
          </a:xfrm>
          <a:prstGeom prst="rect">
            <a:avLst/>
          </a:prstGeom>
          <a:noFill/>
        </p:spPr>
        <p:txBody>
          <a:bodyPr wrap="none">
            <a:spAutoFit/>
          </a:bodyPr>
          <a:lstStyle/>
          <a:p>
            <a:pPr algn="ctr">
              <a:defRPr sz="500">
                <a:solidFill>
                  <a:srgbClr val="FFFFFF"/>
                </a:solidFill>
              </a:defRPr>
            </a:pPr>
            <a:r>
              <a:t>Oracle Upgrade 26B - Confidential</a:t>
            </a:r>
          </a:p>
        </p:txBody>
      </p:sp>
      <p:sp>
        <p:nvSpPr>
          <p:cNvPr id="7" name="TextBox 6"/>
          <p:cNvSpPr txBox="1"/>
          <p:nvPr/>
        </p:nvSpPr>
        <p:spPr>
          <a:xfrm>
            <a:off x="8686800" y="4960620"/>
            <a:ext cx="0" cy="182880"/>
          </a:xfrm>
          <a:prstGeom prst="rect">
            <a:avLst/>
          </a:prstGeom>
          <a:noFill/>
        </p:spPr>
        <p:txBody>
          <a:bodyPr wrap="none">
            <a:spAutoFit/>
          </a:bodyPr>
          <a:lstStyle/>
          <a:p>
            <a:pPr algn="r">
              <a:defRPr sz="600">
                <a:solidFill>
                  <a:srgbClr val="FFFFFF"/>
                </a:solidFill>
              </a:defRPr>
            </a:pPr>
            <a:r>
              <a:t>21</a:t>
            </a:r>
          </a:p>
        </p:txBody>
      </p:sp>
      <p:sp>
        <p:nvSpPr>
          <p:cNvPr id="8" name="TextBox 7"/>
          <p:cNvSpPr txBox="1"/>
          <p:nvPr/>
        </p:nvSpPr>
        <p:spPr>
          <a:xfrm>
            <a:off x="384048" y="438912"/>
            <a:ext cx="5669280" cy="320040"/>
          </a:xfrm>
          <a:prstGeom prst="rect">
            <a:avLst/>
          </a:prstGeom>
          <a:noFill/>
        </p:spPr>
        <p:txBody>
          <a:bodyPr wrap="square">
            <a:spAutoFit/>
          </a:bodyPr>
          <a:lstStyle/>
          <a:p>
            <a:pPr algn="l">
              <a:defRPr sz="1600" b="1">
                <a:solidFill>
                  <a:srgbClr val="000000"/>
                </a:solidFill>
                <a:latin typeface="Calibri"/>
              </a:defRPr>
            </a:pPr>
            <a:r>
              <a:t>Inventory Management (4/6)</a:t>
            </a:r>
          </a:p>
        </p:txBody>
      </p:sp>
      <p:graphicFrame>
        <p:nvGraphicFramePr>
          <p:cNvPr id="9" name="Table 8"/>
          <p:cNvGraphicFramePr>
            <a:graphicFrameLocks noGrp="1"/>
          </p:cNvGraphicFramePr>
          <p:nvPr/>
        </p:nvGraphicFramePr>
        <p:xfrm>
          <a:off x="384048" y="914400"/>
          <a:ext cx="8138160" cy="2514600"/>
        </p:xfrm>
        <a:graphic>
          <a:graphicData uri="http://schemas.openxmlformats.org/drawingml/2006/table">
            <a:tbl>
              <a:tblPr firstRow="1" bandRow="1">
                <a:tableStyleId>{5C22544A-7EE6-4342-B048-85BDC9FD1C3A}</a:tableStyleId>
              </a:tblPr>
              <a:tblGrid>
                <a:gridCol w="457200"/>
                <a:gridCol w="2011680"/>
                <a:gridCol w="2011680"/>
                <a:gridCol w="1828800"/>
                <a:gridCol w="914400"/>
                <a:gridCol w="914400"/>
              </a:tblGrid>
              <a:tr h="320040">
                <a:tc>
                  <a:txBody>
                    <a:bodyPr wrap="square"/>
                    <a:lstStyle/>
                    <a:p>
                      <a:pPr>
                        <a:defRPr sz="850" b="1">
                          <a:solidFill>
                            <a:srgbClr val="FFFFFF"/>
                          </a:solidFill>
                          <a:latin typeface="Calibri"/>
                        </a:defRPr>
                      </a:pPr>
                      <a:r>
                        <a:t>Sr.</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26B Feature</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Benefit</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Impact</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Priority</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Mandatory</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1097280">
                <a:tc>
                  <a:txBody>
                    <a:bodyPr wrap="square"/>
                    <a:lstStyle/>
                    <a:p>
                      <a:pPr>
                        <a:defRPr sz="850" b="0">
                          <a:solidFill>
                            <a:srgbClr val="000000"/>
                          </a:solidFill>
                          <a:latin typeface="Calibri"/>
                        </a:defRPr>
                      </a:pPr>
                      <a:r>
                        <a:t>7</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Redwood: Purge Completed PAR Requests</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Periodic Automatic Replenishment (PAR) ensures that supplies are consistently restocked in forward locations, so essential goods are always available when needed. Over time, the data generated from PAR requests can assist with optimizing PAR levels and identifying trends in high or low usage items.</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Small scale</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Medium</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Yes</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1097280">
                <a:tc>
                  <a:txBody>
                    <a:bodyPr wrap="square"/>
                    <a:lstStyle/>
                    <a:p>
                      <a:pPr>
                        <a:defRPr sz="850" b="0">
                          <a:solidFill>
                            <a:srgbClr val="000000"/>
                          </a:solidFill>
                          <a:latin typeface="Calibri"/>
                        </a:defRPr>
                      </a:pPr>
                      <a:r>
                        <a:t>8</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Redwood: Use Additional Search Capabilities When Creating and Updating Subinventories</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Subinventories and locators are essential components in a warehouse as they enable precise organization and tracking of inventory. Subinventories represent the physical or logical areas within a warehouse, allowing you to segregate stock based on usage, ownership, or value.</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Small scale</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Low</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Yes</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bl>
          </a:graphicData>
        </a:graphic>
      </p:graphicFrame>
      <p:sp>
        <p:nvSpPr>
          <p:cNvPr id="10" name="TextBox 9"/>
          <p:cNvSpPr txBox="1"/>
          <p:nvPr/>
        </p:nvSpPr>
        <p:spPr>
          <a:xfrm>
            <a:off x="502920" y="3735324"/>
            <a:ext cx="8046720" cy="274320"/>
          </a:xfrm>
          <a:prstGeom prst="rect">
            <a:avLst/>
          </a:prstGeom>
          <a:noFill/>
        </p:spPr>
        <p:txBody>
          <a:bodyPr wrap="none">
            <a:spAutoFit/>
          </a:bodyPr>
          <a:lstStyle/>
          <a:p>
            <a:pPr>
              <a:defRPr sz="800" u="sng">
                <a:solidFill>
                  <a:srgbClr val="0066CC"/>
                </a:solidFill>
              </a:defRPr>
            </a:pPr>
            <a:r>
              <a:t>Redwood: Purge Completed PAR Requests</a:t>
            </a:r>
          </a:p>
        </p:txBody>
      </p:sp>
      <p:sp>
        <p:nvSpPr>
          <p:cNvPr id="11" name="TextBox 10"/>
          <p:cNvSpPr txBox="1"/>
          <p:nvPr/>
        </p:nvSpPr>
        <p:spPr>
          <a:xfrm>
            <a:off x="502920" y="3936492"/>
            <a:ext cx="8046720" cy="274320"/>
          </a:xfrm>
          <a:prstGeom prst="rect">
            <a:avLst/>
          </a:prstGeom>
          <a:noFill/>
        </p:spPr>
        <p:txBody>
          <a:bodyPr wrap="none">
            <a:spAutoFit/>
          </a:bodyPr>
          <a:lstStyle/>
          <a:p>
            <a:pPr>
              <a:defRPr sz="800" u="sng">
                <a:solidFill>
                  <a:srgbClr val="0066CC"/>
                </a:solidFill>
              </a:defRPr>
            </a:pPr>
            <a:r>
              <a:t>Redwood: Use Additional Search Capabilities When Creating and Updating Subinventories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
          </a:xfrm>
          <a:prstGeom prst="rect">
            <a:avLst/>
          </a:prstGeom>
          <a:solidFill>
            <a:srgbClr val="0099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960620"/>
            <a:ext cx="9144000" cy="182880"/>
          </a:xfrm>
          <a:prstGeom prst="rect">
            <a:avLst/>
          </a:prstGeom>
          <a:solidFill>
            <a:srgbClr val="0099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7269481" y="256032"/>
            <a:ext cx="1508760" cy="384734"/>
          </a:xfrm>
          <a:prstGeom prst="rect">
            <a:avLst/>
          </a:prstGeom>
        </p:spPr>
      </p:pic>
      <p:pic>
        <p:nvPicPr>
          <p:cNvPr id="5" name="Picture 4" descr="tid_logo.png"/>
          <p:cNvPicPr>
            <a:picLocks noChangeAspect="1"/>
          </p:cNvPicPr>
          <p:nvPr/>
        </p:nvPicPr>
        <p:blipFill>
          <a:blip r:embed="rId3"/>
          <a:stretch>
            <a:fillRect/>
          </a:stretch>
        </p:blipFill>
        <p:spPr>
          <a:xfrm>
            <a:off x="4251960" y="4366260"/>
            <a:ext cx="640080" cy="356153"/>
          </a:xfrm>
          <a:prstGeom prst="rect">
            <a:avLst/>
          </a:prstGeom>
        </p:spPr>
      </p:pic>
      <p:sp>
        <p:nvSpPr>
          <p:cNvPr id="6" name="TextBox 5"/>
          <p:cNvSpPr txBox="1"/>
          <p:nvPr/>
        </p:nvSpPr>
        <p:spPr>
          <a:xfrm>
            <a:off x="0" y="4960620"/>
            <a:ext cx="9144000" cy="182880"/>
          </a:xfrm>
          <a:prstGeom prst="rect">
            <a:avLst/>
          </a:prstGeom>
          <a:noFill/>
        </p:spPr>
        <p:txBody>
          <a:bodyPr wrap="none">
            <a:spAutoFit/>
          </a:bodyPr>
          <a:lstStyle/>
          <a:p>
            <a:pPr algn="ctr">
              <a:defRPr sz="500">
                <a:solidFill>
                  <a:srgbClr val="FFFFFF"/>
                </a:solidFill>
              </a:defRPr>
            </a:pPr>
            <a:r>
              <a:t>Oracle Upgrade 26B - Confidential</a:t>
            </a:r>
          </a:p>
        </p:txBody>
      </p:sp>
      <p:sp>
        <p:nvSpPr>
          <p:cNvPr id="7" name="TextBox 6"/>
          <p:cNvSpPr txBox="1"/>
          <p:nvPr/>
        </p:nvSpPr>
        <p:spPr>
          <a:xfrm>
            <a:off x="8686800" y="4960620"/>
            <a:ext cx="0" cy="182880"/>
          </a:xfrm>
          <a:prstGeom prst="rect">
            <a:avLst/>
          </a:prstGeom>
          <a:noFill/>
        </p:spPr>
        <p:txBody>
          <a:bodyPr wrap="none">
            <a:spAutoFit/>
          </a:bodyPr>
          <a:lstStyle/>
          <a:p>
            <a:pPr algn="r">
              <a:defRPr sz="600">
                <a:solidFill>
                  <a:srgbClr val="FFFFFF"/>
                </a:solidFill>
              </a:defRPr>
            </a:pPr>
            <a:r>
              <a:t>22</a:t>
            </a:r>
          </a:p>
        </p:txBody>
      </p:sp>
      <p:sp>
        <p:nvSpPr>
          <p:cNvPr id="8" name="TextBox 7"/>
          <p:cNvSpPr txBox="1"/>
          <p:nvPr/>
        </p:nvSpPr>
        <p:spPr>
          <a:xfrm>
            <a:off x="384048" y="438912"/>
            <a:ext cx="5669280" cy="320040"/>
          </a:xfrm>
          <a:prstGeom prst="rect">
            <a:avLst/>
          </a:prstGeom>
          <a:noFill/>
        </p:spPr>
        <p:txBody>
          <a:bodyPr wrap="square">
            <a:spAutoFit/>
          </a:bodyPr>
          <a:lstStyle/>
          <a:p>
            <a:pPr algn="l">
              <a:defRPr sz="1600" b="1">
                <a:solidFill>
                  <a:srgbClr val="000000"/>
                </a:solidFill>
                <a:latin typeface="Calibri"/>
              </a:defRPr>
            </a:pPr>
            <a:r>
              <a:t>Inventory Management (5/6)</a:t>
            </a:r>
          </a:p>
        </p:txBody>
      </p:sp>
      <p:graphicFrame>
        <p:nvGraphicFramePr>
          <p:cNvPr id="9" name="Table 8"/>
          <p:cNvGraphicFramePr>
            <a:graphicFrameLocks noGrp="1"/>
          </p:cNvGraphicFramePr>
          <p:nvPr/>
        </p:nvGraphicFramePr>
        <p:xfrm>
          <a:off x="384048" y="914400"/>
          <a:ext cx="8138160" cy="2514600"/>
        </p:xfrm>
        <a:graphic>
          <a:graphicData uri="http://schemas.openxmlformats.org/drawingml/2006/table">
            <a:tbl>
              <a:tblPr firstRow="1" bandRow="1">
                <a:tableStyleId>{5C22544A-7EE6-4342-B048-85BDC9FD1C3A}</a:tableStyleId>
              </a:tblPr>
              <a:tblGrid>
                <a:gridCol w="457200"/>
                <a:gridCol w="2011680"/>
                <a:gridCol w="2011680"/>
                <a:gridCol w="1828800"/>
                <a:gridCol w="914400"/>
                <a:gridCol w="914400"/>
              </a:tblGrid>
              <a:tr h="320040">
                <a:tc>
                  <a:txBody>
                    <a:bodyPr wrap="square"/>
                    <a:lstStyle/>
                    <a:p>
                      <a:pPr>
                        <a:defRPr sz="850" b="1">
                          <a:solidFill>
                            <a:srgbClr val="FFFFFF"/>
                          </a:solidFill>
                          <a:latin typeface="Calibri"/>
                        </a:defRPr>
                      </a:pPr>
                      <a:r>
                        <a:t>Sr.</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26B Feature</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Benefit</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Impact</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Priority</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Mandatory</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1097280">
                <a:tc>
                  <a:txBody>
                    <a:bodyPr wrap="square"/>
                    <a:lstStyle/>
                    <a:p>
                      <a:pPr>
                        <a:defRPr sz="850" b="0">
                          <a:solidFill>
                            <a:srgbClr val="000000"/>
                          </a:solidFill>
                          <a:latin typeface="Calibri"/>
                        </a:defRPr>
                      </a:pPr>
                      <a:r>
                        <a:t>9</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Redwood: Use Improved Replenishment Logic for the Order PAR Replenishment Count Type</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Periodic Automatic Replenishment (PAR) locations are specific storage areas where supplies are routinely replenished to set levels, ensuring essential items are always available. When using the Order PAR replenishment count type, hospital staff or PAR counters rely on visual cues, such as an empty...</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Small scale</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Medium</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Yes</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1097280">
                <a:tc>
                  <a:txBody>
                    <a:bodyPr wrap="square"/>
                    <a:lstStyle/>
                    <a:p>
                      <a:pPr>
                        <a:defRPr sz="850" b="0">
                          <a:solidFill>
                            <a:srgbClr val="000000"/>
                          </a:solidFill>
                          <a:latin typeface="Calibri"/>
                        </a:defRPr>
                      </a:pPr>
                      <a:r>
                        <a:t>10</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Redwood: Use the All Organizations Option When Selecting an Organization</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Certain roles within your organization, such as supply chain operations managers or regional managers, often require access to data across multiple inventory organizations to effectively oversee and coordinate activities at various locations. To gain a comprehensive view and perform their daily...</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Larger scale</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Medium</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Yes</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bl>
          </a:graphicData>
        </a:graphic>
      </p:graphicFrame>
      <p:sp>
        <p:nvSpPr>
          <p:cNvPr id="10" name="TextBox 9"/>
          <p:cNvSpPr txBox="1"/>
          <p:nvPr/>
        </p:nvSpPr>
        <p:spPr>
          <a:xfrm>
            <a:off x="502920" y="3735324"/>
            <a:ext cx="8046720" cy="274320"/>
          </a:xfrm>
          <a:prstGeom prst="rect">
            <a:avLst/>
          </a:prstGeom>
          <a:noFill/>
        </p:spPr>
        <p:txBody>
          <a:bodyPr wrap="none">
            <a:spAutoFit/>
          </a:bodyPr>
          <a:lstStyle/>
          <a:p>
            <a:pPr>
              <a:defRPr sz="800" u="sng">
                <a:solidFill>
                  <a:srgbClr val="0066CC"/>
                </a:solidFill>
              </a:defRPr>
            </a:pPr>
            <a:r>
              <a:t>Redwood: Use Improved Replenishment Logic for the Order PAR Replenishment Count Type</a:t>
            </a:r>
          </a:p>
        </p:txBody>
      </p:sp>
      <p:sp>
        <p:nvSpPr>
          <p:cNvPr id="11" name="TextBox 10"/>
          <p:cNvSpPr txBox="1"/>
          <p:nvPr/>
        </p:nvSpPr>
        <p:spPr>
          <a:xfrm>
            <a:off x="502920" y="3936492"/>
            <a:ext cx="8046720" cy="274320"/>
          </a:xfrm>
          <a:prstGeom prst="rect">
            <a:avLst/>
          </a:prstGeom>
          <a:noFill/>
        </p:spPr>
        <p:txBody>
          <a:bodyPr wrap="none">
            <a:spAutoFit/>
          </a:bodyPr>
          <a:lstStyle/>
          <a:p>
            <a:pPr>
              <a:defRPr sz="800" u="sng">
                <a:solidFill>
                  <a:srgbClr val="0066CC"/>
                </a:solidFill>
              </a:defRPr>
            </a:pPr>
            <a:r>
              <a:t>Redwood: Use the All Organizations Option When Selecting an Organization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
          </a:xfrm>
          <a:prstGeom prst="rect">
            <a:avLst/>
          </a:prstGeom>
          <a:solidFill>
            <a:srgbClr val="0099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960620"/>
            <a:ext cx="9144000" cy="182880"/>
          </a:xfrm>
          <a:prstGeom prst="rect">
            <a:avLst/>
          </a:prstGeom>
          <a:solidFill>
            <a:srgbClr val="0099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7269481" y="256032"/>
            <a:ext cx="1508760" cy="384734"/>
          </a:xfrm>
          <a:prstGeom prst="rect">
            <a:avLst/>
          </a:prstGeom>
        </p:spPr>
      </p:pic>
      <p:pic>
        <p:nvPicPr>
          <p:cNvPr id="5" name="Picture 4" descr="tid_logo.png"/>
          <p:cNvPicPr>
            <a:picLocks noChangeAspect="1"/>
          </p:cNvPicPr>
          <p:nvPr/>
        </p:nvPicPr>
        <p:blipFill>
          <a:blip r:embed="rId3"/>
          <a:stretch>
            <a:fillRect/>
          </a:stretch>
        </p:blipFill>
        <p:spPr>
          <a:xfrm>
            <a:off x="4251960" y="4366260"/>
            <a:ext cx="640080" cy="356153"/>
          </a:xfrm>
          <a:prstGeom prst="rect">
            <a:avLst/>
          </a:prstGeom>
        </p:spPr>
      </p:pic>
      <p:sp>
        <p:nvSpPr>
          <p:cNvPr id="6" name="TextBox 5"/>
          <p:cNvSpPr txBox="1"/>
          <p:nvPr/>
        </p:nvSpPr>
        <p:spPr>
          <a:xfrm>
            <a:off x="0" y="4960620"/>
            <a:ext cx="9144000" cy="182880"/>
          </a:xfrm>
          <a:prstGeom prst="rect">
            <a:avLst/>
          </a:prstGeom>
          <a:noFill/>
        </p:spPr>
        <p:txBody>
          <a:bodyPr wrap="none">
            <a:spAutoFit/>
          </a:bodyPr>
          <a:lstStyle/>
          <a:p>
            <a:pPr algn="ctr">
              <a:defRPr sz="500">
                <a:solidFill>
                  <a:srgbClr val="FFFFFF"/>
                </a:solidFill>
              </a:defRPr>
            </a:pPr>
            <a:r>
              <a:t>Oracle Upgrade 26B - Confidential</a:t>
            </a:r>
          </a:p>
        </p:txBody>
      </p:sp>
      <p:sp>
        <p:nvSpPr>
          <p:cNvPr id="7" name="TextBox 6"/>
          <p:cNvSpPr txBox="1"/>
          <p:nvPr/>
        </p:nvSpPr>
        <p:spPr>
          <a:xfrm>
            <a:off x="8686800" y="4960620"/>
            <a:ext cx="0" cy="182880"/>
          </a:xfrm>
          <a:prstGeom prst="rect">
            <a:avLst/>
          </a:prstGeom>
          <a:noFill/>
        </p:spPr>
        <p:txBody>
          <a:bodyPr wrap="none">
            <a:spAutoFit/>
          </a:bodyPr>
          <a:lstStyle/>
          <a:p>
            <a:pPr algn="r">
              <a:defRPr sz="600">
                <a:solidFill>
                  <a:srgbClr val="FFFFFF"/>
                </a:solidFill>
              </a:defRPr>
            </a:pPr>
            <a:r>
              <a:t>23</a:t>
            </a:r>
          </a:p>
        </p:txBody>
      </p:sp>
      <p:sp>
        <p:nvSpPr>
          <p:cNvPr id="8" name="TextBox 7"/>
          <p:cNvSpPr txBox="1"/>
          <p:nvPr/>
        </p:nvSpPr>
        <p:spPr>
          <a:xfrm>
            <a:off x="384048" y="438912"/>
            <a:ext cx="5669280" cy="320040"/>
          </a:xfrm>
          <a:prstGeom prst="rect">
            <a:avLst/>
          </a:prstGeom>
          <a:noFill/>
        </p:spPr>
        <p:txBody>
          <a:bodyPr wrap="square">
            <a:spAutoFit/>
          </a:bodyPr>
          <a:lstStyle/>
          <a:p>
            <a:pPr algn="l">
              <a:defRPr sz="1600" b="1">
                <a:solidFill>
                  <a:srgbClr val="000000"/>
                </a:solidFill>
                <a:latin typeface="Calibri"/>
              </a:defRPr>
            </a:pPr>
            <a:r>
              <a:t>Inventory Management (6/6)</a:t>
            </a:r>
          </a:p>
        </p:txBody>
      </p:sp>
      <p:graphicFrame>
        <p:nvGraphicFramePr>
          <p:cNvPr id="9" name="Table 8"/>
          <p:cNvGraphicFramePr>
            <a:graphicFrameLocks noGrp="1"/>
          </p:cNvGraphicFramePr>
          <p:nvPr/>
        </p:nvGraphicFramePr>
        <p:xfrm>
          <a:off x="384048" y="914400"/>
          <a:ext cx="8138160" cy="1417320"/>
        </p:xfrm>
        <a:graphic>
          <a:graphicData uri="http://schemas.openxmlformats.org/drawingml/2006/table">
            <a:tbl>
              <a:tblPr firstRow="1" bandRow="1">
                <a:tableStyleId>{5C22544A-7EE6-4342-B048-85BDC9FD1C3A}</a:tableStyleId>
              </a:tblPr>
              <a:tblGrid>
                <a:gridCol w="457200"/>
                <a:gridCol w="2011680"/>
                <a:gridCol w="2011680"/>
                <a:gridCol w="1828800"/>
                <a:gridCol w="914400"/>
                <a:gridCol w="914400"/>
              </a:tblGrid>
              <a:tr h="320040">
                <a:tc>
                  <a:txBody>
                    <a:bodyPr wrap="square"/>
                    <a:lstStyle/>
                    <a:p>
                      <a:pPr>
                        <a:defRPr sz="850" b="1">
                          <a:solidFill>
                            <a:srgbClr val="FFFFFF"/>
                          </a:solidFill>
                          <a:latin typeface="Calibri"/>
                        </a:defRPr>
                      </a:pPr>
                      <a:r>
                        <a:t>Sr.</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26B Feature</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Benefit</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Impact</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Priority</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Mandatory</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1097280">
                <a:tc>
                  <a:txBody>
                    <a:bodyPr wrap="square"/>
                    <a:lstStyle/>
                    <a:p>
                      <a:pPr>
                        <a:defRPr sz="850" b="0">
                          <a:solidFill>
                            <a:srgbClr val="000000"/>
                          </a:solidFill>
                          <a:latin typeface="Calibri"/>
                        </a:defRPr>
                      </a:pPr>
                      <a:r>
                        <a:t>11</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Redwood: View On-Hand Quantity for Closed or Inactive Projects on the Item Quantities Page</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When managing on-hand quantities with Project-Driven Supply Chain, there may be instances where a project closes or becomes inactive while inventory is still assigned to it. In such cases, you may need to reconcile outstanding materials, redistribute unused inventory, or address audit requirements...</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Small scale</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Low</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Yes</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bl>
          </a:graphicData>
        </a:graphic>
      </p:graphicFrame>
      <p:sp>
        <p:nvSpPr>
          <p:cNvPr id="10" name="TextBox 9"/>
          <p:cNvSpPr txBox="1"/>
          <p:nvPr/>
        </p:nvSpPr>
        <p:spPr>
          <a:xfrm>
            <a:off x="502920" y="3936492"/>
            <a:ext cx="8046720" cy="274320"/>
          </a:xfrm>
          <a:prstGeom prst="rect">
            <a:avLst/>
          </a:prstGeom>
          <a:noFill/>
        </p:spPr>
        <p:txBody>
          <a:bodyPr wrap="none">
            <a:spAutoFit/>
          </a:bodyPr>
          <a:lstStyle/>
          <a:p>
            <a:pPr>
              <a:defRPr sz="800" u="sng">
                <a:solidFill>
                  <a:srgbClr val="0066CC"/>
                </a:solidFill>
              </a:defRPr>
            </a:pPr>
            <a:r>
              <a:t>Redwood: View On-Hand Quantity for Closed or Inactive Projects on the Item Quantities Page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
          </a:xfrm>
          <a:prstGeom prst="rect">
            <a:avLst/>
          </a:prstGeom>
          <a:solidFill>
            <a:srgbClr val="0099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960620"/>
            <a:ext cx="9144000" cy="182880"/>
          </a:xfrm>
          <a:prstGeom prst="rect">
            <a:avLst/>
          </a:prstGeom>
          <a:solidFill>
            <a:srgbClr val="0099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7269481" y="256032"/>
            <a:ext cx="1508760" cy="384734"/>
          </a:xfrm>
          <a:prstGeom prst="rect">
            <a:avLst/>
          </a:prstGeom>
        </p:spPr>
      </p:pic>
      <p:pic>
        <p:nvPicPr>
          <p:cNvPr id="5" name="Picture 4" descr="tid_logo.png"/>
          <p:cNvPicPr>
            <a:picLocks noChangeAspect="1"/>
          </p:cNvPicPr>
          <p:nvPr/>
        </p:nvPicPr>
        <p:blipFill>
          <a:blip r:embed="rId3"/>
          <a:stretch>
            <a:fillRect/>
          </a:stretch>
        </p:blipFill>
        <p:spPr>
          <a:xfrm>
            <a:off x="4251960" y="4366260"/>
            <a:ext cx="640080" cy="356153"/>
          </a:xfrm>
          <a:prstGeom prst="rect">
            <a:avLst/>
          </a:prstGeom>
        </p:spPr>
      </p:pic>
      <p:sp>
        <p:nvSpPr>
          <p:cNvPr id="6" name="TextBox 5"/>
          <p:cNvSpPr txBox="1"/>
          <p:nvPr/>
        </p:nvSpPr>
        <p:spPr>
          <a:xfrm>
            <a:off x="0" y="4960620"/>
            <a:ext cx="9144000" cy="182880"/>
          </a:xfrm>
          <a:prstGeom prst="rect">
            <a:avLst/>
          </a:prstGeom>
          <a:noFill/>
        </p:spPr>
        <p:txBody>
          <a:bodyPr wrap="none">
            <a:spAutoFit/>
          </a:bodyPr>
          <a:lstStyle/>
          <a:p>
            <a:pPr algn="ctr">
              <a:defRPr sz="500">
                <a:solidFill>
                  <a:srgbClr val="FFFFFF"/>
                </a:solidFill>
              </a:defRPr>
            </a:pPr>
            <a:r>
              <a:t>Oracle Upgrade 26B - Confidential</a:t>
            </a:r>
          </a:p>
        </p:txBody>
      </p:sp>
      <p:sp>
        <p:nvSpPr>
          <p:cNvPr id="7" name="TextBox 6"/>
          <p:cNvSpPr txBox="1"/>
          <p:nvPr/>
        </p:nvSpPr>
        <p:spPr>
          <a:xfrm>
            <a:off x="8686800" y="4960620"/>
            <a:ext cx="0" cy="182880"/>
          </a:xfrm>
          <a:prstGeom prst="rect">
            <a:avLst/>
          </a:prstGeom>
          <a:noFill/>
        </p:spPr>
        <p:txBody>
          <a:bodyPr wrap="none">
            <a:spAutoFit/>
          </a:bodyPr>
          <a:lstStyle/>
          <a:p>
            <a:pPr algn="r">
              <a:defRPr sz="600">
                <a:solidFill>
                  <a:srgbClr val="FFFFFF"/>
                </a:solidFill>
              </a:defRPr>
            </a:pPr>
            <a:r>
              <a:t>24</a:t>
            </a:r>
          </a:p>
        </p:txBody>
      </p:sp>
      <p:sp>
        <p:nvSpPr>
          <p:cNvPr id="8" name="TextBox 7"/>
          <p:cNvSpPr txBox="1"/>
          <p:nvPr/>
        </p:nvSpPr>
        <p:spPr>
          <a:xfrm>
            <a:off x="384048" y="438912"/>
            <a:ext cx="5669280" cy="320040"/>
          </a:xfrm>
          <a:prstGeom prst="rect">
            <a:avLst/>
          </a:prstGeom>
          <a:noFill/>
        </p:spPr>
        <p:txBody>
          <a:bodyPr wrap="square">
            <a:spAutoFit/>
          </a:bodyPr>
          <a:lstStyle/>
          <a:p>
            <a:pPr algn="l">
              <a:defRPr sz="1600" b="1">
                <a:solidFill>
                  <a:srgbClr val="000000"/>
                </a:solidFill>
                <a:latin typeface="Calibri"/>
              </a:defRPr>
            </a:pPr>
            <a:r>
              <a:t>Landed Cost Management</a:t>
            </a:r>
          </a:p>
        </p:txBody>
      </p:sp>
      <p:graphicFrame>
        <p:nvGraphicFramePr>
          <p:cNvPr id="9" name="Table 8"/>
          <p:cNvGraphicFramePr>
            <a:graphicFrameLocks noGrp="1"/>
          </p:cNvGraphicFramePr>
          <p:nvPr/>
        </p:nvGraphicFramePr>
        <p:xfrm>
          <a:off x="384048" y="914400"/>
          <a:ext cx="8138160" cy="1417320"/>
        </p:xfrm>
        <a:graphic>
          <a:graphicData uri="http://schemas.openxmlformats.org/drawingml/2006/table">
            <a:tbl>
              <a:tblPr firstRow="1" bandRow="1">
                <a:tableStyleId>{5C22544A-7EE6-4342-B048-85BDC9FD1C3A}</a:tableStyleId>
              </a:tblPr>
              <a:tblGrid>
                <a:gridCol w="457200"/>
                <a:gridCol w="2011680"/>
                <a:gridCol w="2011680"/>
                <a:gridCol w="1828800"/>
                <a:gridCol w="914400"/>
                <a:gridCol w="914400"/>
              </a:tblGrid>
              <a:tr h="320040">
                <a:tc>
                  <a:txBody>
                    <a:bodyPr wrap="square"/>
                    <a:lstStyle/>
                    <a:p>
                      <a:pPr>
                        <a:defRPr sz="850" b="1">
                          <a:solidFill>
                            <a:srgbClr val="FFFFFF"/>
                          </a:solidFill>
                          <a:latin typeface="Calibri"/>
                        </a:defRPr>
                      </a:pPr>
                      <a:r>
                        <a:t>Sr.</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26B Feature</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Benefit</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Impact</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Priority</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Mandatory</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1097280">
                <a:tc>
                  <a:txBody>
                    <a:bodyPr wrap="square"/>
                    <a:lstStyle/>
                    <a:p>
                      <a:pPr>
                        <a:defRPr sz="850" b="0">
                          <a:solidFill>
                            <a:srgbClr val="000000"/>
                          </a:solidFill>
                          <a:latin typeface="Calibri"/>
                        </a:defRPr>
                      </a:pPr>
                      <a:r>
                        <a:t>1</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Support the Landed Cost Enabled Attribute in Payables FBDI Upload</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Accurate landed cost calculation is critical for understanding the true cost of procured items, considering it includes freight, insurance, duties, and other associated charges. To improve data capture and automation during invoice import, the Landed Cost Enabled attribute has now been added to the...</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Small scale</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Medium</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Yes</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bl>
          </a:graphicData>
        </a:graphic>
      </p:graphicFrame>
      <p:sp>
        <p:nvSpPr>
          <p:cNvPr id="10" name="TextBox 9"/>
          <p:cNvSpPr txBox="1"/>
          <p:nvPr/>
        </p:nvSpPr>
        <p:spPr>
          <a:xfrm>
            <a:off x="502920" y="3936492"/>
            <a:ext cx="8046720" cy="274320"/>
          </a:xfrm>
          <a:prstGeom prst="rect">
            <a:avLst/>
          </a:prstGeom>
          <a:noFill/>
        </p:spPr>
        <p:txBody>
          <a:bodyPr wrap="none">
            <a:spAutoFit/>
          </a:bodyPr>
          <a:lstStyle/>
          <a:p>
            <a:pPr>
              <a:defRPr sz="800" u="sng">
                <a:solidFill>
                  <a:srgbClr val="0066CC"/>
                </a:solidFill>
              </a:defRPr>
            </a:pPr>
            <a:r>
              <a:t>Support the Landed Cost Enabled Attribute in Payables FBDI Upload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
          </a:xfrm>
          <a:prstGeom prst="rect">
            <a:avLst/>
          </a:prstGeom>
          <a:solidFill>
            <a:srgbClr val="0099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960620"/>
            <a:ext cx="9144000" cy="182880"/>
          </a:xfrm>
          <a:prstGeom prst="rect">
            <a:avLst/>
          </a:prstGeom>
          <a:solidFill>
            <a:srgbClr val="0099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7269481" y="256032"/>
            <a:ext cx="1508760" cy="384734"/>
          </a:xfrm>
          <a:prstGeom prst="rect">
            <a:avLst/>
          </a:prstGeom>
        </p:spPr>
      </p:pic>
      <p:pic>
        <p:nvPicPr>
          <p:cNvPr id="5" name="Picture 4" descr="tid_logo.png"/>
          <p:cNvPicPr>
            <a:picLocks noChangeAspect="1"/>
          </p:cNvPicPr>
          <p:nvPr/>
        </p:nvPicPr>
        <p:blipFill>
          <a:blip r:embed="rId3"/>
          <a:stretch>
            <a:fillRect/>
          </a:stretch>
        </p:blipFill>
        <p:spPr>
          <a:xfrm>
            <a:off x="4251960" y="4366260"/>
            <a:ext cx="640080" cy="356153"/>
          </a:xfrm>
          <a:prstGeom prst="rect">
            <a:avLst/>
          </a:prstGeom>
        </p:spPr>
      </p:pic>
      <p:sp>
        <p:nvSpPr>
          <p:cNvPr id="6" name="TextBox 5"/>
          <p:cNvSpPr txBox="1"/>
          <p:nvPr/>
        </p:nvSpPr>
        <p:spPr>
          <a:xfrm>
            <a:off x="0" y="4960620"/>
            <a:ext cx="9144000" cy="182880"/>
          </a:xfrm>
          <a:prstGeom prst="rect">
            <a:avLst/>
          </a:prstGeom>
          <a:noFill/>
        </p:spPr>
        <p:txBody>
          <a:bodyPr wrap="none">
            <a:spAutoFit/>
          </a:bodyPr>
          <a:lstStyle/>
          <a:p>
            <a:pPr algn="ctr">
              <a:defRPr sz="500">
                <a:solidFill>
                  <a:srgbClr val="FFFFFF"/>
                </a:solidFill>
              </a:defRPr>
            </a:pPr>
            <a:r>
              <a:t>Oracle Upgrade 26B - Confidential</a:t>
            </a:r>
          </a:p>
        </p:txBody>
      </p:sp>
      <p:sp>
        <p:nvSpPr>
          <p:cNvPr id="7" name="TextBox 6"/>
          <p:cNvSpPr txBox="1"/>
          <p:nvPr/>
        </p:nvSpPr>
        <p:spPr>
          <a:xfrm>
            <a:off x="8686800" y="4960620"/>
            <a:ext cx="0" cy="182880"/>
          </a:xfrm>
          <a:prstGeom prst="rect">
            <a:avLst/>
          </a:prstGeom>
          <a:noFill/>
        </p:spPr>
        <p:txBody>
          <a:bodyPr wrap="none">
            <a:spAutoFit/>
          </a:bodyPr>
          <a:lstStyle/>
          <a:p>
            <a:pPr algn="r">
              <a:defRPr sz="600">
                <a:solidFill>
                  <a:srgbClr val="FFFFFF"/>
                </a:solidFill>
              </a:defRPr>
            </a:pPr>
            <a:r>
              <a:t>25</a:t>
            </a:r>
          </a:p>
        </p:txBody>
      </p:sp>
      <p:sp>
        <p:nvSpPr>
          <p:cNvPr id="8" name="TextBox 7"/>
          <p:cNvSpPr txBox="1"/>
          <p:nvPr/>
        </p:nvSpPr>
        <p:spPr>
          <a:xfrm>
            <a:off x="384048" y="438912"/>
            <a:ext cx="5669280" cy="320040"/>
          </a:xfrm>
          <a:prstGeom prst="rect">
            <a:avLst/>
          </a:prstGeom>
          <a:noFill/>
        </p:spPr>
        <p:txBody>
          <a:bodyPr wrap="square">
            <a:spAutoFit/>
          </a:bodyPr>
          <a:lstStyle/>
          <a:p>
            <a:pPr algn="l">
              <a:defRPr sz="1600" b="1">
                <a:solidFill>
                  <a:srgbClr val="000000"/>
                </a:solidFill>
                <a:latin typeface="Calibri"/>
              </a:defRPr>
            </a:pPr>
            <a:r>
              <a:t>Mobile Inventory</a:t>
            </a:r>
          </a:p>
        </p:txBody>
      </p:sp>
      <p:graphicFrame>
        <p:nvGraphicFramePr>
          <p:cNvPr id="9" name="Table 8"/>
          <p:cNvGraphicFramePr>
            <a:graphicFrameLocks noGrp="1"/>
          </p:cNvGraphicFramePr>
          <p:nvPr/>
        </p:nvGraphicFramePr>
        <p:xfrm>
          <a:off x="384048" y="914400"/>
          <a:ext cx="8138160" cy="1417320"/>
        </p:xfrm>
        <a:graphic>
          <a:graphicData uri="http://schemas.openxmlformats.org/drawingml/2006/table">
            <a:tbl>
              <a:tblPr firstRow="1" bandRow="1">
                <a:tableStyleId>{5C22544A-7EE6-4342-B048-85BDC9FD1C3A}</a:tableStyleId>
              </a:tblPr>
              <a:tblGrid>
                <a:gridCol w="457200"/>
                <a:gridCol w="2011680"/>
                <a:gridCol w="2011680"/>
                <a:gridCol w="1828800"/>
                <a:gridCol w="914400"/>
                <a:gridCol w="914400"/>
              </a:tblGrid>
              <a:tr h="320040">
                <a:tc>
                  <a:txBody>
                    <a:bodyPr wrap="square"/>
                    <a:lstStyle/>
                    <a:p>
                      <a:pPr>
                        <a:defRPr sz="850" b="1">
                          <a:solidFill>
                            <a:srgbClr val="FFFFFF"/>
                          </a:solidFill>
                          <a:latin typeface="Calibri"/>
                        </a:defRPr>
                      </a:pPr>
                      <a:r>
                        <a:t>Sr.</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26B Feature</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Benefit</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Impact</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Priority</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Mandatory</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1097280">
                <a:tc>
                  <a:txBody>
                    <a:bodyPr wrap="square"/>
                    <a:lstStyle/>
                    <a:p>
                      <a:pPr>
                        <a:defRPr sz="850" b="0">
                          <a:solidFill>
                            <a:srgbClr val="000000"/>
                          </a:solidFill>
                          <a:latin typeface="Calibri"/>
                        </a:defRPr>
                      </a:pPr>
                      <a:r>
                        <a:t>1</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Redwood: Search for Open Pick Slips by Destination Location When Using a Mobile Device</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Internal material transfers executed through transfer orders enable you to move goods between storage locations or deliver them directly to a requester for immediate use. Previously, when searching for open pick slips on a mobile device, you could only locate inventory destination transfer orders...</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Internal material transfers executed through transfer orders enable you to move goods between storage locations or deliver them directly to a requester for immediate use.</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High</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No</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bl>
          </a:graphicData>
        </a:graphic>
      </p:graphicFrame>
      <p:sp>
        <p:nvSpPr>
          <p:cNvPr id="10" name="TextBox 9"/>
          <p:cNvSpPr txBox="1"/>
          <p:nvPr/>
        </p:nvSpPr>
        <p:spPr>
          <a:xfrm>
            <a:off x="502920" y="3936492"/>
            <a:ext cx="8046720" cy="274320"/>
          </a:xfrm>
          <a:prstGeom prst="rect">
            <a:avLst/>
          </a:prstGeom>
          <a:noFill/>
        </p:spPr>
        <p:txBody>
          <a:bodyPr wrap="none">
            <a:spAutoFit/>
          </a:bodyPr>
          <a:lstStyle/>
          <a:p>
            <a:pPr>
              <a:defRPr sz="800" u="sng">
                <a:solidFill>
                  <a:srgbClr val="0066CC"/>
                </a:solidFill>
              </a:defRPr>
            </a:pPr>
            <a:r>
              <a:t>Redwood: Search for Open Pick Slips by Destination Location When Using a Mobile Device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
          </a:xfrm>
          <a:prstGeom prst="rect">
            <a:avLst/>
          </a:prstGeom>
          <a:solidFill>
            <a:srgbClr val="0099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960620"/>
            <a:ext cx="9144000" cy="182880"/>
          </a:xfrm>
          <a:prstGeom prst="rect">
            <a:avLst/>
          </a:prstGeom>
          <a:solidFill>
            <a:srgbClr val="0099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7269481" y="256032"/>
            <a:ext cx="1508760" cy="384734"/>
          </a:xfrm>
          <a:prstGeom prst="rect">
            <a:avLst/>
          </a:prstGeom>
        </p:spPr>
      </p:pic>
      <p:pic>
        <p:nvPicPr>
          <p:cNvPr id="5" name="Picture 4" descr="tid_logo.png"/>
          <p:cNvPicPr>
            <a:picLocks noChangeAspect="1"/>
          </p:cNvPicPr>
          <p:nvPr/>
        </p:nvPicPr>
        <p:blipFill>
          <a:blip r:embed="rId3"/>
          <a:stretch>
            <a:fillRect/>
          </a:stretch>
        </p:blipFill>
        <p:spPr>
          <a:xfrm>
            <a:off x="4251960" y="4366260"/>
            <a:ext cx="640080" cy="356153"/>
          </a:xfrm>
          <a:prstGeom prst="rect">
            <a:avLst/>
          </a:prstGeom>
        </p:spPr>
      </p:pic>
      <p:sp>
        <p:nvSpPr>
          <p:cNvPr id="6" name="TextBox 5"/>
          <p:cNvSpPr txBox="1"/>
          <p:nvPr/>
        </p:nvSpPr>
        <p:spPr>
          <a:xfrm>
            <a:off x="0" y="4960620"/>
            <a:ext cx="9144000" cy="182880"/>
          </a:xfrm>
          <a:prstGeom prst="rect">
            <a:avLst/>
          </a:prstGeom>
          <a:noFill/>
        </p:spPr>
        <p:txBody>
          <a:bodyPr wrap="none">
            <a:spAutoFit/>
          </a:bodyPr>
          <a:lstStyle/>
          <a:p>
            <a:pPr algn="ctr">
              <a:defRPr sz="500">
                <a:solidFill>
                  <a:srgbClr val="FFFFFF"/>
                </a:solidFill>
              </a:defRPr>
            </a:pPr>
            <a:r>
              <a:t>Oracle Upgrade 26B - Confidential</a:t>
            </a:r>
          </a:p>
        </p:txBody>
      </p:sp>
      <p:sp>
        <p:nvSpPr>
          <p:cNvPr id="7" name="TextBox 6"/>
          <p:cNvSpPr txBox="1"/>
          <p:nvPr/>
        </p:nvSpPr>
        <p:spPr>
          <a:xfrm>
            <a:off x="8686800" y="4960620"/>
            <a:ext cx="0" cy="182880"/>
          </a:xfrm>
          <a:prstGeom prst="rect">
            <a:avLst/>
          </a:prstGeom>
          <a:noFill/>
        </p:spPr>
        <p:txBody>
          <a:bodyPr wrap="none">
            <a:spAutoFit/>
          </a:bodyPr>
          <a:lstStyle/>
          <a:p>
            <a:pPr algn="r">
              <a:defRPr sz="600">
                <a:solidFill>
                  <a:srgbClr val="FFFFFF"/>
                </a:solidFill>
              </a:defRPr>
            </a:pPr>
            <a:r>
              <a:t>26</a:t>
            </a:r>
          </a:p>
        </p:txBody>
      </p:sp>
      <p:sp>
        <p:nvSpPr>
          <p:cNvPr id="8" name="TextBox 7"/>
          <p:cNvSpPr txBox="1"/>
          <p:nvPr/>
        </p:nvSpPr>
        <p:spPr>
          <a:xfrm>
            <a:off x="384048" y="438912"/>
            <a:ext cx="5669280" cy="320040"/>
          </a:xfrm>
          <a:prstGeom prst="rect">
            <a:avLst/>
          </a:prstGeom>
          <a:noFill/>
        </p:spPr>
        <p:txBody>
          <a:bodyPr wrap="square">
            <a:spAutoFit/>
          </a:bodyPr>
          <a:lstStyle/>
          <a:p>
            <a:pPr algn="l">
              <a:defRPr sz="1600" b="1">
                <a:solidFill>
                  <a:srgbClr val="000000"/>
                </a:solidFill>
                <a:latin typeface="Calibri"/>
              </a:defRPr>
            </a:pPr>
            <a:r>
              <a:t>Product Recall Management</a:t>
            </a:r>
          </a:p>
        </p:txBody>
      </p:sp>
      <p:graphicFrame>
        <p:nvGraphicFramePr>
          <p:cNvPr id="9" name="Table 8"/>
          <p:cNvGraphicFramePr>
            <a:graphicFrameLocks noGrp="1"/>
          </p:cNvGraphicFramePr>
          <p:nvPr/>
        </p:nvGraphicFramePr>
        <p:xfrm>
          <a:off x="384048" y="914400"/>
          <a:ext cx="8138160" cy="2514600"/>
        </p:xfrm>
        <a:graphic>
          <a:graphicData uri="http://schemas.openxmlformats.org/drawingml/2006/table">
            <a:tbl>
              <a:tblPr firstRow="1" bandRow="1">
                <a:tableStyleId>{5C22544A-7EE6-4342-B048-85BDC9FD1C3A}</a:tableStyleId>
              </a:tblPr>
              <a:tblGrid>
                <a:gridCol w="457200"/>
                <a:gridCol w="2011680"/>
                <a:gridCol w="2011680"/>
                <a:gridCol w="1828800"/>
                <a:gridCol w="914400"/>
                <a:gridCol w="914400"/>
              </a:tblGrid>
              <a:tr h="320040">
                <a:tc>
                  <a:txBody>
                    <a:bodyPr wrap="square"/>
                    <a:lstStyle/>
                    <a:p>
                      <a:pPr>
                        <a:defRPr sz="850" b="1">
                          <a:solidFill>
                            <a:srgbClr val="FFFFFF"/>
                          </a:solidFill>
                          <a:latin typeface="Calibri"/>
                        </a:defRPr>
                      </a:pPr>
                      <a:r>
                        <a:t>Sr.</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26B Feature</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Benefit</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Impact</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Priority</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Mandatory</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1097280">
                <a:tc>
                  <a:txBody>
                    <a:bodyPr wrap="square"/>
                    <a:lstStyle/>
                    <a:p>
                      <a:pPr>
                        <a:defRPr sz="850" b="0">
                          <a:solidFill>
                            <a:srgbClr val="000000"/>
                          </a:solidFill>
                          <a:latin typeface="Calibri"/>
                        </a:defRPr>
                      </a:pPr>
                      <a:r>
                        <a:t>1</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Derive Containment Task Owners on the Recall Tasks and Send Notifications</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You can now map inventory organizations, departments (cost centers) or subinventories to one or more employees so recall containment tasks generated in the bypass count and disposal tasks workflow automatically derive task owners and send notifications to the appropriate coordinators using AI...</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You can now map inventory organizations, departments (cost centers) or subinventories to one or more employees so recall containment tasks generated in the bypass count and disposal tasks workflow automatically derive task owners and send notifications to the appropriate coordinators using AI...</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High</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No</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1097280">
                <a:tc>
                  <a:txBody>
                    <a:bodyPr wrap="square"/>
                    <a:lstStyle/>
                    <a:p>
                      <a:pPr>
                        <a:defRPr sz="850" b="0">
                          <a:solidFill>
                            <a:srgbClr val="000000"/>
                          </a:solidFill>
                          <a:latin typeface="Calibri"/>
                        </a:defRPr>
                      </a:pPr>
                      <a:r>
                        <a:t>2</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Select Inventory Organizations Participating in Recall Management</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With this release, you can now control which inventory organizations participate in Product Recall Management. Instead of applying recall processes across all organizations, you can designate all or only selected inventory organizations, enabling phased rollouts and more targeted containment...</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With this release, you can now control which inventory organizations participate in Product Recall Management.</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High</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No</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bl>
          </a:graphicData>
        </a:graphic>
      </p:graphicFrame>
      <p:sp>
        <p:nvSpPr>
          <p:cNvPr id="10" name="TextBox 9"/>
          <p:cNvSpPr txBox="1"/>
          <p:nvPr/>
        </p:nvSpPr>
        <p:spPr>
          <a:xfrm>
            <a:off x="502920" y="3735324"/>
            <a:ext cx="8046720" cy="274320"/>
          </a:xfrm>
          <a:prstGeom prst="rect">
            <a:avLst/>
          </a:prstGeom>
          <a:noFill/>
        </p:spPr>
        <p:txBody>
          <a:bodyPr wrap="none">
            <a:spAutoFit/>
          </a:bodyPr>
          <a:lstStyle/>
          <a:p>
            <a:pPr>
              <a:defRPr sz="800" u="sng">
                <a:solidFill>
                  <a:srgbClr val="0066CC"/>
                </a:solidFill>
              </a:defRPr>
            </a:pPr>
            <a:r>
              <a:t>Derive Containment Task Owners on the Recall Tasks and Send Notifications</a:t>
            </a:r>
          </a:p>
        </p:txBody>
      </p:sp>
      <p:sp>
        <p:nvSpPr>
          <p:cNvPr id="11" name="TextBox 10"/>
          <p:cNvSpPr txBox="1"/>
          <p:nvPr/>
        </p:nvSpPr>
        <p:spPr>
          <a:xfrm>
            <a:off x="502920" y="3936492"/>
            <a:ext cx="8046720" cy="274320"/>
          </a:xfrm>
          <a:prstGeom prst="rect">
            <a:avLst/>
          </a:prstGeom>
          <a:noFill/>
        </p:spPr>
        <p:txBody>
          <a:bodyPr wrap="none">
            <a:spAutoFit/>
          </a:bodyPr>
          <a:lstStyle/>
          <a:p>
            <a:pPr>
              <a:defRPr sz="800" u="sng">
                <a:solidFill>
                  <a:srgbClr val="0066CC"/>
                </a:solidFill>
              </a:defRPr>
            </a:pPr>
            <a:r>
              <a:t>Select Inventory Organizations Participating in Recall Management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
          </a:xfrm>
          <a:prstGeom prst="rect">
            <a:avLst/>
          </a:prstGeom>
          <a:solidFill>
            <a:srgbClr val="0099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960620"/>
            <a:ext cx="9144000" cy="182880"/>
          </a:xfrm>
          <a:prstGeom prst="rect">
            <a:avLst/>
          </a:prstGeom>
          <a:solidFill>
            <a:srgbClr val="0099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7269481" y="256032"/>
            <a:ext cx="1508760" cy="384734"/>
          </a:xfrm>
          <a:prstGeom prst="rect">
            <a:avLst/>
          </a:prstGeom>
        </p:spPr>
      </p:pic>
      <p:pic>
        <p:nvPicPr>
          <p:cNvPr id="5" name="Picture 4" descr="tid_logo.png"/>
          <p:cNvPicPr>
            <a:picLocks noChangeAspect="1"/>
          </p:cNvPicPr>
          <p:nvPr/>
        </p:nvPicPr>
        <p:blipFill>
          <a:blip r:embed="rId3"/>
          <a:stretch>
            <a:fillRect/>
          </a:stretch>
        </p:blipFill>
        <p:spPr>
          <a:xfrm>
            <a:off x="4251960" y="4366260"/>
            <a:ext cx="640080" cy="356153"/>
          </a:xfrm>
          <a:prstGeom prst="rect">
            <a:avLst/>
          </a:prstGeom>
        </p:spPr>
      </p:pic>
      <p:sp>
        <p:nvSpPr>
          <p:cNvPr id="6" name="TextBox 5"/>
          <p:cNvSpPr txBox="1"/>
          <p:nvPr/>
        </p:nvSpPr>
        <p:spPr>
          <a:xfrm>
            <a:off x="0" y="4960620"/>
            <a:ext cx="9144000" cy="182880"/>
          </a:xfrm>
          <a:prstGeom prst="rect">
            <a:avLst/>
          </a:prstGeom>
          <a:noFill/>
        </p:spPr>
        <p:txBody>
          <a:bodyPr wrap="none">
            <a:spAutoFit/>
          </a:bodyPr>
          <a:lstStyle/>
          <a:p>
            <a:pPr algn="ctr">
              <a:defRPr sz="500">
                <a:solidFill>
                  <a:srgbClr val="FFFFFF"/>
                </a:solidFill>
              </a:defRPr>
            </a:pPr>
            <a:r>
              <a:t>Oracle Upgrade 26B - Confidential</a:t>
            </a:r>
          </a:p>
        </p:txBody>
      </p:sp>
      <p:sp>
        <p:nvSpPr>
          <p:cNvPr id="7" name="TextBox 6"/>
          <p:cNvSpPr txBox="1"/>
          <p:nvPr/>
        </p:nvSpPr>
        <p:spPr>
          <a:xfrm>
            <a:off x="8686800" y="4960620"/>
            <a:ext cx="0" cy="182880"/>
          </a:xfrm>
          <a:prstGeom prst="rect">
            <a:avLst/>
          </a:prstGeom>
          <a:noFill/>
        </p:spPr>
        <p:txBody>
          <a:bodyPr wrap="none">
            <a:spAutoFit/>
          </a:bodyPr>
          <a:lstStyle/>
          <a:p>
            <a:pPr algn="r">
              <a:defRPr sz="600">
                <a:solidFill>
                  <a:srgbClr val="FFFFFF"/>
                </a:solidFill>
              </a:defRPr>
            </a:pPr>
            <a:r>
              <a:t>27</a:t>
            </a:r>
          </a:p>
        </p:txBody>
      </p:sp>
      <p:sp>
        <p:nvSpPr>
          <p:cNvPr id="8" name="TextBox 7"/>
          <p:cNvSpPr txBox="1"/>
          <p:nvPr/>
        </p:nvSpPr>
        <p:spPr>
          <a:xfrm>
            <a:off x="384048" y="438912"/>
            <a:ext cx="5669280" cy="320040"/>
          </a:xfrm>
          <a:prstGeom prst="rect">
            <a:avLst/>
          </a:prstGeom>
          <a:noFill/>
        </p:spPr>
        <p:txBody>
          <a:bodyPr wrap="square">
            <a:spAutoFit/>
          </a:bodyPr>
          <a:lstStyle/>
          <a:p>
            <a:pPr algn="l">
              <a:defRPr sz="1600" b="1">
                <a:solidFill>
                  <a:srgbClr val="000000"/>
                </a:solidFill>
                <a:latin typeface="Calibri"/>
              </a:defRPr>
            </a:pPr>
            <a:r>
              <a:t>Receiving (1/6)</a:t>
            </a:r>
          </a:p>
        </p:txBody>
      </p:sp>
      <p:graphicFrame>
        <p:nvGraphicFramePr>
          <p:cNvPr id="9" name="Table 8"/>
          <p:cNvGraphicFramePr>
            <a:graphicFrameLocks noGrp="1"/>
          </p:cNvGraphicFramePr>
          <p:nvPr/>
        </p:nvGraphicFramePr>
        <p:xfrm>
          <a:off x="384048" y="914400"/>
          <a:ext cx="8138160" cy="2514600"/>
        </p:xfrm>
        <a:graphic>
          <a:graphicData uri="http://schemas.openxmlformats.org/drawingml/2006/table">
            <a:tbl>
              <a:tblPr firstRow="1" bandRow="1">
                <a:tableStyleId>{5C22544A-7EE6-4342-B048-85BDC9FD1C3A}</a:tableStyleId>
              </a:tblPr>
              <a:tblGrid>
                <a:gridCol w="457200"/>
                <a:gridCol w="2011680"/>
                <a:gridCol w="2011680"/>
                <a:gridCol w="1828800"/>
                <a:gridCol w="914400"/>
                <a:gridCol w="914400"/>
              </a:tblGrid>
              <a:tr h="320040">
                <a:tc>
                  <a:txBody>
                    <a:bodyPr wrap="square"/>
                    <a:lstStyle/>
                    <a:p>
                      <a:pPr>
                        <a:defRPr sz="850" b="1">
                          <a:solidFill>
                            <a:srgbClr val="FFFFFF"/>
                          </a:solidFill>
                          <a:latin typeface="Calibri"/>
                        </a:defRPr>
                      </a:pPr>
                      <a:r>
                        <a:t>Sr.</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26B Feature</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Benefit</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Impact</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Priority</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Mandatory</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1097280">
                <a:tc>
                  <a:txBody>
                    <a:bodyPr wrap="square"/>
                    <a:lstStyle/>
                    <a:p>
                      <a:pPr>
                        <a:defRPr sz="850" b="0">
                          <a:solidFill>
                            <a:srgbClr val="000000"/>
                          </a:solidFill>
                          <a:latin typeface="Calibri"/>
                        </a:defRPr>
                      </a:pPr>
                      <a:r>
                        <a:t>1</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AI Agent: ASN Creation Assistant - Create ASN Through Email</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Tenant ID, Client ID, Client Secret : Email credentials. Tenant ID, Client ID, Client Secret Click Create .</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Tenant ID, Client ID, Client Secret : Email credentials.</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High</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No</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1097280">
                <a:tc>
                  <a:txBody>
                    <a:bodyPr wrap="square"/>
                    <a:lstStyle/>
                    <a:p>
                      <a:pPr>
                        <a:defRPr sz="850" b="0">
                          <a:solidFill>
                            <a:srgbClr val="000000"/>
                          </a:solidFill>
                          <a:latin typeface="Calibri"/>
                        </a:defRPr>
                      </a:pPr>
                      <a:r>
                        <a:t>2</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AI Agent: Receipt Creation Assistant - Create Receipt Through Email</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Tenant ID, Client ID, Client Secret: Email credentials. Tenant ID, Client ID, Client Secret: Click the Create button to create the inbound account.</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Tenant ID, Client ID, Client Secret: Email credentials.</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High</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No</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bl>
          </a:graphicData>
        </a:graphic>
      </p:graphicFrame>
      <p:sp>
        <p:nvSpPr>
          <p:cNvPr id="10" name="TextBox 9"/>
          <p:cNvSpPr txBox="1"/>
          <p:nvPr/>
        </p:nvSpPr>
        <p:spPr>
          <a:xfrm>
            <a:off x="502920" y="3735324"/>
            <a:ext cx="8046720" cy="274320"/>
          </a:xfrm>
          <a:prstGeom prst="rect">
            <a:avLst/>
          </a:prstGeom>
          <a:noFill/>
        </p:spPr>
        <p:txBody>
          <a:bodyPr wrap="none">
            <a:spAutoFit/>
          </a:bodyPr>
          <a:lstStyle/>
          <a:p>
            <a:pPr>
              <a:defRPr sz="800" u="sng">
                <a:solidFill>
                  <a:srgbClr val="0066CC"/>
                </a:solidFill>
              </a:defRPr>
            </a:pPr>
            <a:r>
              <a:t>AI Agent: ASN Creation Assistant - Create ASN Through Email</a:t>
            </a:r>
          </a:p>
        </p:txBody>
      </p:sp>
      <p:sp>
        <p:nvSpPr>
          <p:cNvPr id="11" name="TextBox 10"/>
          <p:cNvSpPr txBox="1"/>
          <p:nvPr/>
        </p:nvSpPr>
        <p:spPr>
          <a:xfrm>
            <a:off x="502920" y="3936492"/>
            <a:ext cx="8046720" cy="274320"/>
          </a:xfrm>
          <a:prstGeom prst="rect">
            <a:avLst/>
          </a:prstGeom>
          <a:noFill/>
        </p:spPr>
        <p:txBody>
          <a:bodyPr wrap="none">
            <a:spAutoFit/>
          </a:bodyPr>
          <a:lstStyle/>
          <a:p>
            <a:pPr>
              <a:defRPr sz="800" u="sng">
                <a:solidFill>
                  <a:srgbClr val="0066CC"/>
                </a:solidFill>
              </a:defRPr>
            </a:pPr>
            <a:r>
              <a:t>AI Agent: Receipt Creation Assistant - Create Receipt Through Email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
          </a:xfrm>
          <a:prstGeom prst="rect">
            <a:avLst/>
          </a:prstGeom>
          <a:solidFill>
            <a:srgbClr val="0099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960620"/>
            <a:ext cx="9144000" cy="182880"/>
          </a:xfrm>
          <a:prstGeom prst="rect">
            <a:avLst/>
          </a:prstGeom>
          <a:solidFill>
            <a:srgbClr val="0099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7269481" y="256032"/>
            <a:ext cx="1508760" cy="384734"/>
          </a:xfrm>
          <a:prstGeom prst="rect">
            <a:avLst/>
          </a:prstGeom>
        </p:spPr>
      </p:pic>
      <p:pic>
        <p:nvPicPr>
          <p:cNvPr id="5" name="Picture 4" descr="tid_logo.png"/>
          <p:cNvPicPr>
            <a:picLocks noChangeAspect="1"/>
          </p:cNvPicPr>
          <p:nvPr/>
        </p:nvPicPr>
        <p:blipFill>
          <a:blip r:embed="rId3"/>
          <a:stretch>
            <a:fillRect/>
          </a:stretch>
        </p:blipFill>
        <p:spPr>
          <a:xfrm>
            <a:off x="4251960" y="4366260"/>
            <a:ext cx="640080" cy="356153"/>
          </a:xfrm>
          <a:prstGeom prst="rect">
            <a:avLst/>
          </a:prstGeom>
        </p:spPr>
      </p:pic>
      <p:sp>
        <p:nvSpPr>
          <p:cNvPr id="6" name="TextBox 5"/>
          <p:cNvSpPr txBox="1"/>
          <p:nvPr/>
        </p:nvSpPr>
        <p:spPr>
          <a:xfrm>
            <a:off x="0" y="4960620"/>
            <a:ext cx="9144000" cy="182880"/>
          </a:xfrm>
          <a:prstGeom prst="rect">
            <a:avLst/>
          </a:prstGeom>
          <a:noFill/>
        </p:spPr>
        <p:txBody>
          <a:bodyPr wrap="none">
            <a:spAutoFit/>
          </a:bodyPr>
          <a:lstStyle/>
          <a:p>
            <a:pPr algn="ctr">
              <a:defRPr sz="500">
                <a:solidFill>
                  <a:srgbClr val="FFFFFF"/>
                </a:solidFill>
              </a:defRPr>
            </a:pPr>
            <a:r>
              <a:t>Oracle Upgrade 26B - Confidential</a:t>
            </a:r>
          </a:p>
        </p:txBody>
      </p:sp>
      <p:sp>
        <p:nvSpPr>
          <p:cNvPr id="7" name="TextBox 6"/>
          <p:cNvSpPr txBox="1"/>
          <p:nvPr/>
        </p:nvSpPr>
        <p:spPr>
          <a:xfrm>
            <a:off x="8686800" y="4960620"/>
            <a:ext cx="0" cy="182880"/>
          </a:xfrm>
          <a:prstGeom prst="rect">
            <a:avLst/>
          </a:prstGeom>
          <a:noFill/>
        </p:spPr>
        <p:txBody>
          <a:bodyPr wrap="none">
            <a:spAutoFit/>
          </a:bodyPr>
          <a:lstStyle/>
          <a:p>
            <a:pPr algn="r">
              <a:defRPr sz="600">
                <a:solidFill>
                  <a:srgbClr val="FFFFFF"/>
                </a:solidFill>
              </a:defRPr>
            </a:pPr>
            <a:r>
              <a:t>28</a:t>
            </a:r>
          </a:p>
        </p:txBody>
      </p:sp>
      <p:sp>
        <p:nvSpPr>
          <p:cNvPr id="8" name="TextBox 7"/>
          <p:cNvSpPr txBox="1"/>
          <p:nvPr/>
        </p:nvSpPr>
        <p:spPr>
          <a:xfrm>
            <a:off x="384048" y="438912"/>
            <a:ext cx="5669280" cy="320040"/>
          </a:xfrm>
          <a:prstGeom prst="rect">
            <a:avLst/>
          </a:prstGeom>
          <a:noFill/>
        </p:spPr>
        <p:txBody>
          <a:bodyPr wrap="square">
            <a:spAutoFit/>
          </a:bodyPr>
          <a:lstStyle/>
          <a:p>
            <a:pPr algn="l">
              <a:defRPr sz="1600" b="1">
                <a:solidFill>
                  <a:srgbClr val="000000"/>
                </a:solidFill>
                <a:latin typeface="Calibri"/>
              </a:defRPr>
            </a:pPr>
            <a:r>
              <a:t>Receiving (2/6)</a:t>
            </a:r>
          </a:p>
        </p:txBody>
      </p:sp>
      <p:graphicFrame>
        <p:nvGraphicFramePr>
          <p:cNvPr id="9" name="Table 8"/>
          <p:cNvGraphicFramePr>
            <a:graphicFrameLocks noGrp="1"/>
          </p:cNvGraphicFramePr>
          <p:nvPr/>
        </p:nvGraphicFramePr>
        <p:xfrm>
          <a:off x="384048" y="914400"/>
          <a:ext cx="8138160" cy="2514600"/>
        </p:xfrm>
        <a:graphic>
          <a:graphicData uri="http://schemas.openxmlformats.org/drawingml/2006/table">
            <a:tbl>
              <a:tblPr firstRow="1" bandRow="1">
                <a:tableStyleId>{5C22544A-7EE6-4342-B048-85BDC9FD1C3A}</a:tableStyleId>
              </a:tblPr>
              <a:tblGrid>
                <a:gridCol w="457200"/>
                <a:gridCol w="2011680"/>
                <a:gridCol w="2011680"/>
                <a:gridCol w="1828800"/>
                <a:gridCol w="914400"/>
                <a:gridCol w="914400"/>
              </a:tblGrid>
              <a:tr h="320040">
                <a:tc>
                  <a:txBody>
                    <a:bodyPr wrap="square"/>
                    <a:lstStyle/>
                    <a:p>
                      <a:pPr>
                        <a:defRPr sz="850" b="1">
                          <a:solidFill>
                            <a:srgbClr val="FFFFFF"/>
                          </a:solidFill>
                          <a:latin typeface="Calibri"/>
                        </a:defRPr>
                      </a:pPr>
                      <a:r>
                        <a:t>Sr.</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26B Feature</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Benefit</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Impact</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Priority</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Mandatory</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1097280">
                <a:tc>
                  <a:txBody>
                    <a:bodyPr wrap="square"/>
                    <a:lstStyle/>
                    <a:p>
                      <a:pPr>
                        <a:defRPr sz="850" b="0">
                          <a:solidFill>
                            <a:srgbClr val="000000"/>
                          </a:solidFill>
                          <a:latin typeface="Calibri"/>
                        </a:defRPr>
                      </a:pPr>
                      <a:r>
                        <a:t>3</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Redwood: Add Attachments and Update Descriptive Flexfields on Existing Receipts</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When you receive goods, your internal policy may require users to attach supplier documents or record specific details in Descriptive Flexfields (DFFs). During peak hours, receiving agents might overlook attaching a document or may enter incorrect information.</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When you receive goods, your internal policy may require users to attach supplier documents or record specific details in Descriptive Flexfields (DFFs).</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High</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No</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1097280">
                <a:tc>
                  <a:txBody>
                    <a:bodyPr wrap="square"/>
                    <a:lstStyle/>
                    <a:p>
                      <a:pPr>
                        <a:defRPr sz="850" b="0">
                          <a:solidFill>
                            <a:srgbClr val="000000"/>
                          </a:solidFill>
                          <a:latin typeface="Calibri"/>
                        </a:defRPr>
                      </a:pPr>
                      <a:r>
                        <a:t>4</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Redwood: Copy Lot and Serial Numbers from an ASN or Transfer Order When Using a Mobile Device to Receive or Put Away Goods</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When you use a mobile device to receive or put away goods from trusted suppliers, it may not be necessary to verify each lot or serial number provided in the Advance Shipment Notices (ASNs) or from internal transfers. Instead, you may want to copy the lot or serial numbers directly from the ASN or...</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When you use a mobile device to receive or put away goods from trusted suppliers, it may not be necessary to verify each lot or serial number provided in the Advance Shipment Notices (ASNs) or from internal transfers.</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High</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No</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bl>
          </a:graphicData>
        </a:graphic>
      </p:graphicFrame>
      <p:sp>
        <p:nvSpPr>
          <p:cNvPr id="10" name="TextBox 9"/>
          <p:cNvSpPr txBox="1"/>
          <p:nvPr/>
        </p:nvSpPr>
        <p:spPr>
          <a:xfrm>
            <a:off x="502920" y="3735324"/>
            <a:ext cx="8046720" cy="274320"/>
          </a:xfrm>
          <a:prstGeom prst="rect">
            <a:avLst/>
          </a:prstGeom>
          <a:noFill/>
        </p:spPr>
        <p:txBody>
          <a:bodyPr wrap="none">
            <a:spAutoFit/>
          </a:bodyPr>
          <a:lstStyle/>
          <a:p>
            <a:pPr>
              <a:defRPr sz="800" u="sng">
                <a:solidFill>
                  <a:srgbClr val="0066CC"/>
                </a:solidFill>
              </a:defRPr>
            </a:pPr>
            <a:r>
              <a:t>Redwood: Add Attachments and Update Descriptive Flexfields on Existing Receipts</a:t>
            </a:r>
          </a:p>
        </p:txBody>
      </p:sp>
      <p:sp>
        <p:nvSpPr>
          <p:cNvPr id="11" name="TextBox 10"/>
          <p:cNvSpPr txBox="1"/>
          <p:nvPr/>
        </p:nvSpPr>
        <p:spPr>
          <a:xfrm>
            <a:off x="502920" y="3936492"/>
            <a:ext cx="8046720" cy="274320"/>
          </a:xfrm>
          <a:prstGeom prst="rect">
            <a:avLst/>
          </a:prstGeom>
          <a:noFill/>
        </p:spPr>
        <p:txBody>
          <a:bodyPr wrap="none">
            <a:spAutoFit/>
          </a:bodyPr>
          <a:lstStyle/>
          <a:p>
            <a:pPr>
              <a:defRPr sz="800" u="sng">
                <a:solidFill>
                  <a:srgbClr val="0066CC"/>
                </a:solidFill>
              </a:defRPr>
            </a:pPr>
            <a:r>
              <a:t>Redwood: Copy Lot and Serial Numbers from an ASN or Transfer Order When Using a Mobile Device to Receive or...</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
          </a:xfrm>
          <a:prstGeom prst="rect">
            <a:avLst/>
          </a:prstGeom>
          <a:solidFill>
            <a:srgbClr val="0099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960620"/>
            <a:ext cx="9144000" cy="182880"/>
          </a:xfrm>
          <a:prstGeom prst="rect">
            <a:avLst/>
          </a:prstGeom>
          <a:solidFill>
            <a:srgbClr val="0099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7269481" y="256032"/>
            <a:ext cx="1508760" cy="384734"/>
          </a:xfrm>
          <a:prstGeom prst="rect">
            <a:avLst/>
          </a:prstGeom>
        </p:spPr>
      </p:pic>
      <p:pic>
        <p:nvPicPr>
          <p:cNvPr id="5" name="Picture 4" descr="tid_logo.png"/>
          <p:cNvPicPr>
            <a:picLocks noChangeAspect="1"/>
          </p:cNvPicPr>
          <p:nvPr/>
        </p:nvPicPr>
        <p:blipFill>
          <a:blip r:embed="rId3"/>
          <a:stretch>
            <a:fillRect/>
          </a:stretch>
        </p:blipFill>
        <p:spPr>
          <a:xfrm>
            <a:off x="4251960" y="4366260"/>
            <a:ext cx="640080" cy="356153"/>
          </a:xfrm>
          <a:prstGeom prst="rect">
            <a:avLst/>
          </a:prstGeom>
        </p:spPr>
      </p:pic>
      <p:sp>
        <p:nvSpPr>
          <p:cNvPr id="6" name="TextBox 5"/>
          <p:cNvSpPr txBox="1"/>
          <p:nvPr/>
        </p:nvSpPr>
        <p:spPr>
          <a:xfrm>
            <a:off x="0" y="4960620"/>
            <a:ext cx="9144000" cy="182880"/>
          </a:xfrm>
          <a:prstGeom prst="rect">
            <a:avLst/>
          </a:prstGeom>
          <a:noFill/>
        </p:spPr>
        <p:txBody>
          <a:bodyPr wrap="none">
            <a:spAutoFit/>
          </a:bodyPr>
          <a:lstStyle/>
          <a:p>
            <a:pPr algn="ctr">
              <a:defRPr sz="500">
                <a:solidFill>
                  <a:srgbClr val="FFFFFF"/>
                </a:solidFill>
              </a:defRPr>
            </a:pPr>
            <a:r>
              <a:t>Oracle Upgrade 26B - Confidential</a:t>
            </a:r>
          </a:p>
        </p:txBody>
      </p:sp>
      <p:sp>
        <p:nvSpPr>
          <p:cNvPr id="7" name="TextBox 6"/>
          <p:cNvSpPr txBox="1"/>
          <p:nvPr/>
        </p:nvSpPr>
        <p:spPr>
          <a:xfrm>
            <a:off x="8686800" y="4960620"/>
            <a:ext cx="0" cy="182880"/>
          </a:xfrm>
          <a:prstGeom prst="rect">
            <a:avLst/>
          </a:prstGeom>
          <a:noFill/>
        </p:spPr>
        <p:txBody>
          <a:bodyPr wrap="none">
            <a:spAutoFit/>
          </a:bodyPr>
          <a:lstStyle/>
          <a:p>
            <a:pPr algn="r">
              <a:defRPr sz="600">
                <a:solidFill>
                  <a:srgbClr val="FFFFFF"/>
                </a:solidFill>
              </a:defRPr>
            </a:pPr>
            <a:r>
              <a:t>29</a:t>
            </a:r>
          </a:p>
        </p:txBody>
      </p:sp>
      <p:sp>
        <p:nvSpPr>
          <p:cNvPr id="8" name="TextBox 7"/>
          <p:cNvSpPr txBox="1"/>
          <p:nvPr/>
        </p:nvSpPr>
        <p:spPr>
          <a:xfrm>
            <a:off x="384048" y="438912"/>
            <a:ext cx="5669280" cy="320040"/>
          </a:xfrm>
          <a:prstGeom prst="rect">
            <a:avLst/>
          </a:prstGeom>
          <a:noFill/>
        </p:spPr>
        <p:txBody>
          <a:bodyPr wrap="square">
            <a:spAutoFit/>
          </a:bodyPr>
          <a:lstStyle/>
          <a:p>
            <a:pPr algn="l">
              <a:defRPr sz="1600" b="1">
                <a:solidFill>
                  <a:srgbClr val="000000"/>
                </a:solidFill>
                <a:latin typeface="Calibri"/>
              </a:defRPr>
            </a:pPr>
            <a:r>
              <a:t>Receiving (3/6)</a:t>
            </a:r>
          </a:p>
        </p:txBody>
      </p:sp>
      <p:graphicFrame>
        <p:nvGraphicFramePr>
          <p:cNvPr id="9" name="Table 8"/>
          <p:cNvGraphicFramePr>
            <a:graphicFrameLocks noGrp="1"/>
          </p:cNvGraphicFramePr>
          <p:nvPr/>
        </p:nvGraphicFramePr>
        <p:xfrm>
          <a:off x="384048" y="914400"/>
          <a:ext cx="8138160" cy="2514600"/>
        </p:xfrm>
        <a:graphic>
          <a:graphicData uri="http://schemas.openxmlformats.org/drawingml/2006/table">
            <a:tbl>
              <a:tblPr firstRow="1" bandRow="1">
                <a:tableStyleId>{5C22544A-7EE6-4342-B048-85BDC9FD1C3A}</a:tableStyleId>
              </a:tblPr>
              <a:tblGrid>
                <a:gridCol w="457200"/>
                <a:gridCol w="2011680"/>
                <a:gridCol w="2011680"/>
                <a:gridCol w="1828800"/>
                <a:gridCol w="914400"/>
                <a:gridCol w="914400"/>
              </a:tblGrid>
              <a:tr h="320040">
                <a:tc>
                  <a:txBody>
                    <a:bodyPr wrap="square"/>
                    <a:lstStyle/>
                    <a:p>
                      <a:pPr>
                        <a:defRPr sz="850" b="1">
                          <a:solidFill>
                            <a:srgbClr val="FFFFFF"/>
                          </a:solidFill>
                          <a:latin typeface="Calibri"/>
                        </a:defRPr>
                      </a:pPr>
                      <a:r>
                        <a:t>Sr.</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26B Feature</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Benefit</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Impact</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Priority</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Mandatory</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1097280">
                <a:tc>
                  <a:txBody>
                    <a:bodyPr wrap="square"/>
                    <a:lstStyle/>
                    <a:p>
                      <a:pPr>
                        <a:defRPr sz="850" b="0">
                          <a:solidFill>
                            <a:srgbClr val="000000"/>
                          </a:solidFill>
                          <a:latin typeface="Calibri"/>
                        </a:defRPr>
                      </a:pPr>
                      <a:r>
                        <a:t>5</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Redwood: Create ASN or ASBN Using a Spreadsheet</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Advance Shipment Notices (ASNs) and Advance Shipment Billing Notices (ASBNs) from suppliers are crucial in modern supply chain management. They provide advance notification about inbound supply, such as contents, quantities, and expected delivery dates, and helps you prepare for incoming...</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Advance Shipment Notices (ASNs) and Advance Shipment Billing Notices (ASBNs) from suppliers are crucial in modern supply chain management.</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High</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No</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1097280">
                <a:tc>
                  <a:txBody>
                    <a:bodyPr wrap="square"/>
                    <a:lstStyle/>
                    <a:p>
                      <a:pPr>
                        <a:defRPr sz="850" b="0">
                          <a:solidFill>
                            <a:srgbClr val="000000"/>
                          </a:solidFill>
                          <a:latin typeface="Calibri"/>
                        </a:defRPr>
                      </a:pPr>
                      <a:r>
                        <a:t>6</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Redwood: Find Receipts Awaiting Put Away Using Additional Information on a Mobile Device</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When you put away goods into storage locations, you may face a situation where the specific receipt number for goods in hand is not known or forgotten. To address this, you can now use additional search parameters, such as item number or supplier directly from your mobile device to search for and...</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When you put away goods into storage locations, you may face a situation where the specific receipt number for goods in hand is not known or forgotten.</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Medium</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Yes</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bl>
          </a:graphicData>
        </a:graphic>
      </p:graphicFrame>
      <p:sp>
        <p:nvSpPr>
          <p:cNvPr id="10" name="TextBox 9"/>
          <p:cNvSpPr txBox="1"/>
          <p:nvPr/>
        </p:nvSpPr>
        <p:spPr>
          <a:xfrm>
            <a:off x="502920" y="3735324"/>
            <a:ext cx="8046720" cy="274320"/>
          </a:xfrm>
          <a:prstGeom prst="rect">
            <a:avLst/>
          </a:prstGeom>
          <a:noFill/>
        </p:spPr>
        <p:txBody>
          <a:bodyPr wrap="none">
            <a:spAutoFit/>
          </a:bodyPr>
          <a:lstStyle/>
          <a:p>
            <a:pPr>
              <a:defRPr sz="800" u="sng">
                <a:solidFill>
                  <a:srgbClr val="0066CC"/>
                </a:solidFill>
              </a:defRPr>
            </a:pPr>
            <a:r>
              <a:t>Redwood: Create ASN or ASBN Using a Spreadsheet</a:t>
            </a:r>
          </a:p>
        </p:txBody>
      </p:sp>
      <p:sp>
        <p:nvSpPr>
          <p:cNvPr id="11" name="TextBox 10"/>
          <p:cNvSpPr txBox="1"/>
          <p:nvPr/>
        </p:nvSpPr>
        <p:spPr>
          <a:xfrm>
            <a:off x="502920" y="3936492"/>
            <a:ext cx="8046720" cy="274320"/>
          </a:xfrm>
          <a:prstGeom prst="rect">
            <a:avLst/>
          </a:prstGeom>
          <a:noFill/>
        </p:spPr>
        <p:txBody>
          <a:bodyPr wrap="none">
            <a:spAutoFit/>
          </a:bodyPr>
          <a:lstStyle/>
          <a:p>
            <a:pPr>
              <a:defRPr sz="800" u="sng">
                <a:solidFill>
                  <a:srgbClr val="0066CC"/>
                </a:solidFill>
              </a:defRPr>
            </a:pPr>
            <a:r>
              <a:t>Redwood: Find Receipts Awaiting Put Away Using Additional Information on a Mobile Device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
          </a:xfrm>
          <a:prstGeom prst="rect">
            <a:avLst/>
          </a:prstGeom>
          <a:solidFill>
            <a:srgbClr val="0099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960620"/>
            <a:ext cx="9144000" cy="182880"/>
          </a:xfrm>
          <a:prstGeom prst="rect">
            <a:avLst/>
          </a:prstGeom>
          <a:solidFill>
            <a:srgbClr val="0099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7269481" y="256032"/>
            <a:ext cx="1508760" cy="384734"/>
          </a:xfrm>
          <a:prstGeom prst="rect">
            <a:avLst/>
          </a:prstGeom>
        </p:spPr>
      </p:pic>
      <p:pic>
        <p:nvPicPr>
          <p:cNvPr id="5" name="Picture 4" descr="tid_logo.png"/>
          <p:cNvPicPr>
            <a:picLocks noChangeAspect="1"/>
          </p:cNvPicPr>
          <p:nvPr/>
        </p:nvPicPr>
        <p:blipFill>
          <a:blip r:embed="rId3"/>
          <a:stretch>
            <a:fillRect/>
          </a:stretch>
        </p:blipFill>
        <p:spPr>
          <a:xfrm>
            <a:off x="4251960" y="4366260"/>
            <a:ext cx="640080" cy="356153"/>
          </a:xfrm>
          <a:prstGeom prst="rect">
            <a:avLst/>
          </a:prstGeom>
        </p:spPr>
      </p:pic>
      <p:sp>
        <p:nvSpPr>
          <p:cNvPr id="6" name="TextBox 5"/>
          <p:cNvSpPr txBox="1"/>
          <p:nvPr/>
        </p:nvSpPr>
        <p:spPr>
          <a:xfrm>
            <a:off x="0" y="4960620"/>
            <a:ext cx="9144000" cy="182880"/>
          </a:xfrm>
          <a:prstGeom prst="rect">
            <a:avLst/>
          </a:prstGeom>
          <a:noFill/>
        </p:spPr>
        <p:txBody>
          <a:bodyPr wrap="none">
            <a:spAutoFit/>
          </a:bodyPr>
          <a:lstStyle/>
          <a:p>
            <a:pPr algn="ctr">
              <a:defRPr sz="500">
                <a:solidFill>
                  <a:srgbClr val="FFFFFF"/>
                </a:solidFill>
              </a:defRPr>
            </a:pPr>
            <a:r>
              <a:t>Oracle Upgrade 26B - Confidential</a:t>
            </a:r>
          </a:p>
        </p:txBody>
      </p:sp>
      <p:sp>
        <p:nvSpPr>
          <p:cNvPr id="7" name="TextBox 6"/>
          <p:cNvSpPr txBox="1"/>
          <p:nvPr/>
        </p:nvSpPr>
        <p:spPr>
          <a:xfrm>
            <a:off x="8686800" y="4960620"/>
            <a:ext cx="0" cy="182880"/>
          </a:xfrm>
          <a:prstGeom prst="rect">
            <a:avLst/>
          </a:prstGeom>
          <a:noFill/>
        </p:spPr>
        <p:txBody>
          <a:bodyPr wrap="none">
            <a:spAutoFit/>
          </a:bodyPr>
          <a:lstStyle/>
          <a:p>
            <a:pPr algn="r">
              <a:defRPr sz="600">
                <a:solidFill>
                  <a:srgbClr val="FFFFFF"/>
                </a:solidFill>
              </a:defRPr>
            </a:pPr>
            <a:r>
              <a:t>30</a:t>
            </a:r>
          </a:p>
        </p:txBody>
      </p:sp>
      <p:sp>
        <p:nvSpPr>
          <p:cNvPr id="8" name="TextBox 7"/>
          <p:cNvSpPr txBox="1"/>
          <p:nvPr/>
        </p:nvSpPr>
        <p:spPr>
          <a:xfrm>
            <a:off x="384048" y="438912"/>
            <a:ext cx="5669280" cy="320040"/>
          </a:xfrm>
          <a:prstGeom prst="rect">
            <a:avLst/>
          </a:prstGeom>
          <a:noFill/>
        </p:spPr>
        <p:txBody>
          <a:bodyPr wrap="square">
            <a:spAutoFit/>
          </a:bodyPr>
          <a:lstStyle/>
          <a:p>
            <a:pPr algn="l">
              <a:defRPr sz="1600" b="1">
                <a:solidFill>
                  <a:srgbClr val="000000"/>
                </a:solidFill>
                <a:latin typeface="Calibri"/>
              </a:defRPr>
            </a:pPr>
            <a:r>
              <a:t>Receiving (4/6)</a:t>
            </a:r>
          </a:p>
        </p:txBody>
      </p:sp>
      <p:graphicFrame>
        <p:nvGraphicFramePr>
          <p:cNvPr id="9" name="Table 8"/>
          <p:cNvGraphicFramePr>
            <a:graphicFrameLocks noGrp="1"/>
          </p:cNvGraphicFramePr>
          <p:nvPr/>
        </p:nvGraphicFramePr>
        <p:xfrm>
          <a:off x="384048" y="914400"/>
          <a:ext cx="8138160" cy="2514600"/>
        </p:xfrm>
        <a:graphic>
          <a:graphicData uri="http://schemas.openxmlformats.org/drawingml/2006/table">
            <a:tbl>
              <a:tblPr firstRow="1" bandRow="1">
                <a:tableStyleId>{5C22544A-7EE6-4342-B048-85BDC9FD1C3A}</a:tableStyleId>
              </a:tblPr>
              <a:tblGrid>
                <a:gridCol w="457200"/>
                <a:gridCol w="2011680"/>
                <a:gridCol w="2011680"/>
                <a:gridCol w="1828800"/>
                <a:gridCol w="914400"/>
                <a:gridCol w="914400"/>
              </a:tblGrid>
              <a:tr h="320040">
                <a:tc>
                  <a:txBody>
                    <a:bodyPr wrap="square"/>
                    <a:lstStyle/>
                    <a:p>
                      <a:pPr>
                        <a:defRPr sz="850" b="1">
                          <a:solidFill>
                            <a:srgbClr val="FFFFFF"/>
                          </a:solidFill>
                          <a:latin typeface="Calibri"/>
                        </a:defRPr>
                      </a:pPr>
                      <a:r>
                        <a:t>Sr.</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26B Feature</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Benefit</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Impact</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Priority</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Mandatory</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1097280">
                <a:tc>
                  <a:txBody>
                    <a:bodyPr wrap="square"/>
                    <a:lstStyle/>
                    <a:p>
                      <a:pPr>
                        <a:defRPr sz="850" b="0">
                          <a:solidFill>
                            <a:srgbClr val="000000"/>
                          </a:solidFill>
                          <a:latin typeface="Calibri"/>
                        </a:defRPr>
                      </a:pPr>
                      <a:r>
                        <a:t>7</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Redwood: Notify a Requester about ASN or Receipt Creation</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When you order goods from suppliers, you as a requestor often need to know the status of items to plan your work, coordinate resources, or update stakeholders. Without any automated updates, its challenging or time consuming to track shipments or received status at the warehouse.</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When you order goods from suppliers, you as a requestor often need to know the status of items to plan your work, coordinate resources, or update stakeholders.</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High</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No</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1097280">
                <a:tc>
                  <a:txBody>
                    <a:bodyPr wrap="square"/>
                    <a:lstStyle/>
                    <a:p>
                      <a:pPr>
                        <a:defRPr sz="850" b="0">
                          <a:solidFill>
                            <a:srgbClr val="000000"/>
                          </a:solidFill>
                          <a:latin typeface="Calibri"/>
                        </a:defRPr>
                      </a:pPr>
                      <a:r>
                        <a:t>8</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Redwood: Use Approvals for Receipts</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Accurate management of received goods is essential for maintaining inventory control and operational reliability. In organizations, it's important to approve goods receipts, returns, or corrections to confirm that transactions are accurate and properly documented.</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Accurate management of received goods is essential for maintaining inventory control and operational reliability.</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High</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No</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bl>
          </a:graphicData>
        </a:graphic>
      </p:graphicFrame>
      <p:sp>
        <p:nvSpPr>
          <p:cNvPr id="10" name="TextBox 9"/>
          <p:cNvSpPr txBox="1"/>
          <p:nvPr/>
        </p:nvSpPr>
        <p:spPr>
          <a:xfrm>
            <a:off x="502920" y="3735324"/>
            <a:ext cx="8046720" cy="274320"/>
          </a:xfrm>
          <a:prstGeom prst="rect">
            <a:avLst/>
          </a:prstGeom>
          <a:noFill/>
        </p:spPr>
        <p:txBody>
          <a:bodyPr wrap="none">
            <a:spAutoFit/>
          </a:bodyPr>
          <a:lstStyle/>
          <a:p>
            <a:pPr>
              <a:defRPr sz="800" u="sng">
                <a:solidFill>
                  <a:srgbClr val="0066CC"/>
                </a:solidFill>
              </a:defRPr>
            </a:pPr>
            <a:r>
              <a:t>Redwood: Notify a Requester about ASN or Receipt Creation</a:t>
            </a:r>
          </a:p>
        </p:txBody>
      </p:sp>
      <p:sp>
        <p:nvSpPr>
          <p:cNvPr id="11" name="TextBox 10"/>
          <p:cNvSpPr txBox="1"/>
          <p:nvPr/>
        </p:nvSpPr>
        <p:spPr>
          <a:xfrm>
            <a:off x="502920" y="3936492"/>
            <a:ext cx="8046720" cy="274320"/>
          </a:xfrm>
          <a:prstGeom prst="rect">
            <a:avLst/>
          </a:prstGeom>
          <a:noFill/>
        </p:spPr>
        <p:txBody>
          <a:bodyPr wrap="none">
            <a:spAutoFit/>
          </a:bodyPr>
          <a:lstStyle/>
          <a:p>
            <a:pPr>
              <a:defRPr sz="800" u="sng">
                <a:solidFill>
                  <a:srgbClr val="0066CC"/>
                </a:solidFill>
              </a:defRPr>
            </a:pPr>
            <a:r>
              <a:t>Redwood: Use Approvals for Receipts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
          </a:xfrm>
          <a:prstGeom prst="rect">
            <a:avLst/>
          </a:prstGeom>
          <a:solidFill>
            <a:srgbClr val="0099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960620"/>
            <a:ext cx="9144000" cy="182880"/>
          </a:xfrm>
          <a:prstGeom prst="rect">
            <a:avLst/>
          </a:prstGeom>
          <a:solidFill>
            <a:srgbClr val="0099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7269481" y="256032"/>
            <a:ext cx="1508760" cy="384734"/>
          </a:xfrm>
          <a:prstGeom prst="rect">
            <a:avLst/>
          </a:prstGeom>
        </p:spPr>
      </p:pic>
      <p:pic>
        <p:nvPicPr>
          <p:cNvPr id="5" name="Picture 4" descr="tid_logo.png"/>
          <p:cNvPicPr>
            <a:picLocks noChangeAspect="1"/>
          </p:cNvPicPr>
          <p:nvPr/>
        </p:nvPicPr>
        <p:blipFill>
          <a:blip r:embed="rId3"/>
          <a:stretch>
            <a:fillRect/>
          </a:stretch>
        </p:blipFill>
        <p:spPr>
          <a:xfrm>
            <a:off x="4251960" y="4366260"/>
            <a:ext cx="640080" cy="356153"/>
          </a:xfrm>
          <a:prstGeom prst="rect">
            <a:avLst/>
          </a:prstGeom>
        </p:spPr>
      </p:pic>
      <p:sp>
        <p:nvSpPr>
          <p:cNvPr id="6" name="TextBox 5"/>
          <p:cNvSpPr txBox="1"/>
          <p:nvPr/>
        </p:nvSpPr>
        <p:spPr>
          <a:xfrm>
            <a:off x="0" y="4960620"/>
            <a:ext cx="9144000" cy="182880"/>
          </a:xfrm>
          <a:prstGeom prst="rect">
            <a:avLst/>
          </a:prstGeom>
          <a:noFill/>
        </p:spPr>
        <p:txBody>
          <a:bodyPr wrap="none">
            <a:spAutoFit/>
          </a:bodyPr>
          <a:lstStyle/>
          <a:p>
            <a:pPr algn="ctr">
              <a:defRPr sz="500">
                <a:solidFill>
                  <a:srgbClr val="FFFFFF"/>
                </a:solidFill>
              </a:defRPr>
            </a:pPr>
            <a:r>
              <a:t>Oracle Upgrade 26B - Confidential</a:t>
            </a:r>
          </a:p>
        </p:txBody>
      </p:sp>
      <p:sp>
        <p:nvSpPr>
          <p:cNvPr id="7" name="TextBox 6"/>
          <p:cNvSpPr txBox="1"/>
          <p:nvPr/>
        </p:nvSpPr>
        <p:spPr>
          <a:xfrm>
            <a:off x="8686800" y="4960620"/>
            <a:ext cx="0" cy="182880"/>
          </a:xfrm>
          <a:prstGeom prst="rect">
            <a:avLst/>
          </a:prstGeom>
          <a:noFill/>
        </p:spPr>
        <p:txBody>
          <a:bodyPr wrap="none">
            <a:spAutoFit/>
          </a:bodyPr>
          <a:lstStyle/>
          <a:p>
            <a:pPr algn="r">
              <a:defRPr sz="600">
                <a:solidFill>
                  <a:srgbClr val="FFFFFF"/>
                </a:solidFill>
              </a:defRPr>
            </a:pPr>
            <a:r>
              <a:t>31</a:t>
            </a:r>
          </a:p>
        </p:txBody>
      </p:sp>
      <p:sp>
        <p:nvSpPr>
          <p:cNvPr id="8" name="TextBox 7"/>
          <p:cNvSpPr txBox="1"/>
          <p:nvPr/>
        </p:nvSpPr>
        <p:spPr>
          <a:xfrm>
            <a:off x="384048" y="438912"/>
            <a:ext cx="5669280" cy="320040"/>
          </a:xfrm>
          <a:prstGeom prst="rect">
            <a:avLst/>
          </a:prstGeom>
          <a:noFill/>
        </p:spPr>
        <p:txBody>
          <a:bodyPr wrap="square">
            <a:spAutoFit/>
          </a:bodyPr>
          <a:lstStyle/>
          <a:p>
            <a:pPr algn="l">
              <a:defRPr sz="1600" b="1">
                <a:solidFill>
                  <a:srgbClr val="000000"/>
                </a:solidFill>
                <a:latin typeface="Calibri"/>
              </a:defRPr>
            </a:pPr>
            <a:r>
              <a:t>Receiving (5/6)</a:t>
            </a:r>
          </a:p>
        </p:txBody>
      </p:sp>
      <p:graphicFrame>
        <p:nvGraphicFramePr>
          <p:cNvPr id="9" name="Table 8"/>
          <p:cNvGraphicFramePr>
            <a:graphicFrameLocks noGrp="1"/>
          </p:cNvGraphicFramePr>
          <p:nvPr/>
        </p:nvGraphicFramePr>
        <p:xfrm>
          <a:off x="384048" y="914400"/>
          <a:ext cx="8138160" cy="2514600"/>
        </p:xfrm>
        <a:graphic>
          <a:graphicData uri="http://schemas.openxmlformats.org/drawingml/2006/table">
            <a:tbl>
              <a:tblPr firstRow="1" bandRow="1">
                <a:tableStyleId>{5C22544A-7EE6-4342-B048-85BDC9FD1C3A}</a:tableStyleId>
              </a:tblPr>
              <a:tblGrid>
                <a:gridCol w="457200"/>
                <a:gridCol w="2011680"/>
                <a:gridCol w="2011680"/>
                <a:gridCol w="1828800"/>
                <a:gridCol w="914400"/>
                <a:gridCol w="914400"/>
              </a:tblGrid>
              <a:tr h="320040">
                <a:tc>
                  <a:txBody>
                    <a:bodyPr wrap="square"/>
                    <a:lstStyle/>
                    <a:p>
                      <a:pPr>
                        <a:defRPr sz="850" b="1">
                          <a:solidFill>
                            <a:srgbClr val="FFFFFF"/>
                          </a:solidFill>
                          <a:latin typeface="Calibri"/>
                        </a:defRPr>
                      </a:pPr>
                      <a:r>
                        <a:t>Sr.</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26B Feature</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Benefit</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Impact</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Priority</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Mandatory</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1097280">
                <a:tc>
                  <a:txBody>
                    <a:bodyPr wrap="square"/>
                    <a:lstStyle/>
                    <a:p>
                      <a:pPr>
                        <a:defRPr sz="850" b="0">
                          <a:solidFill>
                            <a:srgbClr val="000000"/>
                          </a:solidFill>
                          <a:latin typeface="Calibri"/>
                        </a:defRPr>
                      </a:pPr>
                      <a:r>
                        <a:t>9</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Redwood: View Additional Information for Distributions in the Redwood Self-Service Receiving Application</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When you combine multiple orders for similar goods across different departments, you generally allocate multiple distributions to a single purchase order line. In these situations, you may first need to accurately identify each distribution to manually enter correct quantities or amounts for...</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Small scale</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Low</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Yes</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1097280">
                <a:tc>
                  <a:txBody>
                    <a:bodyPr wrap="square"/>
                    <a:lstStyle/>
                    <a:p>
                      <a:pPr>
                        <a:defRPr sz="850" b="0">
                          <a:solidFill>
                            <a:srgbClr val="000000"/>
                          </a:solidFill>
                          <a:latin typeface="Calibri"/>
                        </a:defRPr>
                      </a:pPr>
                      <a:r>
                        <a:t>10</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Redwood: Review and Select Lot and Serial Numbers from an ASN or Transfer Order during Receipt</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When you receive lot or serial control goods with lot or serial numbers mentioned in an Advance Shipment Notice (ASN) or transfer order, it's important to review and select specific lot or serial numbers, instead of automatically accepting all the numbers provided. For example, a large volume of...</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Larger scale</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Low</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Yes</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bl>
          </a:graphicData>
        </a:graphic>
      </p:graphicFrame>
      <p:sp>
        <p:nvSpPr>
          <p:cNvPr id="10" name="TextBox 9"/>
          <p:cNvSpPr txBox="1"/>
          <p:nvPr/>
        </p:nvSpPr>
        <p:spPr>
          <a:xfrm>
            <a:off x="502920" y="3735324"/>
            <a:ext cx="8046720" cy="274320"/>
          </a:xfrm>
          <a:prstGeom prst="rect">
            <a:avLst/>
          </a:prstGeom>
          <a:noFill/>
        </p:spPr>
        <p:txBody>
          <a:bodyPr wrap="none">
            <a:spAutoFit/>
          </a:bodyPr>
          <a:lstStyle/>
          <a:p>
            <a:pPr>
              <a:defRPr sz="800" u="sng">
                <a:solidFill>
                  <a:srgbClr val="0066CC"/>
                </a:solidFill>
              </a:defRPr>
            </a:pPr>
            <a:r>
              <a:t>Redwood: View Additional Information for Distributions in the Redwood Self-Service Receiving Application</a:t>
            </a:r>
          </a:p>
        </p:txBody>
      </p:sp>
      <p:sp>
        <p:nvSpPr>
          <p:cNvPr id="11" name="TextBox 10"/>
          <p:cNvSpPr txBox="1"/>
          <p:nvPr/>
        </p:nvSpPr>
        <p:spPr>
          <a:xfrm>
            <a:off x="502920" y="3936492"/>
            <a:ext cx="8046720" cy="274320"/>
          </a:xfrm>
          <a:prstGeom prst="rect">
            <a:avLst/>
          </a:prstGeom>
          <a:noFill/>
        </p:spPr>
        <p:txBody>
          <a:bodyPr wrap="none">
            <a:spAutoFit/>
          </a:bodyPr>
          <a:lstStyle/>
          <a:p>
            <a:pPr>
              <a:defRPr sz="800" u="sng">
                <a:solidFill>
                  <a:srgbClr val="0066CC"/>
                </a:solidFill>
              </a:defRPr>
            </a:pPr>
            <a:r>
              <a:t>Redwood: Review and Select Lot and Serial Numbers from an ASN or Transfer Order during Receipt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
          </a:xfrm>
          <a:prstGeom prst="rect">
            <a:avLst/>
          </a:prstGeom>
          <a:solidFill>
            <a:srgbClr val="0099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960620"/>
            <a:ext cx="9144000" cy="182880"/>
          </a:xfrm>
          <a:prstGeom prst="rect">
            <a:avLst/>
          </a:prstGeom>
          <a:solidFill>
            <a:srgbClr val="0099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7269481" y="256032"/>
            <a:ext cx="1508760" cy="384734"/>
          </a:xfrm>
          <a:prstGeom prst="rect">
            <a:avLst/>
          </a:prstGeom>
        </p:spPr>
      </p:pic>
      <p:pic>
        <p:nvPicPr>
          <p:cNvPr id="5" name="Picture 4" descr="tid_logo.png"/>
          <p:cNvPicPr>
            <a:picLocks noChangeAspect="1"/>
          </p:cNvPicPr>
          <p:nvPr/>
        </p:nvPicPr>
        <p:blipFill>
          <a:blip r:embed="rId3"/>
          <a:stretch>
            <a:fillRect/>
          </a:stretch>
        </p:blipFill>
        <p:spPr>
          <a:xfrm>
            <a:off x="4251960" y="4366260"/>
            <a:ext cx="640080" cy="356153"/>
          </a:xfrm>
          <a:prstGeom prst="rect">
            <a:avLst/>
          </a:prstGeom>
        </p:spPr>
      </p:pic>
      <p:sp>
        <p:nvSpPr>
          <p:cNvPr id="6" name="TextBox 5"/>
          <p:cNvSpPr txBox="1"/>
          <p:nvPr/>
        </p:nvSpPr>
        <p:spPr>
          <a:xfrm>
            <a:off x="0" y="4960620"/>
            <a:ext cx="9144000" cy="182880"/>
          </a:xfrm>
          <a:prstGeom prst="rect">
            <a:avLst/>
          </a:prstGeom>
          <a:noFill/>
        </p:spPr>
        <p:txBody>
          <a:bodyPr wrap="none">
            <a:spAutoFit/>
          </a:bodyPr>
          <a:lstStyle/>
          <a:p>
            <a:pPr algn="ctr">
              <a:defRPr sz="500">
                <a:solidFill>
                  <a:srgbClr val="FFFFFF"/>
                </a:solidFill>
              </a:defRPr>
            </a:pPr>
            <a:r>
              <a:t>Oracle Upgrade 26B - Confidential</a:t>
            </a:r>
          </a:p>
        </p:txBody>
      </p:sp>
      <p:sp>
        <p:nvSpPr>
          <p:cNvPr id="7" name="TextBox 6"/>
          <p:cNvSpPr txBox="1"/>
          <p:nvPr/>
        </p:nvSpPr>
        <p:spPr>
          <a:xfrm>
            <a:off x="8686800" y="4960620"/>
            <a:ext cx="0" cy="182880"/>
          </a:xfrm>
          <a:prstGeom prst="rect">
            <a:avLst/>
          </a:prstGeom>
          <a:noFill/>
        </p:spPr>
        <p:txBody>
          <a:bodyPr wrap="none">
            <a:spAutoFit/>
          </a:bodyPr>
          <a:lstStyle/>
          <a:p>
            <a:pPr algn="r">
              <a:defRPr sz="600">
                <a:solidFill>
                  <a:srgbClr val="FFFFFF"/>
                </a:solidFill>
              </a:defRPr>
            </a:pPr>
            <a:r>
              <a:t>32</a:t>
            </a:r>
          </a:p>
        </p:txBody>
      </p:sp>
      <p:sp>
        <p:nvSpPr>
          <p:cNvPr id="8" name="TextBox 7"/>
          <p:cNvSpPr txBox="1"/>
          <p:nvPr/>
        </p:nvSpPr>
        <p:spPr>
          <a:xfrm>
            <a:off x="384048" y="438912"/>
            <a:ext cx="5669280" cy="320040"/>
          </a:xfrm>
          <a:prstGeom prst="rect">
            <a:avLst/>
          </a:prstGeom>
          <a:noFill/>
        </p:spPr>
        <p:txBody>
          <a:bodyPr wrap="square">
            <a:spAutoFit/>
          </a:bodyPr>
          <a:lstStyle/>
          <a:p>
            <a:pPr algn="l">
              <a:defRPr sz="1600" b="1">
                <a:solidFill>
                  <a:srgbClr val="000000"/>
                </a:solidFill>
                <a:latin typeface="Calibri"/>
              </a:defRPr>
            </a:pPr>
            <a:r>
              <a:t>Receiving (6/6)</a:t>
            </a:r>
          </a:p>
        </p:txBody>
      </p:sp>
      <p:graphicFrame>
        <p:nvGraphicFramePr>
          <p:cNvPr id="9" name="Table 8"/>
          <p:cNvGraphicFramePr>
            <a:graphicFrameLocks noGrp="1"/>
          </p:cNvGraphicFramePr>
          <p:nvPr/>
        </p:nvGraphicFramePr>
        <p:xfrm>
          <a:off x="384048" y="914400"/>
          <a:ext cx="8138160" cy="1417320"/>
        </p:xfrm>
        <a:graphic>
          <a:graphicData uri="http://schemas.openxmlformats.org/drawingml/2006/table">
            <a:tbl>
              <a:tblPr firstRow="1" bandRow="1">
                <a:tableStyleId>{5C22544A-7EE6-4342-B048-85BDC9FD1C3A}</a:tableStyleId>
              </a:tblPr>
              <a:tblGrid>
                <a:gridCol w="457200"/>
                <a:gridCol w="2011680"/>
                <a:gridCol w="2011680"/>
                <a:gridCol w="1828800"/>
                <a:gridCol w="914400"/>
                <a:gridCol w="914400"/>
              </a:tblGrid>
              <a:tr h="320040">
                <a:tc>
                  <a:txBody>
                    <a:bodyPr wrap="square"/>
                    <a:lstStyle/>
                    <a:p>
                      <a:pPr>
                        <a:defRPr sz="850" b="1">
                          <a:solidFill>
                            <a:srgbClr val="FFFFFF"/>
                          </a:solidFill>
                          <a:latin typeface="Calibri"/>
                        </a:defRPr>
                      </a:pPr>
                      <a:r>
                        <a:t>Sr.</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26B Feature</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Benefit</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Impact</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Priority</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Mandatory</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1097280">
                <a:tc>
                  <a:txBody>
                    <a:bodyPr wrap="square"/>
                    <a:lstStyle/>
                    <a:p>
                      <a:pPr>
                        <a:defRPr sz="850" b="0">
                          <a:solidFill>
                            <a:srgbClr val="000000"/>
                          </a:solidFill>
                          <a:latin typeface="Calibri"/>
                        </a:defRPr>
                      </a:pPr>
                      <a:r>
                        <a:t>11</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Use Improved Search in the Redwood Self-Service Receiving Application</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When you receive ordered goods, it’s important to quickly locate the relevant order lines in the application and receive them promptly to move the order forward. To do this, you need effective search filters and the ability to easily reuse commonly applied filters.</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Small scale</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Low</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Yes</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bl>
          </a:graphicData>
        </a:graphic>
      </p:graphicFrame>
      <p:sp>
        <p:nvSpPr>
          <p:cNvPr id="10" name="TextBox 9"/>
          <p:cNvSpPr txBox="1"/>
          <p:nvPr/>
        </p:nvSpPr>
        <p:spPr>
          <a:xfrm>
            <a:off x="502920" y="3936492"/>
            <a:ext cx="8046720" cy="274320"/>
          </a:xfrm>
          <a:prstGeom prst="rect">
            <a:avLst/>
          </a:prstGeom>
          <a:noFill/>
        </p:spPr>
        <p:txBody>
          <a:bodyPr wrap="none">
            <a:spAutoFit/>
          </a:bodyPr>
          <a:lstStyle/>
          <a:p>
            <a:pPr>
              <a:defRPr sz="800" u="sng">
                <a:solidFill>
                  <a:srgbClr val="0066CC"/>
                </a:solidFill>
              </a:defRPr>
            </a:pPr>
            <a:r>
              <a:t>Use Improved Search in the Redwood Self-Service Receiving Application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
          </a:xfrm>
          <a:prstGeom prst="rect">
            <a:avLst/>
          </a:prstGeom>
          <a:solidFill>
            <a:srgbClr val="0099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960620"/>
            <a:ext cx="9144000" cy="182880"/>
          </a:xfrm>
          <a:prstGeom prst="rect">
            <a:avLst/>
          </a:prstGeom>
          <a:solidFill>
            <a:srgbClr val="0099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7269481" y="256032"/>
            <a:ext cx="1508760" cy="384734"/>
          </a:xfrm>
          <a:prstGeom prst="rect">
            <a:avLst/>
          </a:prstGeom>
        </p:spPr>
      </p:pic>
      <p:pic>
        <p:nvPicPr>
          <p:cNvPr id="5" name="Picture 4" descr="tid_logo.png"/>
          <p:cNvPicPr>
            <a:picLocks noChangeAspect="1"/>
          </p:cNvPicPr>
          <p:nvPr/>
        </p:nvPicPr>
        <p:blipFill>
          <a:blip r:embed="rId3"/>
          <a:stretch>
            <a:fillRect/>
          </a:stretch>
        </p:blipFill>
        <p:spPr>
          <a:xfrm>
            <a:off x="4251960" y="4366260"/>
            <a:ext cx="640080" cy="356153"/>
          </a:xfrm>
          <a:prstGeom prst="rect">
            <a:avLst/>
          </a:prstGeom>
        </p:spPr>
      </p:pic>
      <p:sp>
        <p:nvSpPr>
          <p:cNvPr id="6" name="TextBox 5"/>
          <p:cNvSpPr txBox="1"/>
          <p:nvPr/>
        </p:nvSpPr>
        <p:spPr>
          <a:xfrm>
            <a:off x="0" y="4960620"/>
            <a:ext cx="9144000" cy="182880"/>
          </a:xfrm>
          <a:prstGeom prst="rect">
            <a:avLst/>
          </a:prstGeom>
          <a:noFill/>
        </p:spPr>
        <p:txBody>
          <a:bodyPr wrap="none">
            <a:spAutoFit/>
          </a:bodyPr>
          <a:lstStyle/>
          <a:p>
            <a:pPr algn="ctr">
              <a:defRPr sz="500">
                <a:solidFill>
                  <a:srgbClr val="FFFFFF"/>
                </a:solidFill>
              </a:defRPr>
            </a:pPr>
            <a:r>
              <a:t>Oracle Upgrade 26B - Confidential</a:t>
            </a:r>
          </a:p>
        </p:txBody>
      </p:sp>
      <p:sp>
        <p:nvSpPr>
          <p:cNvPr id="7" name="TextBox 6"/>
          <p:cNvSpPr txBox="1"/>
          <p:nvPr/>
        </p:nvSpPr>
        <p:spPr>
          <a:xfrm>
            <a:off x="8686800" y="4960620"/>
            <a:ext cx="0" cy="182880"/>
          </a:xfrm>
          <a:prstGeom prst="rect">
            <a:avLst/>
          </a:prstGeom>
          <a:noFill/>
        </p:spPr>
        <p:txBody>
          <a:bodyPr wrap="none">
            <a:spAutoFit/>
          </a:bodyPr>
          <a:lstStyle/>
          <a:p>
            <a:pPr algn="r">
              <a:defRPr sz="600">
                <a:solidFill>
                  <a:srgbClr val="FFFFFF"/>
                </a:solidFill>
              </a:defRPr>
            </a:pPr>
            <a:r>
              <a:t>33</a:t>
            </a:r>
          </a:p>
        </p:txBody>
      </p:sp>
      <p:sp>
        <p:nvSpPr>
          <p:cNvPr id="8" name="TextBox 7"/>
          <p:cNvSpPr txBox="1"/>
          <p:nvPr/>
        </p:nvSpPr>
        <p:spPr>
          <a:xfrm>
            <a:off x="384048" y="438912"/>
            <a:ext cx="5669280" cy="320040"/>
          </a:xfrm>
          <a:prstGeom prst="rect">
            <a:avLst/>
          </a:prstGeom>
          <a:noFill/>
        </p:spPr>
        <p:txBody>
          <a:bodyPr wrap="square">
            <a:spAutoFit/>
          </a:bodyPr>
          <a:lstStyle/>
          <a:p>
            <a:pPr algn="l">
              <a:defRPr sz="1600" b="1">
                <a:solidFill>
                  <a:srgbClr val="000000"/>
                </a:solidFill>
                <a:latin typeface="Calibri"/>
              </a:defRPr>
            </a:pPr>
            <a:r>
              <a:t>SCM Common Components (1/2)</a:t>
            </a:r>
          </a:p>
        </p:txBody>
      </p:sp>
      <p:graphicFrame>
        <p:nvGraphicFramePr>
          <p:cNvPr id="9" name="Table 8"/>
          <p:cNvGraphicFramePr>
            <a:graphicFrameLocks noGrp="1"/>
          </p:cNvGraphicFramePr>
          <p:nvPr/>
        </p:nvGraphicFramePr>
        <p:xfrm>
          <a:off x="384048" y="914400"/>
          <a:ext cx="8138160" cy="2514600"/>
        </p:xfrm>
        <a:graphic>
          <a:graphicData uri="http://schemas.openxmlformats.org/drawingml/2006/table">
            <a:tbl>
              <a:tblPr firstRow="1" bandRow="1">
                <a:tableStyleId>{5C22544A-7EE6-4342-B048-85BDC9FD1C3A}</a:tableStyleId>
              </a:tblPr>
              <a:tblGrid>
                <a:gridCol w="457200"/>
                <a:gridCol w="2011680"/>
                <a:gridCol w="2011680"/>
                <a:gridCol w="1828800"/>
                <a:gridCol w="914400"/>
                <a:gridCol w="914400"/>
              </a:tblGrid>
              <a:tr h="320040">
                <a:tc>
                  <a:txBody>
                    <a:bodyPr wrap="square"/>
                    <a:lstStyle/>
                    <a:p>
                      <a:pPr>
                        <a:defRPr sz="850" b="1">
                          <a:solidFill>
                            <a:srgbClr val="FFFFFF"/>
                          </a:solidFill>
                          <a:latin typeface="Calibri"/>
                        </a:defRPr>
                      </a:pPr>
                      <a:r>
                        <a:t>Sr.</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26B Feature</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Benefit</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Impact</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Priority</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Mandatory</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1097280">
                <a:tc>
                  <a:txBody>
                    <a:bodyPr wrap="square"/>
                    <a:lstStyle/>
                    <a:p>
                      <a:pPr>
                        <a:defRPr sz="850" b="0">
                          <a:solidFill>
                            <a:srgbClr val="000000"/>
                          </a:solidFill>
                          <a:latin typeface="Calibri"/>
                        </a:defRPr>
                      </a:pPr>
                      <a:r>
                        <a:t>1</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Create Facility Schedule Data Using an Improved Workday Pattern Algorithm</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Adjust data quickly with an enhanced algorithm that aligns it to the end of a pattern definition. The algorithm commits schedule data to the pattern's end and automatically updates the end date for faster entry or import.</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Adjust data quickly with an enhanced algorithm that aligns it to the end of a pattern definition.</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High</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No</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1097280">
                <a:tc>
                  <a:txBody>
                    <a:bodyPr wrap="square"/>
                    <a:lstStyle/>
                    <a:p>
                      <a:pPr>
                        <a:defRPr sz="850" b="0">
                          <a:solidFill>
                            <a:srgbClr val="000000"/>
                          </a:solidFill>
                          <a:latin typeface="Calibri"/>
                        </a:defRPr>
                      </a:pPr>
                      <a:r>
                        <a:t>2</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Redwood: Define Schedules Using a New User Experience</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Create or edit schedules, workday patterns, and shifts using Redwood pages. Use the interactive calendar component to set workday patterns and shifts based on the hours and days you enter.</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Create or edit schedules, workday patterns, and shifts using Redwood pages.</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High</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No</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bl>
          </a:graphicData>
        </a:graphic>
      </p:graphicFrame>
      <p:sp>
        <p:nvSpPr>
          <p:cNvPr id="10" name="TextBox 9"/>
          <p:cNvSpPr txBox="1"/>
          <p:nvPr/>
        </p:nvSpPr>
        <p:spPr>
          <a:xfrm>
            <a:off x="502920" y="3735324"/>
            <a:ext cx="8046720" cy="274320"/>
          </a:xfrm>
          <a:prstGeom prst="rect">
            <a:avLst/>
          </a:prstGeom>
          <a:noFill/>
        </p:spPr>
        <p:txBody>
          <a:bodyPr wrap="none">
            <a:spAutoFit/>
          </a:bodyPr>
          <a:lstStyle/>
          <a:p>
            <a:pPr>
              <a:defRPr sz="800" u="sng">
                <a:solidFill>
                  <a:srgbClr val="0066CC"/>
                </a:solidFill>
              </a:defRPr>
            </a:pPr>
            <a:r>
              <a:t>Create Facility Schedule Data Using an Improved Workday Pattern Algorithm</a:t>
            </a:r>
          </a:p>
        </p:txBody>
      </p:sp>
      <p:sp>
        <p:nvSpPr>
          <p:cNvPr id="11" name="TextBox 10"/>
          <p:cNvSpPr txBox="1"/>
          <p:nvPr/>
        </p:nvSpPr>
        <p:spPr>
          <a:xfrm>
            <a:off x="502920" y="3936492"/>
            <a:ext cx="8046720" cy="274320"/>
          </a:xfrm>
          <a:prstGeom prst="rect">
            <a:avLst/>
          </a:prstGeom>
          <a:noFill/>
        </p:spPr>
        <p:txBody>
          <a:bodyPr wrap="none">
            <a:spAutoFit/>
          </a:bodyPr>
          <a:lstStyle/>
          <a:p>
            <a:pPr>
              <a:defRPr sz="800" u="sng">
                <a:solidFill>
                  <a:srgbClr val="0066CC"/>
                </a:solidFill>
              </a:defRPr>
            </a:pPr>
            <a:r>
              <a:t>Redwood: Define Schedules Using a New User Experience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
          </a:xfrm>
          <a:prstGeom prst="rect">
            <a:avLst/>
          </a:prstGeom>
          <a:solidFill>
            <a:srgbClr val="0099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960620"/>
            <a:ext cx="9144000" cy="182880"/>
          </a:xfrm>
          <a:prstGeom prst="rect">
            <a:avLst/>
          </a:prstGeom>
          <a:solidFill>
            <a:srgbClr val="0099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7269481" y="256032"/>
            <a:ext cx="1508760" cy="384734"/>
          </a:xfrm>
          <a:prstGeom prst="rect">
            <a:avLst/>
          </a:prstGeom>
        </p:spPr>
      </p:pic>
      <p:pic>
        <p:nvPicPr>
          <p:cNvPr id="5" name="Picture 4" descr="tid_logo.png"/>
          <p:cNvPicPr>
            <a:picLocks noChangeAspect="1"/>
          </p:cNvPicPr>
          <p:nvPr/>
        </p:nvPicPr>
        <p:blipFill>
          <a:blip r:embed="rId3"/>
          <a:stretch>
            <a:fillRect/>
          </a:stretch>
        </p:blipFill>
        <p:spPr>
          <a:xfrm>
            <a:off x="4251960" y="4366260"/>
            <a:ext cx="640080" cy="356153"/>
          </a:xfrm>
          <a:prstGeom prst="rect">
            <a:avLst/>
          </a:prstGeom>
        </p:spPr>
      </p:pic>
      <p:sp>
        <p:nvSpPr>
          <p:cNvPr id="6" name="TextBox 5"/>
          <p:cNvSpPr txBox="1"/>
          <p:nvPr/>
        </p:nvSpPr>
        <p:spPr>
          <a:xfrm>
            <a:off x="0" y="4960620"/>
            <a:ext cx="9144000" cy="182880"/>
          </a:xfrm>
          <a:prstGeom prst="rect">
            <a:avLst/>
          </a:prstGeom>
          <a:noFill/>
        </p:spPr>
        <p:txBody>
          <a:bodyPr wrap="none">
            <a:spAutoFit/>
          </a:bodyPr>
          <a:lstStyle/>
          <a:p>
            <a:pPr algn="ctr">
              <a:defRPr sz="500">
                <a:solidFill>
                  <a:srgbClr val="FFFFFF"/>
                </a:solidFill>
              </a:defRPr>
            </a:pPr>
            <a:r>
              <a:t>Oracle Upgrade 26B - Confidential</a:t>
            </a:r>
          </a:p>
        </p:txBody>
      </p:sp>
      <p:sp>
        <p:nvSpPr>
          <p:cNvPr id="7" name="TextBox 6"/>
          <p:cNvSpPr txBox="1"/>
          <p:nvPr/>
        </p:nvSpPr>
        <p:spPr>
          <a:xfrm>
            <a:off x="8686800" y="4960620"/>
            <a:ext cx="0" cy="182880"/>
          </a:xfrm>
          <a:prstGeom prst="rect">
            <a:avLst/>
          </a:prstGeom>
          <a:noFill/>
        </p:spPr>
        <p:txBody>
          <a:bodyPr wrap="none">
            <a:spAutoFit/>
          </a:bodyPr>
          <a:lstStyle/>
          <a:p>
            <a:pPr algn="r">
              <a:defRPr sz="600">
                <a:solidFill>
                  <a:srgbClr val="FFFFFF"/>
                </a:solidFill>
              </a:defRPr>
            </a:pPr>
            <a:r>
              <a:t>34</a:t>
            </a:r>
          </a:p>
        </p:txBody>
      </p:sp>
      <p:sp>
        <p:nvSpPr>
          <p:cNvPr id="8" name="TextBox 7"/>
          <p:cNvSpPr txBox="1"/>
          <p:nvPr/>
        </p:nvSpPr>
        <p:spPr>
          <a:xfrm>
            <a:off x="384048" y="438912"/>
            <a:ext cx="5669280" cy="320040"/>
          </a:xfrm>
          <a:prstGeom prst="rect">
            <a:avLst/>
          </a:prstGeom>
          <a:noFill/>
        </p:spPr>
        <p:txBody>
          <a:bodyPr wrap="square">
            <a:spAutoFit/>
          </a:bodyPr>
          <a:lstStyle/>
          <a:p>
            <a:pPr algn="l">
              <a:defRPr sz="1600" b="1">
                <a:solidFill>
                  <a:srgbClr val="000000"/>
                </a:solidFill>
                <a:latin typeface="Calibri"/>
              </a:defRPr>
            </a:pPr>
            <a:r>
              <a:t>SCM Common Components (2/2)</a:t>
            </a:r>
          </a:p>
        </p:txBody>
      </p:sp>
      <p:graphicFrame>
        <p:nvGraphicFramePr>
          <p:cNvPr id="9" name="Table 8"/>
          <p:cNvGraphicFramePr>
            <a:graphicFrameLocks noGrp="1"/>
          </p:cNvGraphicFramePr>
          <p:nvPr/>
        </p:nvGraphicFramePr>
        <p:xfrm>
          <a:off x="384048" y="914400"/>
          <a:ext cx="8138160" cy="2514600"/>
        </p:xfrm>
        <a:graphic>
          <a:graphicData uri="http://schemas.openxmlformats.org/drawingml/2006/table">
            <a:tbl>
              <a:tblPr firstRow="1" bandRow="1">
                <a:tableStyleId>{5C22544A-7EE6-4342-B048-85BDC9FD1C3A}</a:tableStyleId>
              </a:tblPr>
              <a:tblGrid>
                <a:gridCol w="457200"/>
                <a:gridCol w="2011680"/>
                <a:gridCol w="2011680"/>
                <a:gridCol w="1828800"/>
                <a:gridCol w="914400"/>
                <a:gridCol w="914400"/>
              </a:tblGrid>
              <a:tr h="320040">
                <a:tc>
                  <a:txBody>
                    <a:bodyPr wrap="square"/>
                    <a:lstStyle/>
                    <a:p>
                      <a:pPr>
                        <a:defRPr sz="850" b="1">
                          <a:solidFill>
                            <a:srgbClr val="FFFFFF"/>
                          </a:solidFill>
                          <a:latin typeface="Calibri"/>
                        </a:defRPr>
                      </a:pPr>
                      <a:r>
                        <a:t>Sr.</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26B Feature</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Benefit</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Impact</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Priority</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Mandatory</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1097280">
                <a:tc>
                  <a:txBody>
                    <a:bodyPr wrap="square"/>
                    <a:lstStyle/>
                    <a:p>
                      <a:pPr>
                        <a:defRPr sz="850" b="0">
                          <a:solidFill>
                            <a:srgbClr val="000000"/>
                          </a:solidFill>
                          <a:latin typeface="Calibri"/>
                        </a:defRPr>
                      </a:pPr>
                      <a:r>
                        <a:t>3</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Redwood: Support Use of Inverse Conversion Factors Between Units of Measure</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Simplify data entry by modeling conversion values between two units for an item or lot, using either the numeric value X or its inverse, 1/X. For example, if the conversion factor is 0.0005, enter the inverse value of 2000.</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Small scale</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Medium</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Yes</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1097280">
                <a:tc>
                  <a:txBody>
                    <a:bodyPr wrap="square"/>
                    <a:lstStyle/>
                    <a:p>
                      <a:pPr>
                        <a:defRPr sz="850" b="0">
                          <a:solidFill>
                            <a:srgbClr val="000000"/>
                          </a:solidFill>
                          <a:latin typeface="Calibri"/>
                        </a:defRPr>
                      </a:pPr>
                      <a:r>
                        <a:t>4</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Redwood: Use Oracle Object Storage for Data Extract Scheduled Output</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Store extracted data using new options. Output for Extract Schedules can now be written to Oracle Object Storage or Unified Content Manager.</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Small scale</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Medium</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Yes</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bl>
          </a:graphicData>
        </a:graphic>
      </p:graphicFrame>
      <p:sp>
        <p:nvSpPr>
          <p:cNvPr id="10" name="TextBox 9"/>
          <p:cNvSpPr txBox="1"/>
          <p:nvPr/>
        </p:nvSpPr>
        <p:spPr>
          <a:xfrm>
            <a:off x="502920" y="3735324"/>
            <a:ext cx="8046720" cy="274320"/>
          </a:xfrm>
          <a:prstGeom prst="rect">
            <a:avLst/>
          </a:prstGeom>
          <a:noFill/>
        </p:spPr>
        <p:txBody>
          <a:bodyPr wrap="none">
            <a:spAutoFit/>
          </a:bodyPr>
          <a:lstStyle/>
          <a:p>
            <a:pPr>
              <a:defRPr sz="800" u="sng">
                <a:solidFill>
                  <a:srgbClr val="0066CC"/>
                </a:solidFill>
              </a:defRPr>
            </a:pPr>
            <a:r>
              <a:t>Redwood: Support Use of Inverse Conversion Factors Between Units of Measure</a:t>
            </a:r>
          </a:p>
        </p:txBody>
      </p:sp>
      <p:sp>
        <p:nvSpPr>
          <p:cNvPr id="11" name="TextBox 10"/>
          <p:cNvSpPr txBox="1"/>
          <p:nvPr/>
        </p:nvSpPr>
        <p:spPr>
          <a:xfrm>
            <a:off x="502920" y="3936492"/>
            <a:ext cx="8046720" cy="274320"/>
          </a:xfrm>
          <a:prstGeom prst="rect">
            <a:avLst/>
          </a:prstGeom>
          <a:noFill/>
        </p:spPr>
        <p:txBody>
          <a:bodyPr wrap="none">
            <a:spAutoFit/>
          </a:bodyPr>
          <a:lstStyle/>
          <a:p>
            <a:pPr>
              <a:defRPr sz="800" u="sng">
                <a:solidFill>
                  <a:srgbClr val="0066CC"/>
                </a:solidFill>
              </a:defRPr>
            </a:pPr>
            <a:r>
              <a:t>Redwood: Use Oracle Object Storage for Data Extract Scheduled Output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
          </a:xfrm>
          <a:prstGeom prst="rect">
            <a:avLst/>
          </a:prstGeom>
          <a:solidFill>
            <a:srgbClr val="0099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960620"/>
            <a:ext cx="9144000" cy="182880"/>
          </a:xfrm>
          <a:prstGeom prst="rect">
            <a:avLst/>
          </a:prstGeom>
          <a:solidFill>
            <a:srgbClr val="0099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7269481" y="256032"/>
            <a:ext cx="1508760" cy="384734"/>
          </a:xfrm>
          <a:prstGeom prst="rect">
            <a:avLst/>
          </a:prstGeom>
        </p:spPr>
      </p:pic>
      <p:pic>
        <p:nvPicPr>
          <p:cNvPr id="5" name="Picture 4" descr="tid_logo.png"/>
          <p:cNvPicPr>
            <a:picLocks noChangeAspect="1"/>
          </p:cNvPicPr>
          <p:nvPr/>
        </p:nvPicPr>
        <p:blipFill>
          <a:blip r:embed="rId3"/>
          <a:stretch>
            <a:fillRect/>
          </a:stretch>
        </p:blipFill>
        <p:spPr>
          <a:xfrm>
            <a:off x="4251960" y="4366260"/>
            <a:ext cx="640080" cy="356153"/>
          </a:xfrm>
          <a:prstGeom prst="rect">
            <a:avLst/>
          </a:prstGeom>
        </p:spPr>
      </p:pic>
      <p:sp>
        <p:nvSpPr>
          <p:cNvPr id="6" name="TextBox 5"/>
          <p:cNvSpPr txBox="1"/>
          <p:nvPr/>
        </p:nvSpPr>
        <p:spPr>
          <a:xfrm>
            <a:off x="0" y="4960620"/>
            <a:ext cx="9144000" cy="182880"/>
          </a:xfrm>
          <a:prstGeom prst="rect">
            <a:avLst/>
          </a:prstGeom>
          <a:noFill/>
        </p:spPr>
        <p:txBody>
          <a:bodyPr wrap="none">
            <a:spAutoFit/>
          </a:bodyPr>
          <a:lstStyle/>
          <a:p>
            <a:pPr algn="ctr">
              <a:defRPr sz="500">
                <a:solidFill>
                  <a:srgbClr val="FFFFFF"/>
                </a:solidFill>
              </a:defRPr>
            </a:pPr>
            <a:r>
              <a:t>Oracle Upgrade 26B - Confidential</a:t>
            </a:r>
          </a:p>
        </p:txBody>
      </p:sp>
      <p:sp>
        <p:nvSpPr>
          <p:cNvPr id="7" name="TextBox 6"/>
          <p:cNvSpPr txBox="1"/>
          <p:nvPr/>
        </p:nvSpPr>
        <p:spPr>
          <a:xfrm>
            <a:off x="8686800" y="4960620"/>
            <a:ext cx="0" cy="182880"/>
          </a:xfrm>
          <a:prstGeom prst="rect">
            <a:avLst/>
          </a:prstGeom>
          <a:noFill/>
        </p:spPr>
        <p:txBody>
          <a:bodyPr wrap="none">
            <a:spAutoFit/>
          </a:bodyPr>
          <a:lstStyle/>
          <a:p>
            <a:pPr algn="r">
              <a:defRPr sz="600">
                <a:solidFill>
                  <a:srgbClr val="FFFFFF"/>
                </a:solidFill>
              </a:defRPr>
            </a:pPr>
            <a:r>
              <a:t>35</a:t>
            </a:r>
          </a:p>
        </p:txBody>
      </p:sp>
      <p:sp>
        <p:nvSpPr>
          <p:cNvPr id="8" name="TextBox 7"/>
          <p:cNvSpPr txBox="1"/>
          <p:nvPr/>
        </p:nvSpPr>
        <p:spPr>
          <a:xfrm>
            <a:off x="384048" y="438912"/>
            <a:ext cx="5669280" cy="320040"/>
          </a:xfrm>
          <a:prstGeom prst="rect">
            <a:avLst/>
          </a:prstGeom>
          <a:noFill/>
        </p:spPr>
        <p:txBody>
          <a:bodyPr wrap="square">
            <a:spAutoFit/>
          </a:bodyPr>
          <a:lstStyle/>
          <a:p>
            <a:pPr algn="l">
              <a:defRPr sz="1600" b="1">
                <a:solidFill>
                  <a:srgbClr val="000000"/>
                </a:solidFill>
                <a:latin typeface="Calibri"/>
              </a:defRPr>
            </a:pPr>
            <a:r>
              <a:t>Supply Chain Financial Orchestration (1/2)</a:t>
            </a:r>
          </a:p>
        </p:txBody>
      </p:sp>
      <p:graphicFrame>
        <p:nvGraphicFramePr>
          <p:cNvPr id="9" name="Table 8"/>
          <p:cNvGraphicFramePr>
            <a:graphicFrameLocks noGrp="1"/>
          </p:cNvGraphicFramePr>
          <p:nvPr/>
        </p:nvGraphicFramePr>
        <p:xfrm>
          <a:off x="384048" y="914400"/>
          <a:ext cx="8138160" cy="2514600"/>
        </p:xfrm>
        <a:graphic>
          <a:graphicData uri="http://schemas.openxmlformats.org/drawingml/2006/table">
            <a:tbl>
              <a:tblPr firstRow="1" bandRow="1">
                <a:tableStyleId>{5C22544A-7EE6-4342-B048-85BDC9FD1C3A}</a:tableStyleId>
              </a:tblPr>
              <a:tblGrid>
                <a:gridCol w="457200"/>
                <a:gridCol w="2011680"/>
                <a:gridCol w="2011680"/>
                <a:gridCol w="1828800"/>
                <a:gridCol w="914400"/>
                <a:gridCol w="914400"/>
              </a:tblGrid>
              <a:tr h="320040">
                <a:tc>
                  <a:txBody>
                    <a:bodyPr wrap="square"/>
                    <a:lstStyle/>
                    <a:p>
                      <a:pPr>
                        <a:defRPr sz="850" b="1">
                          <a:solidFill>
                            <a:srgbClr val="FFFFFF"/>
                          </a:solidFill>
                          <a:latin typeface="Calibri"/>
                        </a:defRPr>
                      </a:pPr>
                      <a:r>
                        <a:t>Sr.</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26B Feature</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Benefit</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Impact</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Priority</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Mandatory</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1097280">
                <a:tc>
                  <a:txBody>
                    <a:bodyPr wrap="square"/>
                    <a:lstStyle/>
                    <a:p>
                      <a:pPr>
                        <a:defRPr sz="850" b="0">
                          <a:solidFill>
                            <a:srgbClr val="000000"/>
                          </a:solidFill>
                          <a:latin typeface="Calibri"/>
                        </a:defRPr>
                      </a:pPr>
                      <a:r>
                        <a:t>1</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AI Agent: Transfer Price Advisor</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Email credentials including Tenant ID , Client ID , and Client Secret . Tenant ID Client ID Client Secret Select Create .</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Email credentials including Tenant ID , Client ID , and Client Secret .</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High</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No</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1097280">
                <a:tc>
                  <a:txBody>
                    <a:bodyPr wrap="square"/>
                    <a:lstStyle/>
                    <a:p>
                      <a:pPr>
                        <a:defRPr sz="850" b="0">
                          <a:solidFill>
                            <a:srgbClr val="000000"/>
                          </a:solidFill>
                          <a:latin typeface="Calibri"/>
                        </a:defRPr>
                      </a:pPr>
                      <a:r>
                        <a:t>2</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Use Source Document as Transfer Price Basis for Orders in Back-to-Back Intercompany Transfers</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You can now derive intercompany transfer prices for back-to-back internal material transfers directly from the originating sales order. This feature lets you use the source document unit price as the transfer price basis and apply an optional markup or markdown.</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You can now derive intercompany transfer prices for back-to-back internal material transfers directly from the originating sales order.</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High</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No</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bl>
          </a:graphicData>
        </a:graphic>
      </p:graphicFrame>
      <p:sp>
        <p:nvSpPr>
          <p:cNvPr id="10" name="TextBox 9"/>
          <p:cNvSpPr txBox="1"/>
          <p:nvPr/>
        </p:nvSpPr>
        <p:spPr>
          <a:xfrm>
            <a:off x="502920" y="3735324"/>
            <a:ext cx="8046720" cy="274320"/>
          </a:xfrm>
          <a:prstGeom prst="rect">
            <a:avLst/>
          </a:prstGeom>
          <a:noFill/>
        </p:spPr>
        <p:txBody>
          <a:bodyPr wrap="none">
            <a:spAutoFit/>
          </a:bodyPr>
          <a:lstStyle/>
          <a:p>
            <a:pPr>
              <a:defRPr sz="800" u="sng">
                <a:solidFill>
                  <a:srgbClr val="0066CC"/>
                </a:solidFill>
              </a:defRPr>
            </a:pPr>
            <a:r>
              <a:t>AI Agent: Transfer Price Advisor</a:t>
            </a:r>
          </a:p>
        </p:txBody>
      </p:sp>
      <p:sp>
        <p:nvSpPr>
          <p:cNvPr id="11" name="TextBox 10"/>
          <p:cNvSpPr txBox="1"/>
          <p:nvPr/>
        </p:nvSpPr>
        <p:spPr>
          <a:xfrm>
            <a:off x="502920" y="3936492"/>
            <a:ext cx="8046720" cy="274320"/>
          </a:xfrm>
          <a:prstGeom prst="rect">
            <a:avLst/>
          </a:prstGeom>
          <a:noFill/>
        </p:spPr>
        <p:txBody>
          <a:bodyPr wrap="none">
            <a:spAutoFit/>
          </a:bodyPr>
          <a:lstStyle/>
          <a:p>
            <a:pPr>
              <a:defRPr sz="800" u="sng">
                <a:solidFill>
                  <a:srgbClr val="0066CC"/>
                </a:solidFill>
              </a:defRPr>
            </a:pPr>
            <a:r>
              <a:t>Use Source Document as Transfer Price Basis for Orders in Back-to-Back Intercompany Transfers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
          </a:xfrm>
          <a:prstGeom prst="rect">
            <a:avLst/>
          </a:prstGeom>
          <a:solidFill>
            <a:srgbClr val="0099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960620"/>
            <a:ext cx="9144000" cy="182880"/>
          </a:xfrm>
          <a:prstGeom prst="rect">
            <a:avLst/>
          </a:prstGeom>
          <a:solidFill>
            <a:srgbClr val="0099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7269481" y="256032"/>
            <a:ext cx="1508760" cy="384734"/>
          </a:xfrm>
          <a:prstGeom prst="rect">
            <a:avLst/>
          </a:prstGeom>
        </p:spPr>
      </p:pic>
      <p:pic>
        <p:nvPicPr>
          <p:cNvPr id="5" name="Picture 4" descr="tid_logo.png"/>
          <p:cNvPicPr>
            <a:picLocks noChangeAspect="1"/>
          </p:cNvPicPr>
          <p:nvPr/>
        </p:nvPicPr>
        <p:blipFill>
          <a:blip r:embed="rId3"/>
          <a:stretch>
            <a:fillRect/>
          </a:stretch>
        </p:blipFill>
        <p:spPr>
          <a:xfrm>
            <a:off x="4251960" y="4366260"/>
            <a:ext cx="640080" cy="356153"/>
          </a:xfrm>
          <a:prstGeom prst="rect">
            <a:avLst/>
          </a:prstGeom>
        </p:spPr>
      </p:pic>
      <p:sp>
        <p:nvSpPr>
          <p:cNvPr id="6" name="TextBox 5"/>
          <p:cNvSpPr txBox="1"/>
          <p:nvPr/>
        </p:nvSpPr>
        <p:spPr>
          <a:xfrm>
            <a:off x="0" y="4960620"/>
            <a:ext cx="9144000" cy="182880"/>
          </a:xfrm>
          <a:prstGeom prst="rect">
            <a:avLst/>
          </a:prstGeom>
          <a:noFill/>
        </p:spPr>
        <p:txBody>
          <a:bodyPr wrap="none">
            <a:spAutoFit/>
          </a:bodyPr>
          <a:lstStyle/>
          <a:p>
            <a:pPr algn="ctr">
              <a:defRPr sz="500">
                <a:solidFill>
                  <a:srgbClr val="FFFFFF"/>
                </a:solidFill>
              </a:defRPr>
            </a:pPr>
            <a:r>
              <a:t>Oracle Upgrade 26B - Confidential</a:t>
            </a:r>
          </a:p>
        </p:txBody>
      </p:sp>
      <p:sp>
        <p:nvSpPr>
          <p:cNvPr id="7" name="TextBox 6"/>
          <p:cNvSpPr txBox="1"/>
          <p:nvPr/>
        </p:nvSpPr>
        <p:spPr>
          <a:xfrm>
            <a:off x="8686800" y="4960620"/>
            <a:ext cx="0" cy="182880"/>
          </a:xfrm>
          <a:prstGeom prst="rect">
            <a:avLst/>
          </a:prstGeom>
          <a:noFill/>
        </p:spPr>
        <p:txBody>
          <a:bodyPr wrap="none">
            <a:spAutoFit/>
          </a:bodyPr>
          <a:lstStyle/>
          <a:p>
            <a:pPr algn="r">
              <a:defRPr sz="600">
                <a:solidFill>
                  <a:srgbClr val="FFFFFF"/>
                </a:solidFill>
              </a:defRPr>
            </a:pPr>
            <a:r>
              <a:t>36</a:t>
            </a:r>
          </a:p>
        </p:txBody>
      </p:sp>
      <p:sp>
        <p:nvSpPr>
          <p:cNvPr id="8" name="TextBox 7"/>
          <p:cNvSpPr txBox="1"/>
          <p:nvPr/>
        </p:nvSpPr>
        <p:spPr>
          <a:xfrm>
            <a:off x="384048" y="438912"/>
            <a:ext cx="5669280" cy="320040"/>
          </a:xfrm>
          <a:prstGeom prst="rect">
            <a:avLst/>
          </a:prstGeom>
          <a:noFill/>
        </p:spPr>
        <p:txBody>
          <a:bodyPr wrap="square">
            <a:spAutoFit/>
          </a:bodyPr>
          <a:lstStyle/>
          <a:p>
            <a:pPr algn="l">
              <a:defRPr sz="1600" b="1">
                <a:solidFill>
                  <a:srgbClr val="000000"/>
                </a:solidFill>
                <a:latin typeface="Calibri"/>
              </a:defRPr>
            </a:pPr>
            <a:r>
              <a:t>Supply Chain Financial Orchestration (2/2)</a:t>
            </a:r>
          </a:p>
        </p:txBody>
      </p:sp>
      <p:graphicFrame>
        <p:nvGraphicFramePr>
          <p:cNvPr id="9" name="Table 8"/>
          <p:cNvGraphicFramePr>
            <a:graphicFrameLocks noGrp="1"/>
          </p:cNvGraphicFramePr>
          <p:nvPr/>
        </p:nvGraphicFramePr>
        <p:xfrm>
          <a:off x="384048" y="914400"/>
          <a:ext cx="8138160" cy="2514600"/>
        </p:xfrm>
        <a:graphic>
          <a:graphicData uri="http://schemas.openxmlformats.org/drawingml/2006/table">
            <a:tbl>
              <a:tblPr firstRow="1" bandRow="1">
                <a:tableStyleId>{5C22544A-7EE6-4342-B048-85BDC9FD1C3A}</a:tableStyleId>
              </a:tblPr>
              <a:tblGrid>
                <a:gridCol w="457200"/>
                <a:gridCol w="2011680"/>
                <a:gridCol w="2011680"/>
                <a:gridCol w="1828800"/>
                <a:gridCol w="914400"/>
                <a:gridCol w="914400"/>
              </a:tblGrid>
              <a:tr h="320040">
                <a:tc>
                  <a:txBody>
                    <a:bodyPr wrap="square"/>
                    <a:lstStyle/>
                    <a:p>
                      <a:pPr>
                        <a:defRPr sz="850" b="1">
                          <a:solidFill>
                            <a:srgbClr val="FFFFFF"/>
                          </a:solidFill>
                          <a:latin typeface="Calibri"/>
                        </a:defRPr>
                      </a:pPr>
                      <a:r>
                        <a:t>Sr.</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26B Feature</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Benefit</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Impact</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Priority</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Mandatory</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1097280">
                <a:tc>
                  <a:txBody>
                    <a:bodyPr wrap="square"/>
                    <a:lstStyle/>
                    <a:p>
                      <a:pPr>
                        <a:defRPr sz="850" b="0">
                          <a:solidFill>
                            <a:srgbClr val="000000"/>
                          </a:solidFill>
                          <a:latin typeface="Calibri"/>
                        </a:defRPr>
                      </a:pPr>
                      <a:r>
                        <a:t>3</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Derive Receivables and Payables Accounts for External Trade Events Using Transaction Account Definition</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Earlier, when you uploaded and processed intercompany transactions from Oracle subscriptions or external sources into Financial Orchestration to generate receivables and Payables invoices, you were required to set up the control accounts of receivables and Payables in Advanced Global Intercompany...</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Small scale</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Medium</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Yes</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1097280">
                <a:tc>
                  <a:txBody>
                    <a:bodyPr wrap="square"/>
                    <a:lstStyle/>
                    <a:p>
                      <a:pPr>
                        <a:defRPr sz="850" b="0">
                          <a:solidFill>
                            <a:srgbClr val="000000"/>
                          </a:solidFill>
                          <a:latin typeface="Calibri"/>
                        </a:defRPr>
                      </a:pPr>
                      <a:r>
                        <a:t>4</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Generate Intercompany Events for Oracle Transportation Management Interface for Customer Drop Shipments</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Financial Orchestration Transfer Prices REST resource is used by applications like Oracle Global Trade Management to print import or export documentation based on who owns the goods at the time of customs clearance. With this update, you can now subscribe to the Transfer Pricing business event...</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Small scale</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Medium</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Yes</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bl>
          </a:graphicData>
        </a:graphic>
      </p:graphicFrame>
      <p:sp>
        <p:nvSpPr>
          <p:cNvPr id="10" name="TextBox 9"/>
          <p:cNvSpPr txBox="1"/>
          <p:nvPr/>
        </p:nvSpPr>
        <p:spPr>
          <a:xfrm>
            <a:off x="502920" y="3735324"/>
            <a:ext cx="8046720" cy="274320"/>
          </a:xfrm>
          <a:prstGeom prst="rect">
            <a:avLst/>
          </a:prstGeom>
          <a:noFill/>
        </p:spPr>
        <p:txBody>
          <a:bodyPr wrap="none">
            <a:spAutoFit/>
          </a:bodyPr>
          <a:lstStyle/>
          <a:p>
            <a:pPr>
              <a:defRPr sz="800" u="sng">
                <a:solidFill>
                  <a:srgbClr val="0066CC"/>
                </a:solidFill>
              </a:defRPr>
            </a:pPr>
            <a:r>
              <a:t>Derive Receivables and Payables Accounts for External Trade Events Using Transaction Account Definition</a:t>
            </a:r>
          </a:p>
        </p:txBody>
      </p:sp>
      <p:sp>
        <p:nvSpPr>
          <p:cNvPr id="11" name="TextBox 10"/>
          <p:cNvSpPr txBox="1"/>
          <p:nvPr/>
        </p:nvSpPr>
        <p:spPr>
          <a:xfrm>
            <a:off x="502920" y="3936492"/>
            <a:ext cx="8046720" cy="274320"/>
          </a:xfrm>
          <a:prstGeom prst="rect">
            <a:avLst/>
          </a:prstGeom>
          <a:noFill/>
        </p:spPr>
        <p:txBody>
          <a:bodyPr wrap="none">
            <a:spAutoFit/>
          </a:bodyPr>
          <a:lstStyle/>
          <a:p>
            <a:pPr>
              <a:defRPr sz="800" u="sng">
                <a:solidFill>
                  <a:srgbClr val="0066CC"/>
                </a:solidFill>
              </a:defRPr>
            </a:pPr>
            <a:r>
              <a:t>Generate Intercompany Events for Oracle Transportation Management Interface for Customer Drop Shipments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
          </a:xfrm>
          <a:prstGeom prst="rect">
            <a:avLst/>
          </a:prstGeom>
          <a:solidFill>
            <a:srgbClr val="0099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960620"/>
            <a:ext cx="9144000" cy="182880"/>
          </a:xfrm>
          <a:prstGeom prst="rect">
            <a:avLst/>
          </a:prstGeom>
          <a:solidFill>
            <a:srgbClr val="0099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7269481" y="256032"/>
            <a:ext cx="1508760" cy="384734"/>
          </a:xfrm>
          <a:prstGeom prst="rect">
            <a:avLst/>
          </a:prstGeom>
        </p:spPr>
      </p:pic>
      <p:pic>
        <p:nvPicPr>
          <p:cNvPr id="5" name="Picture 4" descr="tid_logo.png"/>
          <p:cNvPicPr>
            <a:picLocks noChangeAspect="1"/>
          </p:cNvPicPr>
          <p:nvPr/>
        </p:nvPicPr>
        <p:blipFill>
          <a:blip r:embed="rId3"/>
          <a:stretch>
            <a:fillRect/>
          </a:stretch>
        </p:blipFill>
        <p:spPr>
          <a:xfrm>
            <a:off x="4251960" y="4366260"/>
            <a:ext cx="640080" cy="356153"/>
          </a:xfrm>
          <a:prstGeom prst="rect">
            <a:avLst/>
          </a:prstGeom>
        </p:spPr>
      </p:pic>
      <p:sp>
        <p:nvSpPr>
          <p:cNvPr id="6" name="TextBox 5"/>
          <p:cNvSpPr txBox="1"/>
          <p:nvPr/>
        </p:nvSpPr>
        <p:spPr>
          <a:xfrm>
            <a:off x="0" y="4960620"/>
            <a:ext cx="9144000" cy="182880"/>
          </a:xfrm>
          <a:prstGeom prst="rect">
            <a:avLst/>
          </a:prstGeom>
          <a:noFill/>
        </p:spPr>
        <p:txBody>
          <a:bodyPr wrap="none">
            <a:spAutoFit/>
          </a:bodyPr>
          <a:lstStyle/>
          <a:p>
            <a:pPr algn="ctr">
              <a:defRPr sz="500">
                <a:solidFill>
                  <a:srgbClr val="FFFFFF"/>
                </a:solidFill>
              </a:defRPr>
            </a:pPr>
            <a:r>
              <a:t>Oracle Upgrade 26B - Confidential</a:t>
            </a:r>
          </a:p>
        </p:txBody>
      </p:sp>
      <p:sp>
        <p:nvSpPr>
          <p:cNvPr id="7" name="TextBox 6"/>
          <p:cNvSpPr txBox="1"/>
          <p:nvPr/>
        </p:nvSpPr>
        <p:spPr>
          <a:xfrm>
            <a:off x="8686800" y="4960620"/>
            <a:ext cx="0" cy="182880"/>
          </a:xfrm>
          <a:prstGeom prst="rect">
            <a:avLst/>
          </a:prstGeom>
          <a:noFill/>
        </p:spPr>
        <p:txBody>
          <a:bodyPr wrap="none">
            <a:spAutoFit/>
          </a:bodyPr>
          <a:lstStyle/>
          <a:p>
            <a:pPr algn="r">
              <a:defRPr sz="600">
                <a:solidFill>
                  <a:srgbClr val="FFFFFF"/>
                </a:solidFill>
              </a:defRPr>
            </a:pPr>
            <a:r>
              <a:t>37</a:t>
            </a:r>
          </a:p>
        </p:txBody>
      </p:sp>
      <p:sp>
        <p:nvSpPr>
          <p:cNvPr id="8" name="TextBox 7"/>
          <p:cNvSpPr txBox="1"/>
          <p:nvPr/>
        </p:nvSpPr>
        <p:spPr>
          <a:xfrm>
            <a:off x="384048" y="438912"/>
            <a:ext cx="5669280" cy="320040"/>
          </a:xfrm>
          <a:prstGeom prst="rect">
            <a:avLst/>
          </a:prstGeom>
          <a:noFill/>
        </p:spPr>
        <p:txBody>
          <a:bodyPr wrap="square">
            <a:spAutoFit/>
          </a:bodyPr>
          <a:lstStyle/>
          <a:p>
            <a:pPr algn="l">
              <a:defRPr sz="1600" b="1">
                <a:solidFill>
                  <a:srgbClr val="000000"/>
                </a:solidFill>
                <a:latin typeface="Calibri"/>
              </a:defRPr>
            </a:pPr>
            <a:r>
              <a:t>Supply Chain Orchestration</a:t>
            </a:r>
          </a:p>
        </p:txBody>
      </p:sp>
      <p:graphicFrame>
        <p:nvGraphicFramePr>
          <p:cNvPr id="9" name="Table 8"/>
          <p:cNvGraphicFramePr>
            <a:graphicFrameLocks noGrp="1"/>
          </p:cNvGraphicFramePr>
          <p:nvPr/>
        </p:nvGraphicFramePr>
        <p:xfrm>
          <a:off x="384048" y="914400"/>
          <a:ext cx="8138160" cy="2514600"/>
        </p:xfrm>
        <a:graphic>
          <a:graphicData uri="http://schemas.openxmlformats.org/drawingml/2006/table">
            <a:tbl>
              <a:tblPr firstRow="1" bandRow="1">
                <a:tableStyleId>{5C22544A-7EE6-4342-B048-85BDC9FD1C3A}</a:tableStyleId>
              </a:tblPr>
              <a:tblGrid>
                <a:gridCol w="457200"/>
                <a:gridCol w="2011680"/>
                <a:gridCol w="2011680"/>
                <a:gridCol w="1828800"/>
                <a:gridCol w="914400"/>
                <a:gridCol w="914400"/>
              </a:tblGrid>
              <a:tr h="320040">
                <a:tc>
                  <a:txBody>
                    <a:bodyPr wrap="square"/>
                    <a:lstStyle/>
                    <a:p>
                      <a:pPr>
                        <a:defRPr sz="850" b="1">
                          <a:solidFill>
                            <a:srgbClr val="FFFFFF"/>
                          </a:solidFill>
                          <a:latin typeface="Calibri"/>
                        </a:defRPr>
                      </a:pPr>
                      <a:r>
                        <a:t>Sr.</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26B Feature</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Benefit</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Impact</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Priority</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Mandatory</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1097280">
                <a:tc>
                  <a:txBody>
                    <a:bodyPr wrap="square"/>
                    <a:lstStyle/>
                    <a:p>
                      <a:pPr>
                        <a:defRPr sz="850" b="0">
                          <a:solidFill>
                            <a:srgbClr val="000000"/>
                          </a:solidFill>
                          <a:latin typeface="Calibri"/>
                        </a:defRPr>
                      </a:pPr>
                      <a:r>
                        <a:t>1</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Redwood: Enable Supply Chain Orchestration's Redesigned Landing Page</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Use Supply Chain Orchestration's redesigned landing page as the starting point to manage your supply requests. Get a summary of the supply requests that you recently received or need your attention.</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Use Supply Chain Orchestration's redesigned landing page as the starting point to manage your supply requests.</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High</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No</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1097280">
                <a:tc>
                  <a:txBody>
                    <a:bodyPr wrap="square"/>
                    <a:lstStyle/>
                    <a:p>
                      <a:pPr>
                        <a:defRPr sz="850" b="0">
                          <a:solidFill>
                            <a:srgbClr val="000000"/>
                          </a:solidFill>
                          <a:latin typeface="Calibri"/>
                        </a:defRPr>
                      </a:pPr>
                      <a:r>
                        <a:t>2</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Use Supply Chain Orchestration to Support Contract Manufacturing for Process Manufacturing In Your Plan-to-Produce Flows</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Oracle Supply Chain Planning will send a planned order to Oracle Supply Chain Orchestration, then Supply Chain Orchestration will create a process work order to track the manufacturing progress at the contract manufacturers facility and a purchase order on the contract manufacturer to pay for the...</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Small scale</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Medium</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Yes</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bl>
          </a:graphicData>
        </a:graphic>
      </p:graphicFrame>
      <p:sp>
        <p:nvSpPr>
          <p:cNvPr id="10" name="TextBox 9"/>
          <p:cNvSpPr txBox="1"/>
          <p:nvPr/>
        </p:nvSpPr>
        <p:spPr>
          <a:xfrm>
            <a:off x="502920" y="3735324"/>
            <a:ext cx="8046720" cy="274320"/>
          </a:xfrm>
          <a:prstGeom prst="rect">
            <a:avLst/>
          </a:prstGeom>
          <a:noFill/>
        </p:spPr>
        <p:txBody>
          <a:bodyPr wrap="none">
            <a:spAutoFit/>
          </a:bodyPr>
          <a:lstStyle/>
          <a:p>
            <a:pPr>
              <a:defRPr sz="800" u="sng">
                <a:solidFill>
                  <a:srgbClr val="0066CC"/>
                </a:solidFill>
              </a:defRPr>
            </a:pPr>
            <a:r>
              <a:t>Redwood: Enable Supply Chain Orchestration's Redesigned Landing Page</a:t>
            </a:r>
          </a:p>
        </p:txBody>
      </p:sp>
      <p:sp>
        <p:nvSpPr>
          <p:cNvPr id="11" name="TextBox 10"/>
          <p:cNvSpPr txBox="1"/>
          <p:nvPr/>
        </p:nvSpPr>
        <p:spPr>
          <a:xfrm>
            <a:off x="502920" y="3936492"/>
            <a:ext cx="8046720" cy="274320"/>
          </a:xfrm>
          <a:prstGeom prst="rect">
            <a:avLst/>
          </a:prstGeom>
          <a:noFill/>
        </p:spPr>
        <p:txBody>
          <a:bodyPr wrap="none">
            <a:spAutoFit/>
          </a:bodyPr>
          <a:lstStyle/>
          <a:p>
            <a:pPr>
              <a:defRPr sz="800" u="sng">
                <a:solidFill>
                  <a:srgbClr val="0066CC"/>
                </a:solidFill>
              </a:defRPr>
            </a:pPr>
            <a:r>
              <a:t>Use Supply Chain Orchestration to Support Contract Manufacturing for Process Manufacturing In Your...</a:t>
            </a: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1_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